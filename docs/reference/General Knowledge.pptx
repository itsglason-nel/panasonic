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9" r:id="rId4"/>
    <p:sldId id="287" r:id="rId5"/>
    <p:sldId id="288" r:id="rId6"/>
    <p:sldId id="277" r:id="rId7"/>
    <p:sldId id="285" r:id="rId8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53C"/>
    <a:srgbClr val="60DF7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Bosas" userId="fe865c9255deeee7" providerId="LiveId" clId="{1086708A-1C04-44EB-AA8C-76921EAD7BA9}"/>
    <pc:docChg chg="modSld">
      <pc:chgData name="Bryan Bosas" userId="fe865c9255deeee7" providerId="LiveId" clId="{1086708A-1C04-44EB-AA8C-76921EAD7BA9}" dt="2026-03-02T02:27:40.993" v="0" actId="14734"/>
      <pc:docMkLst>
        <pc:docMk/>
      </pc:docMkLst>
      <pc:sldChg chg="modSp mod">
        <pc:chgData name="Bryan Bosas" userId="fe865c9255deeee7" providerId="LiveId" clId="{1086708A-1C04-44EB-AA8C-76921EAD7BA9}" dt="2026-03-02T02:27:40.993" v="0" actId="14734"/>
        <pc:sldMkLst>
          <pc:docMk/>
          <pc:sldMk cId="3883509234" sldId="285"/>
        </pc:sldMkLst>
        <pc:graphicFrameChg chg="modGraphic">
          <ac:chgData name="Bryan Bosas" userId="fe865c9255deeee7" providerId="LiveId" clId="{1086708A-1C04-44EB-AA8C-76921EAD7BA9}" dt="2026-03-02T02:27:40.993" v="0" actId="14734"/>
          <ac:graphicFrameMkLst>
            <pc:docMk/>
            <pc:sldMk cId="3883509234" sldId="285"/>
            <ac:graphicFrameMk id="2" creationId="{E1959B8A-1DD7-CCDF-53E5-7F4FAE50BC17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891855" y="1093369"/>
            <a:ext cx="10408285" cy="1590837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fontAlgn="base"/>
            <a:r>
              <a:rPr lang="en-PH" sz="5400" dirty="0">
                <a:latin typeface="Arial" panose="020B0604020202020204" pitchFamily="34" charset="0"/>
                <a:cs typeface="Arial" panose="020B0604020202020204" pitchFamily="34" charset="0"/>
              </a:rPr>
              <a:t>Panasonic Manufacturing Philippines Corporation</a:t>
            </a:r>
          </a:p>
        </p:txBody>
      </p:sp>
      <p:sp>
        <p:nvSpPr>
          <p:cNvPr id="6" name="Title 1"/>
          <p:cNvSpPr txBox="1"/>
          <p:nvPr/>
        </p:nvSpPr>
        <p:spPr>
          <a:xfrm>
            <a:off x="891855" y="3009155"/>
            <a:ext cx="10408285" cy="1590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40000"/>
              </a:lnSpc>
            </a:pPr>
            <a:r>
              <a:rPr lang="en-PH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AUTOMATION SYSTEM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800">
                <a:latin typeface="Britannic Bold" panose="020B0903060703020204" charset="0"/>
                <a:cs typeface="Britannic Bold" panose="020B0903060703020204" charset="0"/>
              </a:rPr>
              <a:t>MIndS Confidential</a:t>
            </a:r>
          </a:p>
        </p:txBody>
      </p:sp>
      <p:pic>
        <p:nvPicPr>
          <p:cNvPr id="56" name="Content Placeholder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0" y="86360"/>
            <a:ext cx="3295519" cy="7007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800">
                <a:latin typeface="Britannic Bold" panose="020B0903060703020204" charset="0"/>
                <a:cs typeface="Britannic Bold" panose="020B0903060703020204" charset="0"/>
              </a:rPr>
              <a:t>MIndS Confidential</a:t>
            </a:r>
          </a:p>
        </p:txBody>
      </p:sp>
      <p:sp>
        <p:nvSpPr>
          <p:cNvPr id="7" name="Title 1"/>
          <p:cNvSpPr txBox="1">
            <a:spLocks noChangeArrowheads="1"/>
          </p:cNvSpPr>
          <p:nvPr/>
        </p:nvSpPr>
        <p:spPr>
          <a:xfrm>
            <a:off x="76199" y="1033051"/>
            <a:ext cx="11934289" cy="54570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kern="0" dirty="0"/>
              <a:t>P</a:t>
            </a:r>
            <a:r>
              <a:rPr lang="en-PH" altLang="en-US" kern="0" dirty="0"/>
              <a:t>urpose[System Requirements]: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82A69-B7A3-4C4B-A4B2-52DC9FFDDFA3}"/>
              </a:ext>
            </a:extLst>
          </p:cNvPr>
          <p:cNvSpPr txBox="1"/>
          <p:nvPr/>
        </p:nvSpPr>
        <p:spPr>
          <a:xfrm>
            <a:off x="1464734" y="2613392"/>
            <a:ext cx="9008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Design a real-time monitoring system for production line.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Display Production line status and machine status.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b="1" dirty="0"/>
              <a:t>System must be future improvement ready.</a:t>
            </a:r>
          </a:p>
        </p:txBody>
      </p:sp>
      <p:pic>
        <p:nvPicPr>
          <p:cNvPr id="2" name="Content Placeholder 22">
            <a:extLst>
              <a:ext uri="{FF2B5EF4-FFF2-40B4-BE49-F238E27FC236}">
                <a16:creationId xmlns:a16="http://schemas.microsoft.com/office/drawing/2014/main" id="{8BCB3F8A-BD7C-810C-44B2-41681DB56C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0" y="86360"/>
            <a:ext cx="3295519" cy="700727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99D10DE-1ABE-1D5C-C271-67833D49422B}"/>
              </a:ext>
            </a:extLst>
          </p:cNvPr>
          <p:cNvSpPr txBox="1">
            <a:spLocks noChangeArrowheads="1"/>
          </p:cNvSpPr>
          <p:nvPr/>
        </p:nvSpPr>
        <p:spPr>
          <a:xfrm>
            <a:off x="3383559" y="86360"/>
            <a:ext cx="12048068" cy="5457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PH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Proposal: MONITORING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800">
                <a:latin typeface="Britannic Bold" panose="020B0903060703020204" charset="0"/>
                <a:cs typeface="Britannic Bold" panose="020B0903060703020204" charset="0"/>
              </a:rPr>
              <a:t>MIndS Confidential</a:t>
            </a:r>
          </a:p>
        </p:txBody>
      </p:sp>
      <p:sp>
        <p:nvSpPr>
          <p:cNvPr id="2" name="Title 1"/>
          <p:cNvSpPr txBox="1">
            <a:spLocks noChangeArrowheads="1"/>
          </p:cNvSpPr>
          <p:nvPr/>
        </p:nvSpPr>
        <p:spPr>
          <a:xfrm>
            <a:off x="3383559" y="86360"/>
            <a:ext cx="12048068" cy="5457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PH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Proposal: AUTOMATION SYSTEM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E5904C-A713-468D-A2D6-0705160C5512}"/>
              </a:ext>
            </a:extLst>
          </p:cNvPr>
          <p:cNvSpPr txBox="1"/>
          <p:nvPr/>
        </p:nvSpPr>
        <p:spPr>
          <a:xfrm>
            <a:off x="147445" y="950244"/>
            <a:ext cx="2372019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84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JOB DESCRIPTION</a:t>
            </a: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" name="Table 16">
            <a:extLst>
              <a:ext uri="{FF2B5EF4-FFF2-40B4-BE49-F238E27FC236}">
                <a16:creationId xmlns:a16="http://schemas.microsoft.com/office/drawing/2014/main" id="{6152A1FC-188E-DF80-4924-36E7EEDDC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80837"/>
              </p:ext>
            </p:extLst>
          </p:nvPr>
        </p:nvGraphicFramePr>
        <p:xfrm>
          <a:off x="147444" y="1479278"/>
          <a:ext cx="11740254" cy="15585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70127">
                  <a:extLst>
                    <a:ext uri="{9D8B030D-6E8A-4147-A177-3AD203B41FA5}">
                      <a16:colId xmlns:a16="http://schemas.microsoft.com/office/drawing/2014/main" val="2740074705"/>
                    </a:ext>
                  </a:extLst>
                </a:gridCol>
                <a:gridCol w="5870127">
                  <a:extLst>
                    <a:ext uri="{9D8B030D-6E8A-4147-A177-3AD203B41FA5}">
                      <a16:colId xmlns:a16="http://schemas.microsoft.com/office/drawing/2014/main" val="2004394091"/>
                    </a:ext>
                  </a:extLst>
                </a:gridCol>
              </a:tblGrid>
              <a:tr h="278402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PANASONIC</a:t>
                      </a:r>
                      <a:endParaRPr lang="en-PH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220741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PROVIDE ELECTRICAL COMPONENTS (PLC, DISPLAY MONITOR, PC , HMI AND OTHER ACCESSORIES).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PROVIDE SUPPORT DURING INSTALLATION.</a:t>
                      </a:r>
                      <a:endParaRPr lang="en-PH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265970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CREATE AND PROVIDE ELECTRICAL DIAGRAM.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PROVIDE THE PROCESS FLOW OF THE REQUIREMENT.</a:t>
                      </a:r>
                      <a:endParaRPr lang="en-PH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031061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CREATE AND PROVIDE OPERATION MANUAL.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EVALUATE THE SYSTEM.</a:t>
                      </a:r>
                      <a:endParaRPr lang="en-PH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482513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 INSTALLATION OF NEW SYSTEM.</a:t>
                      </a:r>
                      <a:endParaRPr lang="en-PH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PH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588037"/>
                  </a:ext>
                </a:extLst>
              </a:tr>
            </a:tbl>
          </a:graphicData>
        </a:graphic>
      </p:graphicFrame>
      <p:graphicFrame>
        <p:nvGraphicFramePr>
          <p:cNvPr id="6" name="Table 16">
            <a:extLst>
              <a:ext uri="{FF2B5EF4-FFF2-40B4-BE49-F238E27FC236}">
                <a16:creationId xmlns:a16="http://schemas.microsoft.com/office/drawing/2014/main" id="{6152A1FC-188E-DF80-4924-36E7EEDDC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875398"/>
              </p:ext>
            </p:extLst>
          </p:nvPr>
        </p:nvGraphicFramePr>
        <p:xfrm>
          <a:off x="147444" y="3461407"/>
          <a:ext cx="1174025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40254">
                  <a:extLst>
                    <a:ext uri="{9D8B030D-6E8A-4147-A177-3AD203B41FA5}">
                      <a16:colId xmlns:a16="http://schemas.microsoft.com/office/drawing/2014/main" val="2740074705"/>
                    </a:ext>
                  </a:extLst>
                </a:gridCol>
              </a:tblGrid>
              <a:tr h="227047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220741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DISPLAY THE FOLLOWING: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3119120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PRODUCTION OUTPUT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703664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CYCLE 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2474966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INPUT PRODUCTION PARAMETERS IN HMI.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750008"/>
                  </a:ext>
                </a:extLst>
              </a:tr>
              <a:tr h="238032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REAL-TIME MONITORING DISPLAY.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302228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E5904C-A713-468D-A2D6-0705160C5512}"/>
              </a:ext>
            </a:extLst>
          </p:cNvPr>
          <p:cNvSpPr txBox="1"/>
          <p:nvPr/>
        </p:nvSpPr>
        <p:spPr>
          <a:xfrm>
            <a:off x="147444" y="3086752"/>
            <a:ext cx="2210273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84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</a:t>
            </a: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22">
            <a:extLst>
              <a:ext uri="{FF2B5EF4-FFF2-40B4-BE49-F238E27FC236}">
                <a16:creationId xmlns:a16="http://schemas.microsoft.com/office/drawing/2014/main" id="{CE3AD43A-3768-A3C5-2DE8-B51D46CEAF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0" y="86360"/>
            <a:ext cx="3295519" cy="70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98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6576-79A4-1A47-18AE-6002C4701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B71F30-92D3-34D0-5B1C-279BF8023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800">
                <a:latin typeface="Britannic Bold" panose="020B0903060703020204" charset="0"/>
                <a:cs typeface="Britannic Bold" panose="020B0903060703020204" charset="0"/>
              </a:rPr>
              <a:t>MIndS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DF672-43E0-6BE0-E749-FE7BD87C23B4}"/>
              </a:ext>
            </a:extLst>
          </p:cNvPr>
          <p:cNvSpPr txBox="1">
            <a:spLocks noChangeArrowheads="1"/>
          </p:cNvSpPr>
          <p:nvPr/>
        </p:nvSpPr>
        <p:spPr>
          <a:xfrm>
            <a:off x="3383559" y="86360"/>
            <a:ext cx="12048068" cy="5457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PH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Proposal: AUTOMATION SYSTEM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FCCF65A-0EAF-E2BB-F6BE-2B917D2A1E8D}"/>
              </a:ext>
            </a:extLst>
          </p:cNvPr>
          <p:cNvSpPr txBox="1"/>
          <p:nvPr/>
        </p:nvSpPr>
        <p:spPr>
          <a:xfrm>
            <a:off x="3464577" y="463921"/>
            <a:ext cx="3743619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84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sequence of work overview</a:t>
            </a: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22">
            <a:extLst>
              <a:ext uri="{FF2B5EF4-FFF2-40B4-BE49-F238E27FC236}">
                <a16:creationId xmlns:a16="http://schemas.microsoft.com/office/drawing/2014/main" id="{9C2A3475-1983-86E0-4724-4639170DB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0" y="86360"/>
            <a:ext cx="3295519" cy="700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75E4FE-07C1-4DAC-0564-7C4BE5C885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38" y="463921"/>
            <a:ext cx="11068324" cy="6225932"/>
          </a:xfrm>
          <a:prstGeom prst="rect">
            <a:avLst/>
          </a:prstGeom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1DB90845-C864-99F3-6380-96C91DF38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643" y="1310306"/>
            <a:ext cx="5152138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Receipt of Purchase Order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starts upon receiving the PO.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 Project Analysis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requirements and gather available documents.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Concurrent Activities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three steps run in parallel: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Mechanical Design &amp; Fabrication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Create and build mechanical fixtures.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Parts Listing &amp; Procurement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List required parts and process orders.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Electrical Diagram &amp; Offline Programming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Draft diagrams and begin initial PLC programming.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PLC Program Analysis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current machine logic for proper integration.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PLC &amp; HMI Programming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or update PLC and HMI functions.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Electrical Installation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Install wiring and electrical components.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Output Programming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Finalize data handling and output functions.</a:t>
            </a:r>
          </a:p>
        </p:txBody>
      </p:sp>
    </p:spTree>
    <p:extLst>
      <p:ext uri="{BB962C8B-B14F-4D97-AF65-F5344CB8AC3E}">
        <p14:creationId xmlns:p14="http://schemas.microsoft.com/office/powerpoint/2010/main" val="1084343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2DA4F-C023-F255-B90F-F94E67713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A379A-7E6F-F9D3-6A0E-CF9C6BC5C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800">
                <a:latin typeface="Britannic Bold" panose="020B0903060703020204" charset="0"/>
                <a:cs typeface="Britannic Bold" panose="020B0903060703020204" charset="0"/>
              </a:rPr>
              <a:t>MIndS Confidential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23356-8882-4F2C-7F62-AA17F3A12DE8}"/>
              </a:ext>
            </a:extLst>
          </p:cNvPr>
          <p:cNvSpPr txBox="1">
            <a:spLocks noChangeArrowheads="1"/>
          </p:cNvSpPr>
          <p:nvPr/>
        </p:nvSpPr>
        <p:spPr>
          <a:xfrm>
            <a:off x="3383559" y="86360"/>
            <a:ext cx="12048068" cy="5457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PH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Proposal: AUTOMATION SYSTEM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0C45E9-D359-9864-CF2B-C64EEEA018D5}"/>
              </a:ext>
            </a:extLst>
          </p:cNvPr>
          <p:cNvSpPr txBox="1"/>
          <p:nvPr/>
        </p:nvSpPr>
        <p:spPr>
          <a:xfrm>
            <a:off x="3464577" y="463921"/>
            <a:ext cx="3743619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84B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sequence of work overview</a:t>
            </a:r>
            <a:endParaRPr lang="en-PH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ontent Placeholder 22">
            <a:extLst>
              <a:ext uri="{FF2B5EF4-FFF2-40B4-BE49-F238E27FC236}">
                <a16:creationId xmlns:a16="http://schemas.microsoft.com/office/drawing/2014/main" id="{6864DBAB-D16D-0CD2-0C6C-F613034E44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0" y="86360"/>
            <a:ext cx="3295519" cy="7007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41E35D-9EFD-404B-E413-4CB7737F1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038" y="463921"/>
            <a:ext cx="11068323" cy="6225932"/>
          </a:xfrm>
          <a:prstGeom prst="rect">
            <a:avLst/>
          </a:prstGeom>
        </p:spPr>
      </p:pic>
      <p:sp>
        <p:nvSpPr>
          <p:cNvPr id="12" name="Rectangle 6">
            <a:extLst>
              <a:ext uri="{FF2B5EF4-FFF2-40B4-BE49-F238E27FC236}">
                <a16:creationId xmlns:a16="http://schemas.microsoft.com/office/drawing/2014/main" id="{D5B1D313-E709-E9E6-8082-A5A2A3D49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15" y="1210814"/>
            <a:ext cx="5254906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/ Database Programming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required software functions and database structures for the system.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 Checking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Verify all customer machine IO points for correct wiring and signal behavior.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PLC and HMI Debugging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and refine PLC and HMI logic to ensure proper machine operation.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and Database Debugging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Troubleshoot and finalize software and database interactions.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Assess overall system performance and verify that all functions meet project requirements.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Documentation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 the necessary manuals, diagrams, and project documentation.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8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/ Turnover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end-user training and officially hand over the system.</a:t>
            </a:r>
          </a:p>
        </p:txBody>
      </p:sp>
    </p:spTree>
    <p:extLst>
      <p:ext uri="{BB962C8B-B14F-4D97-AF65-F5344CB8AC3E}">
        <p14:creationId xmlns:p14="http://schemas.microsoft.com/office/powerpoint/2010/main" val="2117970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386C8B-D4E2-9969-A3DC-F4464DF34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254000"/>
            <a:ext cx="12191998" cy="6857999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C1E5904C-A713-468D-A2D6-0705160C5512}"/>
              </a:ext>
            </a:extLst>
          </p:cNvPr>
          <p:cNvSpPr txBox="1"/>
          <p:nvPr/>
        </p:nvSpPr>
        <p:spPr>
          <a:xfrm>
            <a:off x="3471599" y="436723"/>
            <a:ext cx="917800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84B4C"/>
                </a:solidFill>
                <a:latin typeface="myriad-pro"/>
              </a:rPr>
              <a:t>SET-UP</a:t>
            </a:r>
            <a:endParaRPr lang="en-PH" dirty="0"/>
          </a:p>
        </p:txBody>
      </p:sp>
      <p:pic>
        <p:nvPicPr>
          <p:cNvPr id="17" name="Content Placeholder 22">
            <a:extLst>
              <a:ext uri="{FF2B5EF4-FFF2-40B4-BE49-F238E27FC236}">
                <a16:creationId xmlns:a16="http://schemas.microsoft.com/office/drawing/2014/main" id="{10EC9266-B38C-605B-1F9F-2CA1917E07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0" y="86360"/>
            <a:ext cx="3295519" cy="7007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09FF23B0-2E3E-D416-9DFE-B8D9F4A71B2D}"/>
              </a:ext>
            </a:extLst>
          </p:cNvPr>
          <p:cNvSpPr txBox="1">
            <a:spLocks noChangeArrowheads="1"/>
          </p:cNvSpPr>
          <p:nvPr/>
        </p:nvSpPr>
        <p:spPr>
          <a:xfrm>
            <a:off x="3383558" y="86360"/>
            <a:ext cx="6928841" cy="5457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PH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Proposal: AUTOMATION SYSTEM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C73945-3F38-77F2-FF50-DE8F76E27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9037903"/>
              </p:ext>
            </p:extLst>
          </p:nvPr>
        </p:nvGraphicFramePr>
        <p:xfrm>
          <a:off x="4710841" y="939210"/>
          <a:ext cx="3145536" cy="2601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298">
                  <a:extLst>
                    <a:ext uri="{9D8B030D-6E8A-4147-A177-3AD203B41FA5}">
                      <a16:colId xmlns:a16="http://schemas.microsoft.com/office/drawing/2014/main" val="4218716402"/>
                    </a:ext>
                  </a:extLst>
                </a:gridCol>
                <a:gridCol w="1017037">
                  <a:extLst>
                    <a:ext uri="{9D8B030D-6E8A-4147-A177-3AD203B41FA5}">
                      <a16:colId xmlns:a16="http://schemas.microsoft.com/office/drawing/2014/main" val="4232653760"/>
                    </a:ext>
                  </a:extLst>
                </a:gridCol>
                <a:gridCol w="457201">
                  <a:extLst>
                    <a:ext uri="{9D8B030D-6E8A-4147-A177-3AD203B41FA5}">
                      <a16:colId xmlns:a16="http://schemas.microsoft.com/office/drawing/2014/main" val="2593578433"/>
                    </a:ext>
                  </a:extLst>
                </a:gridCol>
              </a:tblGrid>
              <a:tr h="318468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0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51007"/>
                  </a:ext>
                </a:extLst>
              </a:tr>
              <a:tr h="235579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MS2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366768"/>
                  </a:ext>
                </a:extLst>
              </a:tr>
              <a:tr h="392632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Programmable Logic Controller (PLC)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KV-8000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836545"/>
                  </a:ext>
                </a:extLst>
              </a:tr>
              <a:tr h="318468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PLC communication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30540"/>
                  </a:ext>
                </a:extLst>
              </a:tr>
              <a:tr h="318468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PLC data utilization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134653"/>
                  </a:ext>
                </a:extLst>
              </a:tr>
              <a:tr h="318468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PLC ethernet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447449"/>
                  </a:ext>
                </a:extLst>
              </a:tr>
              <a:tr h="318468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Ethernet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305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FC23A96-0E0A-1231-2361-CDEE4C85A576}"/>
              </a:ext>
            </a:extLst>
          </p:cNvPr>
          <p:cNvSpPr txBox="1"/>
          <p:nvPr/>
        </p:nvSpPr>
        <p:spPr>
          <a:xfrm>
            <a:off x="4622800" y="632068"/>
            <a:ext cx="2062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MAIN SERVER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326163-5782-4F01-2609-563C2425DE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466459"/>
              </p:ext>
            </p:extLst>
          </p:nvPr>
        </p:nvGraphicFramePr>
        <p:xfrm>
          <a:off x="8181579" y="939210"/>
          <a:ext cx="3714951" cy="1789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2886">
                  <a:extLst>
                    <a:ext uri="{9D8B030D-6E8A-4147-A177-3AD203B41FA5}">
                      <a16:colId xmlns:a16="http://schemas.microsoft.com/office/drawing/2014/main" val="4218716402"/>
                    </a:ext>
                  </a:extLst>
                </a:gridCol>
                <a:gridCol w="1231641">
                  <a:extLst>
                    <a:ext uri="{9D8B030D-6E8A-4147-A177-3AD203B41FA5}">
                      <a16:colId xmlns:a16="http://schemas.microsoft.com/office/drawing/2014/main" val="4232653760"/>
                    </a:ext>
                  </a:extLst>
                </a:gridCol>
                <a:gridCol w="830424">
                  <a:extLst>
                    <a:ext uri="{9D8B030D-6E8A-4147-A177-3AD203B41FA5}">
                      <a16:colId xmlns:a16="http://schemas.microsoft.com/office/drawing/2014/main" val="1940451773"/>
                    </a:ext>
                  </a:extLst>
                </a:gridCol>
              </a:tblGrid>
              <a:tr h="352570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51007"/>
                  </a:ext>
                </a:extLst>
              </a:tr>
              <a:tr h="260805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MS2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366768"/>
                  </a:ext>
                </a:extLst>
              </a:tr>
              <a:tr h="434675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Programmable Logic Controller (PLC)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KV-8000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836545"/>
                  </a:ext>
                </a:extLst>
              </a:tr>
              <a:tr h="352570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PLC ethernet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30540"/>
                  </a:ext>
                </a:extLst>
              </a:tr>
              <a:tr h="352570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Ethernet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1346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465BB66-14C2-E5F7-CC4B-4A6A8C750EA6}"/>
              </a:ext>
            </a:extLst>
          </p:cNvPr>
          <p:cNvSpPr txBox="1"/>
          <p:nvPr/>
        </p:nvSpPr>
        <p:spPr>
          <a:xfrm>
            <a:off x="8094399" y="632068"/>
            <a:ext cx="1801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dirty="0"/>
              <a:t>LINE 1 MAIN</a:t>
            </a:r>
          </a:p>
        </p:txBody>
      </p:sp>
    </p:spTree>
    <p:extLst>
      <p:ext uri="{BB962C8B-B14F-4D97-AF65-F5344CB8AC3E}">
        <p14:creationId xmlns:p14="http://schemas.microsoft.com/office/powerpoint/2010/main" val="1848364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6738B-18FE-861A-C34F-F95394870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D2944B-B62E-FED7-FE00-5895A0365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36723"/>
            <a:ext cx="12191998" cy="6857998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D8F16DE4-1E31-A0F4-6324-A9EE768499E3}"/>
              </a:ext>
            </a:extLst>
          </p:cNvPr>
          <p:cNvSpPr txBox="1"/>
          <p:nvPr/>
        </p:nvSpPr>
        <p:spPr>
          <a:xfrm>
            <a:off x="3471599" y="436723"/>
            <a:ext cx="917800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84B4C"/>
                </a:solidFill>
                <a:latin typeface="myriad-pro"/>
              </a:rPr>
              <a:t>SET-UP</a:t>
            </a:r>
            <a:endParaRPr lang="en-PH" dirty="0"/>
          </a:p>
        </p:txBody>
      </p:sp>
      <p:pic>
        <p:nvPicPr>
          <p:cNvPr id="17" name="Content Placeholder 22">
            <a:extLst>
              <a:ext uri="{FF2B5EF4-FFF2-40B4-BE49-F238E27FC236}">
                <a16:creationId xmlns:a16="http://schemas.microsoft.com/office/drawing/2014/main" id="{5016400E-41AF-A649-9D0E-4C66DF2975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040" y="86360"/>
            <a:ext cx="3295519" cy="70072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3C84D9CA-AB3C-3075-C1AE-ECC6F529DDA3}"/>
              </a:ext>
            </a:extLst>
          </p:cNvPr>
          <p:cNvSpPr txBox="1">
            <a:spLocks noChangeArrowheads="1"/>
          </p:cNvSpPr>
          <p:nvPr/>
        </p:nvSpPr>
        <p:spPr>
          <a:xfrm>
            <a:off x="3383558" y="86360"/>
            <a:ext cx="6928841" cy="545708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067C6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PH" altLang="en-US" sz="2400" b="1" kern="0" dirty="0">
                <a:latin typeface="Arial" panose="020B0604020202020204" pitchFamily="34" charset="0"/>
                <a:cs typeface="Arial" panose="020B0604020202020204" pitchFamily="34" charset="0"/>
              </a:rPr>
              <a:t>Proposal: AUTOMATION SYSTEM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1959B8A-1DD7-CCDF-53E5-7F4FAE50B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961222"/>
              </p:ext>
            </p:extLst>
          </p:nvPr>
        </p:nvGraphicFramePr>
        <p:xfrm>
          <a:off x="159160" y="1092592"/>
          <a:ext cx="5530440" cy="24220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9983">
                  <a:extLst>
                    <a:ext uri="{9D8B030D-6E8A-4147-A177-3AD203B41FA5}">
                      <a16:colId xmlns:a16="http://schemas.microsoft.com/office/drawing/2014/main" val="4218716402"/>
                    </a:ext>
                  </a:extLst>
                </a:gridCol>
                <a:gridCol w="1418253">
                  <a:extLst>
                    <a:ext uri="{9D8B030D-6E8A-4147-A177-3AD203B41FA5}">
                      <a16:colId xmlns:a16="http://schemas.microsoft.com/office/drawing/2014/main" val="4232653760"/>
                    </a:ext>
                  </a:extLst>
                </a:gridCol>
                <a:gridCol w="1332204">
                  <a:extLst>
                    <a:ext uri="{9D8B030D-6E8A-4147-A177-3AD203B41FA5}">
                      <a16:colId xmlns:a16="http://schemas.microsoft.com/office/drawing/2014/main" val="811004403"/>
                    </a:ext>
                  </a:extLst>
                </a:gridCol>
              </a:tblGrid>
              <a:tr h="300575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7551007"/>
                  </a:ext>
                </a:extLst>
              </a:tr>
              <a:tr h="258907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POWER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MS2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0366768"/>
                  </a:ext>
                </a:extLst>
              </a:tr>
              <a:tr h="370572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Programmable Logic Controller (PLC)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KV-Nano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4836545"/>
                  </a:ext>
                </a:extLst>
              </a:tr>
              <a:tr h="300575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PLC Ethernet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30540"/>
                  </a:ext>
                </a:extLst>
              </a:tr>
              <a:tr h="300575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PLC Serial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KV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1193068"/>
                  </a:ext>
                </a:extLst>
              </a:tr>
              <a:tr h="300575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Touch 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VT3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134653"/>
                  </a:ext>
                </a:extLst>
              </a:tr>
              <a:tr h="300575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Barcode scanner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6447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Ethernet 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PH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305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4049A68-D281-B565-80C3-1DD48E5E9397}"/>
              </a:ext>
            </a:extLst>
          </p:cNvPr>
          <p:cNvSpPr txBox="1"/>
          <p:nvPr/>
        </p:nvSpPr>
        <p:spPr>
          <a:xfrm>
            <a:off x="71121" y="785450"/>
            <a:ext cx="3820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 dirty="0"/>
              <a:t>SUB CONTROL BOX COMMON ITEMS</a:t>
            </a:r>
          </a:p>
        </p:txBody>
      </p:sp>
    </p:spTree>
    <p:extLst>
      <p:ext uri="{BB962C8B-B14F-4D97-AF65-F5344CB8AC3E}">
        <p14:creationId xmlns:p14="http://schemas.microsoft.com/office/powerpoint/2010/main" val="3883509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4708</TotalTime>
  <Words>520</Words>
  <Application>Microsoft Office PowerPoint</Application>
  <PresentationFormat>Widescreen</PresentationFormat>
  <Paragraphs>118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Britannic Bold</vt:lpstr>
      <vt:lpstr>Calibri</vt:lpstr>
      <vt:lpstr>Calibri Light</vt:lpstr>
      <vt:lpstr>myriad-pro</vt:lpstr>
      <vt:lpstr>Wingdings</vt:lpstr>
      <vt:lpstr>Office Theme</vt:lpstr>
      <vt:lpstr>Panasonic Manufacturing Philippines Corporation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</dc:title>
  <dc:subject>MATERIAL BIN IMPROVEMENT</dc:subject>
  <dc:creator>Pablo Nicholas Garganta</dc:creator>
  <cp:lastModifiedBy>Bryan Bosas</cp:lastModifiedBy>
  <cp:revision>93</cp:revision>
  <cp:lastPrinted>2021-08-27T06:33:10Z</cp:lastPrinted>
  <dcterms:created xsi:type="dcterms:W3CDTF">2021-05-04T05:07:09Z</dcterms:created>
  <dcterms:modified xsi:type="dcterms:W3CDTF">2026-03-02T02:27:51Z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1033-11.2.0.10101</vt:lpwstr>
  </property>
</Properties>
</file>