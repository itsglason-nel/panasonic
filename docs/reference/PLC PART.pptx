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4.xml" ContentType="application/vnd.openxmlformats-officedocument.presentationml.slide+xml"/>
  <Override PartName="/ppt/slides/slide7.xml" ContentType="application/vnd.openxmlformats-officedocument.presentationml.slide+xml"/>
  <Override PartName="/ppt/slides/slide25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microsoft.com/office/2020/02/relationships/classificationlabels" Target="docMetadata/LabelInfo.xml"/><Relationship Id="rId5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 defTabSz="914400">
              <a:lnSpc>
                <a:spcPct val="90000"/>
              </a:lnSpc>
              <a:buNone/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FA86EED-E36F-4E42-B42F-250CBE5AFA6B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E04B7FD-EEAA-42BD-9A10-147C68BA60B2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E058303-72F3-4C3C-B630-ECD1A8B595CE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8A4982A-58AB-44F7-980B-03034B0A01BA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>
                  <a:tint val="82000"/>
                </a:schemeClr>
              </a:solidFill>
              <a:effectLst/>
              <a:uFillTx/>
              <a:latin typeface="Aptos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2A44E2B-32BB-40C8-B72E-727842FB22E7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086671C-DC05-4CAC-8264-A73AA2533AF2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7A2CF69-0589-42CF-ADB3-45846409792F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4DE0562-6A23-46E9-8B86-9D58C1B61189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C098B01-B15F-4392-859E-A003DAFCCB82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8691DE7-E284-4881-85AB-FDA384BF41E7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457200"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914400"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371600"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828800"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0"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743200"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8CD8FEF-BCEF-4B50-BDF3-61BEF69A75ED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1.png"/><Relationship Id="rId5" Type="http://schemas.openxmlformats.org/officeDocument/2006/relationships/image" Target="../media/image1.png"/><Relationship Id="rId6" Type="http://schemas.openxmlformats.org/officeDocument/2006/relationships/image" Target="../media/image1.png"/><Relationship Id="rId7" Type="http://schemas.openxmlformats.org/officeDocument/2006/relationships/image" Target="../media/image1.png"/><Relationship Id="rId8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1.png"/><Relationship Id="rId5" Type="http://schemas.openxmlformats.org/officeDocument/2006/relationships/image" Target="../media/image1.png"/><Relationship Id="rId6" Type="http://schemas.openxmlformats.org/officeDocument/2006/relationships/image" Target="../media/image1.png"/><Relationship Id="rId7" Type="http://schemas.openxmlformats.org/officeDocument/2006/relationships/image" Target="../media/image1.png"/><Relationship Id="rId8" Type="http://schemas.openxmlformats.org/officeDocument/2006/relationships/slideLayout" Target="../slideLayouts/slideLayout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9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slideLayout" Target="../slideLayouts/slideLayout9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9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9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9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9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10.jpeg"/><Relationship Id="rId2" Type="http://schemas.openxmlformats.org/officeDocument/2006/relationships/slideLayout" Target="../slideLayouts/slideLayout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9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ounded Rectangle 14"/>
          <p:cNvSpPr/>
          <p:nvPr/>
        </p:nvSpPr>
        <p:spPr>
          <a:xfrm>
            <a:off x="3725280" y="1281960"/>
            <a:ext cx="1742400" cy="30888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28575">
            <a:solidFill>
              <a:srgbClr val="00000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numCol="1" spcCol="0" lIns="60480" tIns="30240" rIns="60480" bIns="3024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PH" sz="98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START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Rounded Rectangle 126"/>
          <p:cNvSpPr/>
          <p:nvPr/>
        </p:nvSpPr>
        <p:spPr>
          <a:xfrm>
            <a:off x="3488040" y="2547000"/>
            <a:ext cx="2255040" cy="460800"/>
          </a:xfrm>
          <a:prstGeom prst="parallelogram">
            <a:avLst>
              <a:gd name="adj" fmla="val 25000"/>
            </a:avLst>
          </a:prstGeom>
          <a:solidFill>
            <a:srgbClr val="FF5050"/>
          </a:solidFill>
          <a:ln w="12700">
            <a:solidFill>
              <a:srgbClr val="00000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numCol="1" spcCol="0" lIns="60480" tIns="30240" rIns="60480" bIns="3024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PH" sz="57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SFIS 1: FAN MOTOR &amp; COMPRESSOR RECORDING and CHECKING</a:t>
            </a:r>
            <a:endParaRPr lang="en-US" sz="5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Rounded Rectangle 17"/>
          <p:cNvSpPr/>
          <p:nvPr/>
        </p:nvSpPr>
        <p:spPr>
          <a:xfrm>
            <a:off x="3826800" y="3347640"/>
            <a:ext cx="1577160" cy="308880"/>
          </a:xfrm>
          <a:prstGeom prst="parallelogram">
            <a:avLst>
              <a:gd name="adj" fmla="val 25000"/>
            </a:avLst>
          </a:prstGeom>
          <a:solidFill>
            <a:srgbClr val="FFC000"/>
          </a:solidFill>
          <a:ln w="12700">
            <a:solidFill>
              <a:srgbClr val="00000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numCol="1" spcCol="0" lIns="60480" tIns="30240" rIns="60480" bIns="3024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PH" sz="57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INSPECTION 1: AIRTIGHT TEST</a:t>
            </a:r>
            <a:endParaRPr lang="en-US" sz="5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4" name="Straight Arrow Connector 137"/>
          <p:cNvCxnSpPr>
            <a:stCxn id="62" idx="4"/>
            <a:endCxn id="63" idx="0"/>
          </p:cNvCxnSpPr>
          <p:nvPr/>
        </p:nvCxnSpPr>
        <p:spPr>
          <a:xfrm>
            <a:off x="4615560" y="3007800"/>
            <a:ext cx="360" cy="340200"/>
          </a:xfrm>
          <a:prstGeom prst="straightConnector1">
            <a:avLst/>
          </a:prstGeom>
          <a:ln w="28575">
            <a:solidFill>
              <a:srgbClr val="FF0000"/>
            </a:solidFill>
            <a:tailEnd len="med" type="triangle" w="med"/>
          </a:ln>
        </p:spPr>
      </p:cxnSp>
      <p:sp>
        <p:nvSpPr>
          <p:cNvPr id="65" name="Rounded Rectangle 126"/>
          <p:cNvSpPr/>
          <p:nvPr/>
        </p:nvSpPr>
        <p:spPr>
          <a:xfrm>
            <a:off x="3441600" y="1925640"/>
            <a:ext cx="2323440" cy="308880"/>
          </a:xfrm>
          <a:prstGeom prst="roundRect">
            <a:avLst>
              <a:gd name="adj" fmla="val 0"/>
            </a:avLst>
          </a:prstGeom>
          <a:solidFill>
            <a:schemeClr val="bg2">
              <a:lumMod val="75000"/>
            </a:schemeClr>
          </a:solidFill>
          <a:ln w="12700">
            <a:solidFill>
              <a:srgbClr val="00000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numCol="1" spcCol="0" lIns="60480" tIns="30240" rIns="60480" bIns="3024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PH" sz="57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SCAN FOR MODEL THAT WILL BE IN PRODUCTION</a:t>
            </a:r>
            <a:endParaRPr lang="en-US" sz="5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6" name="Straight Arrow Connector 8"/>
          <p:cNvCxnSpPr>
            <a:stCxn id="65" idx="2"/>
            <a:endCxn id="62" idx="0"/>
          </p:cNvCxnSpPr>
          <p:nvPr/>
        </p:nvCxnSpPr>
        <p:spPr>
          <a:xfrm>
            <a:off x="4603320" y="2234520"/>
            <a:ext cx="12600" cy="312840"/>
          </a:xfrm>
          <a:prstGeom prst="straightConnector1">
            <a:avLst/>
          </a:prstGeom>
          <a:ln w="28575">
            <a:solidFill>
              <a:srgbClr val="FF0000"/>
            </a:solidFill>
            <a:tailEnd len="med" type="triangle" w="med"/>
          </a:ln>
        </p:spPr>
      </p:cxnSp>
      <p:cxnSp>
        <p:nvCxnSpPr>
          <p:cNvPr id="67" name="Straight Arrow Connector 17"/>
          <p:cNvCxnSpPr>
            <a:stCxn id="61" idx="2"/>
            <a:endCxn id="65" idx="0"/>
          </p:cNvCxnSpPr>
          <p:nvPr/>
        </p:nvCxnSpPr>
        <p:spPr>
          <a:xfrm>
            <a:off x="4596480" y="1590840"/>
            <a:ext cx="7200" cy="335160"/>
          </a:xfrm>
          <a:prstGeom prst="straightConnector1">
            <a:avLst/>
          </a:prstGeom>
          <a:ln w="28575">
            <a:solidFill>
              <a:srgbClr val="FF0000"/>
            </a:solidFill>
            <a:tailEnd len="med" type="triangle" w="med"/>
          </a:ln>
        </p:spPr>
      </p:cxnSp>
      <p:sp>
        <p:nvSpPr>
          <p:cNvPr id="68" name="Rounded Rectangle 17"/>
          <p:cNvSpPr/>
          <p:nvPr/>
        </p:nvSpPr>
        <p:spPr>
          <a:xfrm>
            <a:off x="3792600" y="3948120"/>
            <a:ext cx="1577160" cy="308880"/>
          </a:xfrm>
          <a:prstGeom prst="parallelogram">
            <a:avLst>
              <a:gd name="adj" fmla="val 25000"/>
            </a:avLst>
          </a:prstGeom>
          <a:solidFill>
            <a:srgbClr val="FFFF00"/>
          </a:solidFill>
          <a:ln w="12700">
            <a:solidFill>
              <a:srgbClr val="00000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numCol="1" spcCol="0" lIns="60480" tIns="30240" rIns="60480" bIns="3024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PH" sz="57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SFIS 2: GAS CHARGING</a:t>
            </a:r>
            <a:endParaRPr lang="en-US" sz="5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Rounded Rectangle 17"/>
          <p:cNvSpPr/>
          <p:nvPr/>
        </p:nvSpPr>
        <p:spPr>
          <a:xfrm>
            <a:off x="3619080" y="4564080"/>
            <a:ext cx="1913760" cy="423360"/>
          </a:xfrm>
          <a:prstGeom prst="parallelogram">
            <a:avLst>
              <a:gd name="adj" fmla="val 25000"/>
            </a:avLst>
          </a:prstGeom>
          <a:solidFill>
            <a:srgbClr val="00B050"/>
          </a:solidFill>
          <a:ln w="12700">
            <a:solidFill>
              <a:srgbClr val="00000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numCol="1" spcCol="0" lIns="60480" tIns="30240" rIns="60480" bIns="3024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PH" sz="57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SFIS 4: CONTROL BOARD &amp; OUTDOOR PCB</a:t>
            </a:r>
            <a:endParaRPr lang="en-US" sz="5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70" name="Straight Arrow Connector 143"/>
          <p:cNvCxnSpPr>
            <a:stCxn id="63" idx="4"/>
            <a:endCxn id="68" idx="1"/>
          </p:cNvCxnSpPr>
          <p:nvPr/>
        </p:nvCxnSpPr>
        <p:spPr>
          <a:xfrm>
            <a:off x="4615560" y="3656520"/>
            <a:ext cx="4680" cy="291960"/>
          </a:xfrm>
          <a:prstGeom prst="straightConnector1">
            <a:avLst/>
          </a:prstGeom>
          <a:ln w="28575">
            <a:solidFill>
              <a:srgbClr val="FF0000"/>
            </a:solidFill>
            <a:tailEnd len="med" type="triangle" w="med"/>
          </a:ln>
        </p:spPr>
      </p:cxnSp>
      <p:cxnSp>
        <p:nvCxnSpPr>
          <p:cNvPr id="71" name="Straight Arrow Connector 146"/>
          <p:cNvCxnSpPr>
            <a:stCxn id="68" idx="4"/>
            <a:endCxn id="69" idx="0"/>
          </p:cNvCxnSpPr>
          <p:nvPr/>
        </p:nvCxnSpPr>
        <p:spPr>
          <a:xfrm flipH="1">
            <a:off x="4575960" y="4257000"/>
            <a:ext cx="5760" cy="307440"/>
          </a:xfrm>
          <a:prstGeom prst="straightConnector1">
            <a:avLst/>
          </a:prstGeom>
          <a:ln w="28575">
            <a:solidFill>
              <a:srgbClr val="FF0000"/>
            </a:solidFill>
            <a:tailEnd len="med" type="triangle" w="med"/>
          </a:ln>
        </p:spPr>
      </p:cxnSp>
      <p:sp>
        <p:nvSpPr>
          <p:cNvPr id="72" name="Rounded Rectangle 17"/>
          <p:cNvSpPr/>
          <p:nvPr/>
        </p:nvSpPr>
        <p:spPr>
          <a:xfrm>
            <a:off x="3574080" y="5294880"/>
            <a:ext cx="1913760" cy="423360"/>
          </a:xfrm>
          <a:prstGeom prst="parallelogram">
            <a:avLst>
              <a:gd name="adj" fmla="val 25000"/>
            </a:avLst>
          </a:prstGeom>
          <a:solidFill>
            <a:srgbClr val="00B0F0"/>
          </a:solidFill>
          <a:ln w="12700">
            <a:solidFill>
              <a:srgbClr val="00000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numCol="1" spcCol="0" lIns="60480" tIns="30240" rIns="60480" bIns="3024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PH" sz="57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INSPECTION 2: WIRING AND CONSTRUCTION INSPECTION</a:t>
            </a:r>
            <a:endParaRPr lang="en-US" sz="5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Rounded Rectangle 17"/>
          <p:cNvSpPr/>
          <p:nvPr/>
        </p:nvSpPr>
        <p:spPr>
          <a:xfrm>
            <a:off x="7074360" y="1448640"/>
            <a:ext cx="1913760" cy="423360"/>
          </a:xfrm>
          <a:prstGeom prst="parallelogram">
            <a:avLst>
              <a:gd name="adj" fmla="val 25000"/>
            </a:avLst>
          </a:prstGeom>
          <a:solidFill>
            <a:schemeClr val="accent6">
              <a:lumMod val="75000"/>
            </a:schemeClr>
          </a:solidFill>
          <a:ln w="12700">
            <a:solidFill>
              <a:srgbClr val="00000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numCol="1" spcCol="0" lIns="60480" tIns="30240" rIns="60480" bIns="3024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PH" sz="57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INSPECTION : RUNNING INSPECTION</a:t>
            </a:r>
            <a:endParaRPr lang="en-US" sz="5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Rounded Rectangle 17"/>
          <p:cNvSpPr/>
          <p:nvPr/>
        </p:nvSpPr>
        <p:spPr>
          <a:xfrm>
            <a:off x="7081560" y="2169720"/>
            <a:ext cx="1913760" cy="423360"/>
          </a:xfrm>
          <a:prstGeom prst="parallelogram">
            <a:avLst>
              <a:gd name="adj" fmla="val 25000"/>
            </a:avLst>
          </a:prstGeom>
          <a:solidFill>
            <a:schemeClr val="accent6">
              <a:lumMod val="40000"/>
              <a:lumOff val="60000"/>
            </a:schemeClr>
          </a:solidFill>
          <a:ln w="12700">
            <a:solidFill>
              <a:srgbClr val="00000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numCol="1" spcCol="0" lIns="60480" tIns="30240" rIns="60480" bIns="3024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PH" sz="57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INSPECTION 5: FINAL INSPECTION</a:t>
            </a:r>
            <a:endParaRPr lang="en-US" sz="5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Rounded Rectangle 17"/>
          <p:cNvSpPr/>
          <p:nvPr/>
        </p:nvSpPr>
        <p:spPr>
          <a:xfrm>
            <a:off x="7081560" y="2888640"/>
            <a:ext cx="1913760" cy="423360"/>
          </a:xfrm>
          <a:prstGeom prst="parallelogram">
            <a:avLst>
              <a:gd name="adj" fmla="val 25000"/>
            </a:avLst>
          </a:prstGeom>
          <a:solidFill>
            <a:schemeClr val="accent2"/>
          </a:solidFill>
          <a:ln w="12700">
            <a:solidFill>
              <a:srgbClr val="00000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numCol="1" spcCol="0" lIns="60480" tIns="30240" rIns="60480" bIns="3024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PH" sz="57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SFIS 5: PACKAGING</a:t>
            </a:r>
            <a:endParaRPr lang="en-US" sz="5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76" name="Straight Arrow Connector 164"/>
          <p:cNvCxnSpPr>
            <a:stCxn id="69" idx="4"/>
            <a:endCxn id="72" idx="1"/>
          </p:cNvCxnSpPr>
          <p:nvPr/>
        </p:nvCxnSpPr>
        <p:spPr>
          <a:xfrm>
            <a:off x="4575960" y="4987440"/>
            <a:ext cx="8280" cy="307800"/>
          </a:xfrm>
          <a:prstGeom prst="straightConnector1">
            <a:avLst/>
          </a:prstGeom>
          <a:ln w="28575">
            <a:solidFill>
              <a:srgbClr val="FF0000"/>
            </a:solidFill>
            <a:tailEnd len="med" type="triangle" w="med"/>
          </a:ln>
        </p:spPr>
      </p:cxnSp>
      <p:sp>
        <p:nvSpPr>
          <p:cNvPr id="77" name="Rounded Rectangle 17"/>
          <p:cNvSpPr/>
          <p:nvPr/>
        </p:nvSpPr>
        <p:spPr>
          <a:xfrm>
            <a:off x="966600" y="4564080"/>
            <a:ext cx="1913760" cy="423360"/>
          </a:xfrm>
          <a:prstGeom prst="parallelogram">
            <a:avLst>
              <a:gd name="adj" fmla="val 25000"/>
            </a:avLst>
          </a:prstGeom>
          <a:solidFill>
            <a:srgbClr val="92D050"/>
          </a:solidFill>
          <a:ln w="12700">
            <a:solidFill>
              <a:srgbClr val="00000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numCol="1" spcCol="0" lIns="60480" tIns="30240" rIns="60480" bIns="3024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PH" sz="57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SFIS 3: INDOOR CONTROL BOARD</a:t>
            </a:r>
            <a:endParaRPr lang="en-US" sz="5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8" name="Straight Arrow Connector 167"/>
          <p:cNvCxnSpPr>
            <a:stCxn id="69" idx="5"/>
            <a:endCxn id="77" idx="2"/>
          </p:cNvCxnSpPr>
          <p:nvPr/>
        </p:nvCxnSpPr>
        <p:spPr>
          <a:xfrm flipH="1">
            <a:off x="2827440" y="4775760"/>
            <a:ext cx="844920" cy="360"/>
          </a:xfrm>
          <a:prstGeom prst="straightConnector1">
            <a:avLst/>
          </a:prstGeom>
          <a:ln w="28575">
            <a:solidFill>
              <a:srgbClr val="FF0000"/>
            </a:solidFill>
            <a:tailEnd len="med" type="triangle" w="med"/>
          </a:ln>
        </p:spPr>
      </p:cxnSp>
      <p:cxnSp>
        <p:nvCxnSpPr>
          <p:cNvPr id="79" name="Elbow Connector 175"/>
          <p:cNvCxnSpPr>
            <a:stCxn id="72" idx="2"/>
            <a:endCxn id="73" idx="1"/>
          </p:cNvCxnSpPr>
          <p:nvPr/>
        </p:nvCxnSpPr>
        <p:spPr>
          <a:xfrm flipV="1">
            <a:off x="5434920" y="1448640"/>
            <a:ext cx="2649600" cy="4058280"/>
          </a:xfrm>
          <a:prstGeom prst="bentConnector4">
            <a:avLst>
              <a:gd name="adj1" fmla="val 29949"/>
              <a:gd name="adj2" fmla="val 105633"/>
            </a:avLst>
          </a:prstGeom>
          <a:ln w="28575">
            <a:solidFill>
              <a:srgbClr val="FF0000"/>
            </a:solidFill>
            <a:tailEnd len="med" type="triangle" w="med"/>
          </a:ln>
        </p:spPr>
      </p:cxnSp>
      <p:cxnSp>
        <p:nvCxnSpPr>
          <p:cNvPr id="80" name="Straight Arrow Connector 198"/>
          <p:cNvCxnSpPr>
            <a:stCxn id="74" idx="4"/>
            <a:endCxn id="75" idx="0"/>
          </p:cNvCxnSpPr>
          <p:nvPr/>
        </p:nvCxnSpPr>
        <p:spPr>
          <a:xfrm>
            <a:off x="8038440" y="2593080"/>
            <a:ext cx="360" cy="295920"/>
          </a:xfrm>
          <a:prstGeom prst="straightConnector1">
            <a:avLst/>
          </a:prstGeom>
          <a:ln w="28575">
            <a:solidFill>
              <a:srgbClr val="FF0000"/>
            </a:solidFill>
            <a:tailEnd len="med" type="triangle" w="med"/>
          </a:ln>
        </p:spPr>
      </p:cxnSp>
      <p:sp>
        <p:nvSpPr>
          <p:cNvPr id="81" name="Rounded Rectangle 14"/>
          <p:cNvSpPr/>
          <p:nvPr/>
        </p:nvSpPr>
        <p:spPr>
          <a:xfrm>
            <a:off x="7163640" y="3574080"/>
            <a:ext cx="1742400" cy="30888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28575">
            <a:solidFill>
              <a:srgbClr val="00000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/>
        </p:style>
        <p:txBody>
          <a:bodyPr numCol="1" spcCol="0" lIns="60480" tIns="30240" rIns="60480" bIns="3024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PH" sz="98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END</a:t>
            </a:r>
            <a:endParaRPr lang="en-US" sz="9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2" name="Straight Arrow Connector 204"/>
          <p:cNvCxnSpPr>
            <a:stCxn id="75" idx="4"/>
            <a:endCxn id="81" idx="0"/>
          </p:cNvCxnSpPr>
          <p:nvPr/>
        </p:nvCxnSpPr>
        <p:spPr>
          <a:xfrm flipH="1">
            <a:off x="8034840" y="3312000"/>
            <a:ext cx="3960" cy="262440"/>
          </a:xfrm>
          <a:prstGeom prst="straightConnector1">
            <a:avLst/>
          </a:prstGeom>
          <a:ln w="28575">
            <a:solidFill>
              <a:srgbClr val="FF0000"/>
            </a:solidFill>
            <a:tailEnd len="med" type="triangle" w="med"/>
          </a:ln>
        </p:spPr>
      </p:cxnSp>
      <p:sp>
        <p:nvSpPr>
          <p:cNvPr id="83" name="Rectangle 205"/>
          <p:cNvSpPr/>
          <p:nvPr/>
        </p:nvSpPr>
        <p:spPr>
          <a:xfrm>
            <a:off x="1143000" y="8640"/>
            <a:ext cx="9905760" cy="308880"/>
          </a:xfrm>
          <a:prstGeom prst="rect">
            <a:avLst/>
          </a:prstGeom>
          <a:solidFill>
            <a:schemeClr val="accent1"/>
          </a:solidFill>
          <a:ln w="28575">
            <a:solidFill>
              <a:srgbClr val="00000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PH" sz="195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LINE AUTOMATION PROPOSAL</a:t>
            </a:r>
            <a:endParaRPr lang="en-US" sz="1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84" name="Straight Arrow Connector 9"/>
          <p:cNvCxnSpPr>
            <a:stCxn id="73" idx="4"/>
            <a:endCxn id="74" idx="0"/>
          </p:cNvCxnSpPr>
          <p:nvPr/>
        </p:nvCxnSpPr>
        <p:spPr>
          <a:xfrm>
            <a:off x="8031240" y="1872000"/>
            <a:ext cx="7560" cy="298080"/>
          </a:xfrm>
          <a:prstGeom prst="straightConnector1">
            <a:avLst/>
          </a:prstGeom>
          <a:ln w="28575">
            <a:solidFill>
              <a:srgbClr val="FF0000"/>
            </a:solidFill>
            <a:tailEnd len="med" type="triangle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Rectangle 1"/>
          <p:cNvSpPr/>
          <p:nvPr/>
        </p:nvSpPr>
        <p:spPr>
          <a:xfrm>
            <a:off x="2753640" y="3614400"/>
            <a:ext cx="6487560" cy="2500200"/>
          </a:xfrm>
          <a:prstGeom prst="rect">
            <a:avLst/>
          </a:prstGeom>
          <a:solidFill>
            <a:schemeClr val="bg2"/>
          </a:solidFill>
          <a:ln w="57150">
            <a:solidFill>
              <a:srgbClr val="4EA72E">
                <a:lumMod val="40000"/>
                <a:lumOff val="60000"/>
              </a:srgb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86" name="Rectangle 205"/>
          <p:cNvSpPr/>
          <p:nvPr/>
        </p:nvSpPr>
        <p:spPr>
          <a:xfrm>
            <a:off x="1143000" y="8640"/>
            <a:ext cx="9905760" cy="308880"/>
          </a:xfrm>
          <a:prstGeom prst="rect">
            <a:avLst/>
          </a:prstGeom>
          <a:solidFill>
            <a:schemeClr val="accent1"/>
          </a:solidFill>
          <a:ln w="28575">
            <a:solidFill>
              <a:srgbClr val="00000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PH" sz="195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LINE AUTOMATION PROPOSAL</a:t>
            </a:r>
            <a:endParaRPr lang="en-US" sz="1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87" name="Straight Arrow Connector 10"/>
          <p:cNvCxnSpPr/>
          <p:nvPr/>
        </p:nvCxnSpPr>
        <p:spPr>
          <a:xfrm>
            <a:off x="2144520" y="1324440"/>
            <a:ext cx="3199680" cy="2113920"/>
          </a:xfrm>
          <a:prstGeom prst="straightConnector1">
            <a:avLst/>
          </a:prstGeom>
          <a:ln>
            <a:solidFill>
              <a:srgbClr val="FF0000"/>
            </a:solidFill>
            <a:tailEnd len="med" type="triangle" w="med"/>
          </a:ln>
        </p:spPr>
      </p:cxnSp>
      <p:sp>
        <p:nvSpPr>
          <p:cNvPr id="88" name="TextBox 21"/>
          <p:cNvSpPr/>
          <p:nvPr/>
        </p:nvSpPr>
        <p:spPr>
          <a:xfrm>
            <a:off x="2753640" y="3666240"/>
            <a:ext cx="422424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Scan Safety Parts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Rectangle 2"/>
          <p:cNvSpPr/>
          <p:nvPr/>
        </p:nvSpPr>
        <p:spPr>
          <a:xfrm>
            <a:off x="3434760" y="4057200"/>
            <a:ext cx="1908720" cy="307440"/>
          </a:xfrm>
          <a:prstGeom prst="rect">
            <a:avLst/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90" name="Rectangle 3"/>
          <p:cNvSpPr/>
          <p:nvPr/>
        </p:nvSpPr>
        <p:spPr>
          <a:xfrm>
            <a:off x="6187320" y="4071960"/>
            <a:ext cx="1908720" cy="307440"/>
          </a:xfrm>
          <a:prstGeom prst="rect">
            <a:avLst/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91" name="Rectangle 7"/>
          <p:cNvSpPr/>
          <p:nvPr/>
        </p:nvSpPr>
        <p:spPr>
          <a:xfrm>
            <a:off x="3434760" y="4758840"/>
            <a:ext cx="1908720" cy="295920"/>
          </a:xfrm>
          <a:prstGeom prst="rect">
            <a:avLst/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92" name="Rectangle 11"/>
          <p:cNvSpPr/>
          <p:nvPr/>
        </p:nvSpPr>
        <p:spPr>
          <a:xfrm>
            <a:off x="6187320" y="4771080"/>
            <a:ext cx="1908720" cy="301680"/>
          </a:xfrm>
          <a:prstGeom prst="rect">
            <a:avLst/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93" name="TextBox 13"/>
          <p:cNvSpPr/>
          <p:nvPr/>
        </p:nvSpPr>
        <p:spPr>
          <a:xfrm>
            <a:off x="3255840" y="4412520"/>
            <a:ext cx="226692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EXPANSION VALVE  ASSY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Box 14"/>
          <p:cNvSpPr/>
          <p:nvPr/>
        </p:nvSpPr>
        <p:spPr>
          <a:xfrm>
            <a:off x="6305760" y="4429080"/>
            <a:ext cx="167184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EXPANSION COIL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Box 15"/>
          <p:cNvSpPr/>
          <p:nvPr/>
        </p:nvSpPr>
        <p:spPr>
          <a:xfrm>
            <a:off x="3661200" y="5119200"/>
            <a:ext cx="149940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REACTOR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16"/>
          <p:cNvSpPr/>
          <p:nvPr/>
        </p:nvSpPr>
        <p:spPr>
          <a:xfrm>
            <a:off x="6677280" y="5141160"/>
            <a:ext cx="92916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 COIL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Rectangle 25"/>
          <p:cNvSpPr/>
          <p:nvPr/>
        </p:nvSpPr>
        <p:spPr>
          <a:xfrm>
            <a:off x="8483760" y="4071960"/>
            <a:ext cx="376560" cy="307440"/>
          </a:xfrm>
          <a:prstGeom prst="rect">
            <a:avLst/>
          </a:prstGeom>
          <a:solidFill>
            <a:srgbClr val="FF0000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98" name="Rectangle 26"/>
          <p:cNvSpPr/>
          <p:nvPr/>
        </p:nvSpPr>
        <p:spPr>
          <a:xfrm>
            <a:off x="8483760" y="4529880"/>
            <a:ext cx="376560" cy="307440"/>
          </a:xfrm>
          <a:prstGeom prst="rect">
            <a:avLst/>
          </a:prstGeom>
          <a:solidFill>
            <a:schemeClr val="accent3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99" name="Rectangle 27"/>
          <p:cNvSpPr/>
          <p:nvPr/>
        </p:nvSpPr>
        <p:spPr>
          <a:xfrm>
            <a:off x="8483760" y="4965120"/>
            <a:ext cx="376560" cy="307440"/>
          </a:xfrm>
          <a:prstGeom prst="rect">
            <a:avLst/>
          </a:prstGeom>
          <a:solidFill>
            <a:schemeClr val="accent3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00" name="Rectangle 28"/>
          <p:cNvSpPr/>
          <p:nvPr/>
        </p:nvSpPr>
        <p:spPr>
          <a:xfrm>
            <a:off x="8483760" y="5448960"/>
            <a:ext cx="376560" cy="307440"/>
          </a:xfrm>
          <a:prstGeom prst="rect">
            <a:avLst/>
          </a:prstGeom>
          <a:solidFill>
            <a:schemeClr val="accent3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01" name="Rectangle 19"/>
          <p:cNvSpPr/>
          <p:nvPr/>
        </p:nvSpPr>
        <p:spPr>
          <a:xfrm>
            <a:off x="4660560" y="5448960"/>
            <a:ext cx="1908720" cy="295920"/>
          </a:xfrm>
          <a:prstGeom prst="rect">
            <a:avLst/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02" name="TextBox 22"/>
          <p:cNvSpPr/>
          <p:nvPr/>
        </p:nvSpPr>
        <p:spPr>
          <a:xfrm>
            <a:off x="4701240" y="5756760"/>
            <a:ext cx="181872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 WAY VALVE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03" name="Group 53"/>
          <p:cNvGrpSpPr/>
          <p:nvPr/>
        </p:nvGrpSpPr>
        <p:grpSpPr>
          <a:xfrm>
            <a:off x="1461960" y="788760"/>
            <a:ext cx="5013360" cy="1824480"/>
            <a:chOff x="1461960" y="788760"/>
            <a:chExt cx="5013360" cy="1824480"/>
          </a:xfrm>
        </p:grpSpPr>
        <p:sp>
          <p:nvSpPr>
            <p:cNvPr id="104" name="Rounded Rectangle 14"/>
            <p:cNvSpPr/>
            <p:nvPr/>
          </p:nvSpPr>
          <p:spPr>
            <a:xfrm>
              <a:off x="1555920" y="788760"/>
              <a:ext cx="561240" cy="142560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28575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7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START</a:t>
              </a:r>
              <a:endParaRPr lang="en-US" sz="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5" name="Rounded Rectangle 126"/>
            <p:cNvSpPr/>
            <p:nvPr/>
          </p:nvSpPr>
          <p:spPr>
            <a:xfrm>
              <a:off x="1473120" y="1257480"/>
              <a:ext cx="726480" cy="212760"/>
            </a:xfrm>
            <a:prstGeom prst="parallelogram">
              <a:avLst>
                <a:gd name="adj" fmla="val 25000"/>
              </a:avLst>
            </a:prstGeom>
            <a:solidFill>
              <a:srgbClr val="FF000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1: FAN MOTOR &amp; COMPRESSOR RECORDING and CHECKING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6" name="Rounded Rectangle 17"/>
            <p:cNvSpPr/>
            <p:nvPr/>
          </p:nvSpPr>
          <p:spPr>
            <a:xfrm>
              <a:off x="1582200" y="1600200"/>
              <a:ext cx="507960" cy="142560"/>
            </a:xfrm>
            <a:prstGeom prst="parallelogram">
              <a:avLst>
                <a:gd name="adj" fmla="val 25000"/>
              </a:avLst>
            </a:prstGeom>
            <a:solidFill>
              <a:srgbClr val="FFC00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1: AIRTIGHT TEST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107" name="Straight Arrow Connector 33"/>
            <p:cNvCxnSpPr>
              <a:stCxn id="105" idx="4"/>
              <a:endCxn id="106" idx="0"/>
            </p:cNvCxnSpPr>
            <p:nvPr/>
          </p:nvCxnSpPr>
          <p:spPr>
            <a:xfrm>
              <a:off x="1836360" y="1470240"/>
              <a:ext cx="360" cy="13032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108" name="Rounded Rectangle 126"/>
            <p:cNvSpPr/>
            <p:nvPr/>
          </p:nvSpPr>
          <p:spPr>
            <a:xfrm>
              <a:off x="1461960" y="1012320"/>
              <a:ext cx="748440" cy="142560"/>
            </a:xfrm>
            <a:prstGeom prst="roundRect">
              <a:avLst>
                <a:gd name="adj" fmla="val 0"/>
              </a:avLst>
            </a:prstGeom>
            <a:solidFill>
              <a:schemeClr val="bg2">
                <a:lumMod val="50000"/>
              </a:schemeClr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SCAN FOR MODEL THAT WILL BE IN PRODUCTION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109" name="Straight Arrow Connector 35"/>
            <p:cNvCxnSpPr>
              <a:stCxn id="108" idx="2"/>
              <a:endCxn id="105" idx="0"/>
            </p:cNvCxnSpPr>
            <p:nvPr/>
          </p:nvCxnSpPr>
          <p:spPr>
            <a:xfrm>
              <a:off x="1836360" y="1154880"/>
              <a:ext cx="360" cy="1029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110" name="Straight Arrow Connector 36"/>
            <p:cNvCxnSpPr>
              <a:stCxn id="104" idx="2"/>
              <a:endCxn id="108" idx="0"/>
            </p:cNvCxnSpPr>
            <p:nvPr/>
          </p:nvCxnSpPr>
          <p:spPr>
            <a:xfrm flipH="1">
              <a:off x="1836360" y="931320"/>
              <a:ext cx="720" cy="813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111" name="Rounded Rectangle 17"/>
            <p:cNvSpPr/>
            <p:nvPr/>
          </p:nvSpPr>
          <p:spPr>
            <a:xfrm>
              <a:off x="1558800" y="1872720"/>
              <a:ext cx="507960" cy="142560"/>
            </a:xfrm>
            <a:prstGeom prst="parallelogram">
              <a:avLst>
                <a:gd name="adj" fmla="val 25000"/>
              </a:avLst>
            </a:prstGeom>
            <a:solidFill>
              <a:srgbClr val="FFFF0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2: GAS CHARGING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2" name="Rounded Rectangle 17"/>
            <p:cNvSpPr/>
            <p:nvPr/>
          </p:nvSpPr>
          <p:spPr>
            <a:xfrm>
              <a:off x="1473120" y="212292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rgbClr val="00B05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4: CONTROL BOARD &amp; OUTDOOR PCB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113" name="Straight Arrow Connector 39"/>
            <p:cNvCxnSpPr>
              <a:stCxn id="106" idx="4"/>
              <a:endCxn id="111" idx="1"/>
            </p:cNvCxnSpPr>
            <p:nvPr/>
          </p:nvCxnSpPr>
          <p:spPr>
            <a:xfrm flipH="1">
              <a:off x="1830600" y="1742760"/>
              <a:ext cx="6120" cy="13032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114" name="Straight Arrow Connector 40"/>
            <p:cNvCxnSpPr>
              <a:stCxn id="111" idx="4"/>
              <a:endCxn id="112" idx="1"/>
            </p:cNvCxnSpPr>
            <p:nvPr/>
          </p:nvCxnSpPr>
          <p:spPr>
            <a:xfrm flipH="1">
              <a:off x="1805760" y="2015280"/>
              <a:ext cx="7560" cy="10800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115" name="Rounded Rectangle 17"/>
            <p:cNvSpPr/>
            <p:nvPr/>
          </p:nvSpPr>
          <p:spPr>
            <a:xfrm>
              <a:off x="1473120" y="241776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rgbClr val="00B0F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2: WIRING AND CONSTRUCTION INSPECTION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6" name="Rounded Rectangle 17"/>
            <p:cNvSpPr/>
            <p:nvPr/>
          </p:nvSpPr>
          <p:spPr>
            <a:xfrm>
              <a:off x="3665520" y="87012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chemeClr val="accent6">
                <a:lumMod val="75000"/>
              </a:schemeClr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: RUNNING INSPECTION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7" name="Rounded Rectangle 17"/>
            <p:cNvSpPr/>
            <p:nvPr/>
          </p:nvSpPr>
          <p:spPr>
            <a:xfrm>
              <a:off x="3669840" y="116064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chemeClr val="accent6">
                <a:lumMod val="40000"/>
                <a:lumOff val="60000"/>
              </a:schemeClr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5: FINAL INSPECTION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8" name="Rounded Rectangle 17"/>
            <p:cNvSpPr/>
            <p:nvPr/>
          </p:nvSpPr>
          <p:spPr>
            <a:xfrm>
              <a:off x="3669840" y="157392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chemeClr val="accent2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5: PACKAGING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119" name="Straight Arrow Connector 45"/>
            <p:cNvCxnSpPr/>
            <p:nvPr/>
          </p:nvCxnSpPr>
          <p:spPr>
            <a:xfrm>
              <a:off x="1812960" y="2318400"/>
              <a:ext cx="360" cy="10728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120" name="Rounded Rectangle 17"/>
            <p:cNvSpPr/>
            <p:nvPr/>
          </p:nvSpPr>
          <p:spPr>
            <a:xfrm>
              <a:off x="2571480" y="213228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rgbClr val="92D05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3: INDOOR CONTROL BOARD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121" name="Straight Arrow Connector 47"/>
            <p:cNvCxnSpPr/>
            <p:nvPr/>
          </p:nvCxnSpPr>
          <p:spPr>
            <a:xfrm flipH="1">
              <a:off x="2058120" y="2235960"/>
              <a:ext cx="540720" cy="3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122" name="Elbow Connector 175"/>
            <p:cNvCxnSpPr>
              <a:stCxn id="115" idx="2"/>
              <a:endCxn id="116" idx="1"/>
            </p:cNvCxnSpPr>
            <p:nvPr/>
          </p:nvCxnSpPr>
          <p:spPr>
            <a:xfrm flipV="1">
              <a:off x="2065320" y="870120"/>
              <a:ext cx="1933200" cy="1645920"/>
            </a:xfrm>
            <a:prstGeom prst="bentConnector4">
              <a:avLst>
                <a:gd name="adj1" fmla="val 228161"/>
                <a:gd name="adj2" fmla="val 76132"/>
              </a:avLst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123" name="Straight Arrow Connector 49"/>
            <p:cNvCxnSpPr>
              <a:stCxn id="117" idx="4"/>
              <a:endCxn id="118" idx="0"/>
            </p:cNvCxnSpPr>
            <p:nvPr/>
          </p:nvCxnSpPr>
          <p:spPr>
            <a:xfrm>
              <a:off x="3978000" y="1356120"/>
              <a:ext cx="360" cy="2181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124" name="Rounded Rectangle 14"/>
            <p:cNvSpPr/>
            <p:nvPr/>
          </p:nvSpPr>
          <p:spPr>
            <a:xfrm>
              <a:off x="3697560" y="1909080"/>
              <a:ext cx="561240" cy="142560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28575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7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END</a:t>
              </a:r>
              <a:endParaRPr lang="en-US" sz="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125" name="Straight Arrow Connector 51"/>
            <p:cNvCxnSpPr/>
            <p:nvPr/>
          </p:nvCxnSpPr>
          <p:spPr>
            <a:xfrm>
              <a:off x="3973680" y="1768680"/>
              <a:ext cx="360" cy="13068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126" name="Straight Arrow Connector 52"/>
            <p:cNvCxnSpPr>
              <a:stCxn id="116" idx="4"/>
            </p:cNvCxnSpPr>
            <p:nvPr/>
          </p:nvCxnSpPr>
          <p:spPr>
            <a:xfrm>
              <a:off x="3973680" y="1065600"/>
              <a:ext cx="360" cy="1029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Rectangle 1"/>
          <p:cNvSpPr/>
          <p:nvPr/>
        </p:nvSpPr>
        <p:spPr>
          <a:xfrm>
            <a:off x="2753640" y="3614400"/>
            <a:ext cx="6487560" cy="2500200"/>
          </a:xfrm>
          <a:prstGeom prst="rect">
            <a:avLst/>
          </a:prstGeom>
          <a:solidFill>
            <a:schemeClr val="bg2"/>
          </a:solidFill>
          <a:ln w="57150">
            <a:solidFill>
              <a:srgbClr val="4EA72E">
                <a:lumMod val="40000"/>
                <a:lumOff val="60000"/>
              </a:srgb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28" name="Rectangle 205"/>
          <p:cNvSpPr/>
          <p:nvPr/>
        </p:nvSpPr>
        <p:spPr>
          <a:xfrm>
            <a:off x="1143000" y="8640"/>
            <a:ext cx="9905760" cy="308880"/>
          </a:xfrm>
          <a:prstGeom prst="rect">
            <a:avLst/>
          </a:prstGeom>
          <a:solidFill>
            <a:schemeClr val="accent1"/>
          </a:solidFill>
          <a:ln w="28575">
            <a:solidFill>
              <a:srgbClr val="00000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PH" sz="195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LINE AUTOMATION PROPOSAL</a:t>
            </a:r>
            <a:endParaRPr lang="en-US" sz="1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129" name="Straight Arrow Connector 10"/>
          <p:cNvCxnSpPr/>
          <p:nvPr/>
        </p:nvCxnSpPr>
        <p:spPr>
          <a:xfrm>
            <a:off x="2144520" y="1324440"/>
            <a:ext cx="3199680" cy="2113920"/>
          </a:xfrm>
          <a:prstGeom prst="straightConnector1">
            <a:avLst/>
          </a:prstGeom>
          <a:ln>
            <a:solidFill>
              <a:srgbClr val="FF0000"/>
            </a:solidFill>
            <a:tailEnd len="med" type="triangle" w="med"/>
          </a:ln>
        </p:spPr>
      </p:cxnSp>
      <p:sp>
        <p:nvSpPr>
          <p:cNvPr id="130" name="TextBox 21"/>
          <p:cNvSpPr/>
          <p:nvPr/>
        </p:nvSpPr>
        <p:spPr>
          <a:xfrm>
            <a:off x="2753640" y="3666240"/>
            <a:ext cx="422424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Scan Model, Fan Motor, and Compressor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Rectangle 2"/>
          <p:cNvSpPr/>
          <p:nvPr/>
        </p:nvSpPr>
        <p:spPr>
          <a:xfrm>
            <a:off x="3434760" y="4057200"/>
            <a:ext cx="1908720" cy="307440"/>
          </a:xfrm>
          <a:prstGeom prst="rect">
            <a:avLst/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32" name="Rectangle 3"/>
          <p:cNvSpPr/>
          <p:nvPr/>
        </p:nvSpPr>
        <p:spPr>
          <a:xfrm>
            <a:off x="6187320" y="4071960"/>
            <a:ext cx="1908720" cy="307440"/>
          </a:xfrm>
          <a:prstGeom prst="rect">
            <a:avLst/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33" name="Rectangle 7"/>
          <p:cNvSpPr/>
          <p:nvPr/>
        </p:nvSpPr>
        <p:spPr>
          <a:xfrm>
            <a:off x="3434760" y="4758840"/>
            <a:ext cx="1908720" cy="295920"/>
          </a:xfrm>
          <a:prstGeom prst="rect">
            <a:avLst/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34" name="Rectangle 11"/>
          <p:cNvSpPr/>
          <p:nvPr/>
        </p:nvSpPr>
        <p:spPr>
          <a:xfrm>
            <a:off x="6187320" y="4771080"/>
            <a:ext cx="1908720" cy="301680"/>
          </a:xfrm>
          <a:prstGeom prst="rect">
            <a:avLst/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35" name="TextBox 13"/>
          <p:cNvSpPr/>
          <p:nvPr/>
        </p:nvSpPr>
        <p:spPr>
          <a:xfrm>
            <a:off x="3255840" y="4412520"/>
            <a:ext cx="226692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MODEL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Box 14"/>
          <p:cNvSpPr/>
          <p:nvPr/>
        </p:nvSpPr>
        <p:spPr>
          <a:xfrm>
            <a:off x="6305760" y="4429080"/>
            <a:ext cx="167184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SERIAL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Box 15"/>
          <p:cNvSpPr/>
          <p:nvPr/>
        </p:nvSpPr>
        <p:spPr>
          <a:xfrm>
            <a:off x="3661200" y="5119200"/>
            <a:ext cx="149940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INDOOR FM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Box 16"/>
          <p:cNvSpPr/>
          <p:nvPr/>
        </p:nvSpPr>
        <p:spPr>
          <a:xfrm>
            <a:off x="6491520" y="5119200"/>
            <a:ext cx="130068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OUTDOOR FM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Rectangle 25"/>
          <p:cNvSpPr/>
          <p:nvPr/>
        </p:nvSpPr>
        <p:spPr>
          <a:xfrm>
            <a:off x="8483760" y="4071960"/>
            <a:ext cx="376560" cy="307440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40" name="Rectangle 26"/>
          <p:cNvSpPr/>
          <p:nvPr/>
        </p:nvSpPr>
        <p:spPr>
          <a:xfrm>
            <a:off x="8483760" y="4529880"/>
            <a:ext cx="376560" cy="307440"/>
          </a:xfrm>
          <a:prstGeom prst="rect">
            <a:avLst/>
          </a:prstGeom>
          <a:solidFill>
            <a:srgbClr val="FF0000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41" name="Rectangle 27"/>
          <p:cNvSpPr/>
          <p:nvPr/>
        </p:nvSpPr>
        <p:spPr>
          <a:xfrm>
            <a:off x="8483760" y="4965120"/>
            <a:ext cx="376560" cy="307440"/>
          </a:xfrm>
          <a:prstGeom prst="rect">
            <a:avLst/>
          </a:prstGeom>
          <a:solidFill>
            <a:schemeClr val="accent3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42" name="Rectangle 28"/>
          <p:cNvSpPr/>
          <p:nvPr/>
        </p:nvSpPr>
        <p:spPr>
          <a:xfrm>
            <a:off x="8483760" y="5448960"/>
            <a:ext cx="376560" cy="307440"/>
          </a:xfrm>
          <a:prstGeom prst="rect">
            <a:avLst/>
          </a:prstGeom>
          <a:solidFill>
            <a:schemeClr val="accent3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43" name="Rectangle 19"/>
          <p:cNvSpPr/>
          <p:nvPr/>
        </p:nvSpPr>
        <p:spPr>
          <a:xfrm>
            <a:off x="4660560" y="5448960"/>
            <a:ext cx="1908720" cy="295920"/>
          </a:xfrm>
          <a:prstGeom prst="rect">
            <a:avLst/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44" name="TextBox 22"/>
          <p:cNvSpPr/>
          <p:nvPr/>
        </p:nvSpPr>
        <p:spPr>
          <a:xfrm>
            <a:off x="4701240" y="5756760"/>
            <a:ext cx="181872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COMPRESSOR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45" name="Group 29"/>
          <p:cNvGrpSpPr/>
          <p:nvPr/>
        </p:nvGrpSpPr>
        <p:grpSpPr>
          <a:xfrm>
            <a:off x="1461960" y="788760"/>
            <a:ext cx="5013360" cy="1824480"/>
            <a:chOff x="1461960" y="788760"/>
            <a:chExt cx="5013360" cy="1824480"/>
          </a:xfrm>
        </p:grpSpPr>
        <p:sp>
          <p:nvSpPr>
            <p:cNvPr id="146" name="Rounded Rectangle 14"/>
            <p:cNvSpPr/>
            <p:nvPr/>
          </p:nvSpPr>
          <p:spPr>
            <a:xfrm>
              <a:off x="1555920" y="788760"/>
              <a:ext cx="561240" cy="142560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28575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7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START</a:t>
              </a:r>
              <a:endParaRPr lang="en-US" sz="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7" name="Rounded Rectangle 126"/>
            <p:cNvSpPr/>
            <p:nvPr/>
          </p:nvSpPr>
          <p:spPr>
            <a:xfrm>
              <a:off x="1473120" y="1257480"/>
              <a:ext cx="726480" cy="212760"/>
            </a:xfrm>
            <a:prstGeom prst="parallelogram">
              <a:avLst>
                <a:gd name="adj" fmla="val 25000"/>
              </a:avLst>
            </a:prstGeom>
            <a:solidFill>
              <a:srgbClr val="FF000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1: FAN MOTOR &amp; COMPRESSOR RECORDING and CHECKING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8" name="Rounded Rectangle 17"/>
            <p:cNvSpPr/>
            <p:nvPr/>
          </p:nvSpPr>
          <p:spPr>
            <a:xfrm>
              <a:off x="1582200" y="1600200"/>
              <a:ext cx="507960" cy="142560"/>
            </a:xfrm>
            <a:prstGeom prst="parallelogram">
              <a:avLst>
                <a:gd name="adj" fmla="val 25000"/>
              </a:avLst>
            </a:prstGeom>
            <a:solidFill>
              <a:srgbClr val="FFC00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1: AIRTIGHT TEST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149" name="Straight Arrow Connector 33"/>
            <p:cNvCxnSpPr>
              <a:stCxn id="147" idx="4"/>
              <a:endCxn id="148" idx="0"/>
            </p:cNvCxnSpPr>
            <p:nvPr/>
          </p:nvCxnSpPr>
          <p:spPr>
            <a:xfrm>
              <a:off x="1836360" y="1470240"/>
              <a:ext cx="360" cy="13032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150" name="Rounded Rectangle 126"/>
            <p:cNvSpPr/>
            <p:nvPr/>
          </p:nvSpPr>
          <p:spPr>
            <a:xfrm>
              <a:off x="1461960" y="1012320"/>
              <a:ext cx="748440" cy="142560"/>
            </a:xfrm>
            <a:prstGeom prst="roundRect">
              <a:avLst>
                <a:gd name="adj" fmla="val 0"/>
              </a:avLst>
            </a:prstGeom>
            <a:solidFill>
              <a:schemeClr val="bg2">
                <a:lumMod val="50000"/>
              </a:schemeClr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SCAN FOR MODEL THAT WILL BE IN PRODUCTION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151" name="Straight Arrow Connector 35"/>
            <p:cNvCxnSpPr>
              <a:stCxn id="150" idx="2"/>
              <a:endCxn id="147" idx="0"/>
            </p:cNvCxnSpPr>
            <p:nvPr/>
          </p:nvCxnSpPr>
          <p:spPr>
            <a:xfrm>
              <a:off x="1836360" y="1154880"/>
              <a:ext cx="360" cy="1029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152" name="Straight Arrow Connector 36"/>
            <p:cNvCxnSpPr>
              <a:stCxn id="146" idx="2"/>
              <a:endCxn id="150" idx="0"/>
            </p:cNvCxnSpPr>
            <p:nvPr/>
          </p:nvCxnSpPr>
          <p:spPr>
            <a:xfrm flipH="1">
              <a:off x="1836360" y="931320"/>
              <a:ext cx="720" cy="813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153" name="Rounded Rectangle 17"/>
            <p:cNvSpPr/>
            <p:nvPr/>
          </p:nvSpPr>
          <p:spPr>
            <a:xfrm>
              <a:off x="1558800" y="1872720"/>
              <a:ext cx="507960" cy="142560"/>
            </a:xfrm>
            <a:prstGeom prst="parallelogram">
              <a:avLst>
                <a:gd name="adj" fmla="val 25000"/>
              </a:avLst>
            </a:prstGeom>
            <a:solidFill>
              <a:srgbClr val="FFFF0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2: GAS CHARGING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4" name="Rounded Rectangle 17"/>
            <p:cNvSpPr/>
            <p:nvPr/>
          </p:nvSpPr>
          <p:spPr>
            <a:xfrm>
              <a:off x="1473120" y="212292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rgbClr val="00B05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4: CONTROL BOARD &amp; OUTDOOR PCB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155" name="Straight Arrow Connector 39"/>
            <p:cNvCxnSpPr>
              <a:stCxn id="148" idx="4"/>
              <a:endCxn id="153" idx="1"/>
            </p:cNvCxnSpPr>
            <p:nvPr/>
          </p:nvCxnSpPr>
          <p:spPr>
            <a:xfrm flipH="1">
              <a:off x="1830600" y="1742760"/>
              <a:ext cx="6120" cy="13032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156" name="Straight Arrow Connector 40"/>
            <p:cNvCxnSpPr>
              <a:stCxn id="153" idx="4"/>
              <a:endCxn id="154" idx="1"/>
            </p:cNvCxnSpPr>
            <p:nvPr/>
          </p:nvCxnSpPr>
          <p:spPr>
            <a:xfrm flipH="1">
              <a:off x="1805760" y="2015280"/>
              <a:ext cx="7560" cy="10800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157" name="Rounded Rectangle 17"/>
            <p:cNvSpPr/>
            <p:nvPr/>
          </p:nvSpPr>
          <p:spPr>
            <a:xfrm>
              <a:off x="1473120" y="241776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rgbClr val="00B0F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2: WIRING AND CONSTRUCTION INSPECTION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8" name="Rounded Rectangle 17"/>
            <p:cNvSpPr/>
            <p:nvPr/>
          </p:nvSpPr>
          <p:spPr>
            <a:xfrm>
              <a:off x="3665520" y="87012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chemeClr val="accent6">
                <a:lumMod val="75000"/>
              </a:schemeClr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: RUNNING INSPECTION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59" name="Rounded Rectangle 17"/>
            <p:cNvSpPr/>
            <p:nvPr/>
          </p:nvSpPr>
          <p:spPr>
            <a:xfrm>
              <a:off x="3669840" y="116064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chemeClr val="accent6">
                <a:lumMod val="40000"/>
                <a:lumOff val="60000"/>
              </a:schemeClr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5: FINAL INSPECTION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0" name="Rounded Rectangle 17"/>
            <p:cNvSpPr/>
            <p:nvPr/>
          </p:nvSpPr>
          <p:spPr>
            <a:xfrm>
              <a:off x="3669840" y="157392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chemeClr val="accent2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5: PACKAGING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161" name="Straight Arrow Connector 45"/>
            <p:cNvCxnSpPr/>
            <p:nvPr/>
          </p:nvCxnSpPr>
          <p:spPr>
            <a:xfrm>
              <a:off x="1812960" y="2318400"/>
              <a:ext cx="360" cy="10728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162" name="Rounded Rectangle 17"/>
            <p:cNvSpPr/>
            <p:nvPr/>
          </p:nvSpPr>
          <p:spPr>
            <a:xfrm>
              <a:off x="2571480" y="213228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rgbClr val="92D05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3: INDOOR CONTROL BOARD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163" name="Straight Arrow Connector 47"/>
            <p:cNvCxnSpPr/>
            <p:nvPr/>
          </p:nvCxnSpPr>
          <p:spPr>
            <a:xfrm flipH="1">
              <a:off x="2058120" y="2235960"/>
              <a:ext cx="540720" cy="3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164" name="Elbow Connector 175"/>
            <p:cNvCxnSpPr>
              <a:stCxn id="157" idx="2"/>
              <a:endCxn id="158" idx="1"/>
            </p:cNvCxnSpPr>
            <p:nvPr/>
          </p:nvCxnSpPr>
          <p:spPr>
            <a:xfrm flipV="1">
              <a:off x="2065320" y="870120"/>
              <a:ext cx="1933200" cy="1645920"/>
            </a:xfrm>
            <a:prstGeom prst="bentConnector4">
              <a:avLst>
                <a:gd name="adj1" fmla="val 228161"/>
                <a:gd name="adj2" fmla="val 76132"/>
              </a:avLst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165" name="Straight Arrow Connector 49"/>
            <p:cNvCxnSpPr>
              <a:stCxn id="159" idx="4"/>
              <a:endCxn id="160" idx="0"/>
            </p:cNvCxnSpPr>
            <p:nvPr/>
          </p:nvCxnSpPr>
          <p:spPr>
            <a:xfrm>
              <a:off x="3978000" y="1356120"/>
              <a:ext cx="360" cy="2181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166" name="Rounded Rectangle 14"/>
            <p:cNvSpPr/>
            <p:nvPr/>
          </p:nvSpPr>
          <p:spPr>
            <a:xfrm>
              <a:off x="3697560" y="1909080"/>
              <a:ext cx="561240" cy="142560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28575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7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END</a:t>
              </a:r>
              <a:endParaRPr lang="en-US" sz="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167" name="Straight Arrow Connector 51"/>
            <p:cNvCxnSpPr/>
            <p:nvPr/>
          </p:nvCxnSpPr>
          <p:spPr>
            <a:xfrm>
              <a:off x="3973680" y="1768680"/>
              <a:ext cx="360" cy="13068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168" name="Straight Arrow Connector 52"/>
            <p:cNvCxnSpPr>
              <a:stCxn id="158" idx="4"/>
            </p:cNvCxnSpPr>
            <p:nvPr/>
          </p:nvCxnSpPr>
          <p:spPr>
            <a:xfrm>
              <a:off x="3973680" y="1065600"/>
              <a:ext cx="360" cy="1029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Rectangle 205"/>
          <p:cNvSpPr/>
          <p:nvPr/>
        </p:nvSpPr>
        <p:spPr>
          <a:xfrm>
            <a:off x="1143000" y="8640"/>
            <a:ext cx="9905760" cy="308880"/>
          </a:xfrm>
          <a:prstGeom prst="rect">
            <a:avLst/>
          </a:prstGeom>
          <a:solidFill>
            <a:schemeClr val="accent1"/>
          </a:solidFill>
          <a:ln w="28575">
            <a:solidFill>
              <a:srgbClr val="00000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PH" sz="195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LINE AUTOMATION PROPOSAL</a:t>
            </a:r>
            <a:endParaRPr lang="en-US" sz="1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170" name="Straight Arrow Connector 10"/>
          <p:cNvCxnSpPr/>
          <p:nvPr/>
        </p:nvCxnSpPr>
        <p:spPr>
          <a:xfrm>
            <a:off x="2144520" y="1324440"/>
            <a:ext cx="3199680" cy="2113920"/>
          </a:xfrm>
          <a:prstGeom prst="straightConnector1">
            <a:avLst/>
          </a:prstGeom>
          <a:ln>
            <a:solidFill>
              <a:srgbClr val="FF0000"/>
            </a:solidFill>
            <a:tailEnd len="med" type="triangle" w="med"/>
          </a:ln>
        </p:spPr>
      </p:cxnSp>
      <p:sp>
        <p:nvSpPr>
          <p:cNvPr id="171" name="Rectangle 19"/>
          <p:cNvSpPr/>
          <p:nvPr/>
        </p:nvSpPr>
        <p:spPr>
          <a:xfrm>
            <a:off x="2753640" y="3614400"/>
            <a:ext cx="6487560" cy="2500200"/>
          </a:xfrm>
          <a:prstGeom prst="rect">
            <a:avLst/>
          </a:prstGeom>
          <a:solidFill>
            <a:schemeClr val="bg2"/>
          </a:solidFill>
          <a:ln w="57150">
            <a:solidFill>
              <a:srgbClr val="4EA72E">
                <a:lumMod val="40000"/>
                <a:lumOff val="60000"/>
              </a:srgb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72" name="Rectangle 25"/>
          <p:cNvSpPr/>
          <p:nvPr/>
        </p:nvSpPr>
        <p:spPr>
          <a:xfrm>
            <a:off x="8079840" y="4045680"/>
            <a:ext cx="376560" cy="307440"/>
          </a:xfrm>
          <a:prstGeom prst="rect">
            <a:avLst/>
          </a:prstGeom>
          <a:solidFill>
            <a:schemeClr val="accent3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73" name="Rectangle 26"/>
          <p:cNvSpPr/>
          <p:nvPr/>
        </p:nvSpPr>
        <p:spPr>
          <a:xfrm>
            <a:off x="8079840" y="4503960"/>
            <a:ext cx="376560" cy="307440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74" name="Rectangle 27"/>
          <p:cNvSpPr/>
          <p:nvPr/>
        </p:nvSpPr>
        <p:spPr>
          <a:xfrm>
            <a:off x="8079840" y="4939200"/>
            <a:ext cx="376560" cy="307440"/>
          </a:xfrm>
          <a:prstGeom prst="rect">
            <a:avLst/>
          </a:prstGeom>
          <a:solidFill>
            <a:srgbClr val="FF0000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175" name="Rectangle 28"/>
          <p:cNvSpPr/>
          <p:nvPr/>
        </p:nvSpPr>
        <p:spPr>
          <a:xfrm>
            <a:off x="8079840" y="5423040"/>
            <a:ext cx="376560" cy="307440"/>
          </a:xfrm>
          <a:prstGeom prst="rect">
            <a:avLst/>
          </a:prstGeom>
          <a:solidFill>
            <a:schemeClr val="accent3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graphicFrame>
        <p:nvGraphicFramePr>
          <p:cNvPr id="176" name="Table 1"/>
          <p:cNvGraphicFramePr/>
          <p:nvPr/>
        </p:nvGraphicFramePr>
        <p:xfrm>
          <a:off x="2975040" y="3963600"/>
          <a:ext cx="4975560" cy="1955520"/>
        </p:xfrm>
        <a:graphic>
          <a:graphicData uri="http://schemas.openxmlformats.org/drawingml/2006/table">
            <a:tbl>
              <a:tblPr/>
              <a:tblGrid>
                <a:gridCol w="1123560"/>
                <a:gridCol w="1026000"/>
                <a:gridCol w="914400"/>
                <a:gridCol w="941040"/>
                <a:gridCol w="970200"/>
              </a:tblGrid>
              <a:tr h="182880"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Sequence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Model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Serial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Time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Details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182880"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182880"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182880"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182880"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182880"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182880"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177" name="TextBox 29"/>
          <p:cNvSpPr/>
          <p:nvPr/>
        </p:nvSpPr>
        <p:spPr>
          <a:xfrm>
            <a:off x="2753640" y="3666240"/>
            <a:ext cx="422424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Details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78" name="Group 30"/>
          <p:cNvGrpSpPr/>
          <p:nvPr/>
        </p:nvGrpSpPr>
        <p:grpSpPr>
          <a:xfrm>
            <a:off x="1461960" y="788760"/>
            <a:ext cx="5013360" cy="1824480"/>
            <a:chOff x="1461960" y="788760"/>
            <a:chExt cx="5013360" cy="1824480"/>
          </a:xfrm>
        </p:grpSpPr>
        <p:sp>
          <p:nvSpPr>
            <p:cNvPr id="179" name="Rounded Rectangle 14"/>
            <p:cNvSpPr/>
            <p:nvPr/>
          </p:nvSpPr>
          <p:spPr>
            <a:xfrm>
              <a:off x="1555920" y="788760"/>
              <a:ext cx="561240" cy="142560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28575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7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START</a:t>
              </a:r>
              <a:endParaRPr lang="en-US" sz="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0" name="Rounded Rectangle 126"/>
            <p:cNvSpPr/>
            <p:nvPr/>
          </p:nvSpPr>
          <p:spPr>
            <a:xfrm>
              <a:off x="1473120" y="1257480"/>
              <a:ext cx="726480" cy="212760"/>
            </a:xfrm>
            <a:prstGeom prst="parallelogram">
              <a:avLst>
                <a:gd name="adj" fmla="val 25000"/>
              </a:avLst>
            </a:prstGeom>
            <a:solidFill>
              <a:srgbClr val="FF000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1: FAN MOTOR &amp; COMPRESSOR RECORDING and CHECKING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1" name="Rounded Rectangle 17"/>
            <p:cNvSpPr/>
            <p:nvPr/>
          </p:nvSpPr>
          <p:spPr>
            <a:xfrm>
              <a:off x="1582200" y="1600200"/>
              <a:ext cx="507960" cy="142560"/>
            </a:xfrm>
            <a:prstGeom prst="parallelogram">
              <a:avLst>
                <a:gd name="adj" fmla="val 25000"/>
              </a:avLst>
            </a:prstGeom>
            <a:solidFill>
              <a:srgbClr val="FFC00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1: AIRTIGHT TEST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182" name="Straight Arrow Connector 34"/>
            <p:cNvCxnSpPr>
              <a:stCxn id="180" idx="4"/>
              <a:endCxn id="181" idx="0"/>
            </p:cNvCxnSpPr>
            <p:nvPr/>
          </p:nvCxnSpPr>
          <p:spPr>
            <a:xfrm>
              <a:off x="1836360" y="1470240"/>
              <a:ext cx="360" cy="13032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183" name="Rounded Rectangle 126"/>
            <p:cNvSpPr/>
            <p:nvPr/>
          </p:nvSpPr>
          <p:spPr>
            <a:xfrm>
              <a:off x="1461960" y="1012320"/>
              <a:ext cx="748440" cy="142560"/>
            </a:xfrm>
            <a:prstGeom prst="roundRect">
              <a:avLst>
                <a:gd name="adj" fmla="val 0"/>
              </a:avLst>
            </a:prstGeom>
            <a:solidFill>
              <a:schemeClr val="bg2">
                <a:lumMod val="50000"/>
              </a:schemeClr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SCAN FOR MODEL THAT WILL BE IN PRODUCTION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184" name="Straight Arrow Connector 36"/>
            <p:cNvCxnSpPr>
              <a:stCxn id="183" idx="2"/>
              <a:endCxn id="180" idx="0"/>
            </p:cNvCxnSpPr>
            <p:nvPr/>
          </p:nvCxnSpPr>
          <p:spPr>
            <a:xfrm>
              <a:off x="1836360" y="1154880"/>
              <a:ext cx="360" cy="1029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185" name="Straight Arrow Connector 37"/>
            <p:cNvCxnSpPr>
              <a:stCxn id="179" idx="2"/>
              <a:endCxn id="183" idx="0"/>
            </p:cNvCxnSpPr>
            <p:nvPr/>
          </p:nvCxnSpPr>
          <p:spPr>
            <a:xfrm flipH="1">
              <a:off x="1836360" y="931320"/>
              <a:ext cx="720" cy="813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186" name="Rounded Rectangle 17"/>
            <p:cNvSpPr/>
            <p:nvPr/>
          </p:nvSpPr>
          <p:spPr>
            <a:xfrm>
              <a:off x="1558800" y="1872720"/>
              <a:ext cx="507960" cy="142560"/>
            </a:xfrm>
            <a:prstGeom prst="parallelogram">
              <a:avLst>
                <a:gd name="adj" fmla="val 25000"/>
              </a:avLst>
            </a:prstGeom>
            <a:solidFill>
              <a:srgbClr val="FFFF0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2: GAS CHARGING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87" name="Rounded Rectangle 17"/>
            <p:cNvSpPr/>
            <p:nvPr/>
          </p:nvSpPr>
          <p:spPr>
            <a:xfrm>
              <a:off x="1473120" y="212292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rgbClr val="00B05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4: CONTROL BOARD &amp; OUTDOOR PCB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188" name="Straight Arrow Connector 40"/>
            <p:cNvCxnSpPr>
              <a:stCxn id="181" idx="4"/>
              <a:endCxn id="186" idx="1"/>
            </p:cNvCxnSpPr>
            <p:nvPr/>
          </p:nvCxnSpPr>
          <p:spPr>
            <a:xfrm flipH="1">
              <a:off x="1830600" y="1742760"/>
              <a:ext cx="6120" cy="13032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189" name="Straight Arrow Connector 41"/>
            <p:cNvCxnSpPr>
              <a:stCxn id="186" idx="4"/>
              <a:endCxn id="187" idx="1"/>
            </p:cNvCxnSpPr>
            <p:nvPr/>
          </p:nvCxnSpPr>
          <p:spPr>
            <a:xfrm flipH="1">
              <a:off x="1805760" y="2015280"/>
              <a:ext cx="7560" cy="10800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190" name="Rounded Rectangle 17"/>
            <p:cNvSpPr/>
            <p:nvPr/>
          </p:nvSpPr>
          <p:spPr>
            <a:xfrm>
              <a:off x="1473120" y="241776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rgbClr val="00B0F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2: WIRING AND CONSTRUCTION INSPECTION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1" name="Rounded Rectangle 17"/>
            <p:cNvSpPr/>
            <p:nvPr/>
          </p:nvSpPr>
          <p:spPr>
            <a:xfrm>
              <a:off x="3665520" y="87012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chemeClr val="accent6">
                <a:lumMod val="75000"/>
              </a:schemeClr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: RUNNING INSPECTION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2" name="Rounded Rectangle 17"/>
            <p:cNvSpPr/>
            <p:nvPr/>
          </p:nvSpPr>
          <p:spPr>
            <a:xfrm>
              <a:off x="3669840" y="116064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chemeClr val="accent6">
                <a:lumMod val="40000"/>
                <a:lumOff val="60000"/>
              </a:schemeClr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5: FINAL INSPECTION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93" name="Rounded Rectangle 17"/>
            <p:cNvSpPr/>
            <p:nvPr/>
          </p:nvSpPr>
          <p:spPr>
            <a:xfrm>
              <a:off x="3669840" y="157392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chemeClr val="accent2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5: PACKAGING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194" name="Straight Arrow Connector 46"/>
            <p:cNvCxnSpPr/>
            <p:nvPr/>
          </p:nvCxnSpPr>
          <p:spPr>
            <a:xfrm>
              <a:off x="1812960" y="2318400"/>
              <a:ext cx="360" cy="10728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195" name="Rounded Rectangle 17"/>
            <p:cNvSpPr/>
            <p:nvPr/>
          </p:nvSpPr>
          <p:spPr>
            <a:xfrm>
              <a:off x="2571480" y="213228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rgbClr val="92D05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3: INDOOR CONTROL BOARD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196" name="Straight Arrow Connector 48"/>
            <p:cNvCxnSpPr/>
            <p:nvPr/>
          </p:nvCxnSpPr>
          <p:spPr>
            <a:xfrm flipH="1">
              <a:off x="2058120" y="2235960"/>
              <a:ext cx="540720" cy="3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197" name="Elbow Connector 175"/>
            <p:cNvCxnSpPr>
              <a:stCxn id="190" idx="2"/>
              <a:endCxn id="191" idx="1"/>
            </p:cNvCxnSpPr>
            <p:nvPr/>
          </p:nvCxnSpPr>
          <p:spPr>
            <a:xfrm flipV="1">
              <a:off x="2065320" y="870120"/>
              <a:ext cx="1933200" cy="1645920"/>
            </a:xfrm>
            <a:prstGeom prst="bentConnector4">
              <a:avLst>
                <a:gd name="adj1" fmla="val 228161"/>
                <a:gd name="adj2" fmla="val 76132"/>
              </a:avLst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198" name="Straight Arrow Connector 50"/>
            <p:cNvCxnSpPr>
              <a:stCxn id="192" idx="4"/>
              <a:endCxn id="193" idx="0"/>
            </p:cNvCxnSpPr>
            <p:nvPr/>
          </p:nvCxnSpPr>
          <p:spPr>
            <a:xfrm>
              <a:off x="3978000" y="1356120"/>
              <a:ext cx="360" cy="2181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199" name="Rounded Rectangle 14"/>
            <p:cNvSpPr/>
            <p:nvPr/>
          </p:nvSpPr>
          <p:spPr>
            <a:xfrm>
              <a:off x="3697560" y="1909080"/>
              <a:ext cx="561240" cy="142560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28575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7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END</a:t>
              </a:r>
              <a:endParaRPr lang="en-US" sz="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200" name="Straight Arrow Connector 52"/>
            <p:cNvCxnSpPr/>
            <p:nvPr/>
          </p:nvCxnSpPr>
          <p:spPr>
            <a:xfrm>
              <a:off x="3973680" y="1768680"/>
              <a:ext cx="360" cy="13068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201" name="Straight Arrow Connector 53"/>
            <p:cNvCxnSpPr>
              <a:stCxn id="191" idx="4"/>
            </p:cNvCxnSpPr>
            <p:nvPr/>
          </p:nvCxnSpPr>
          <p:spPr>
            <a:xfrm>
              <a:off x="3973680" y="1065600"/>
              <a:ext cx="360" cy="1029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</p:grpSp>
      <p:pic>
        <p:nvPicPr>
          <p:cNvPr id="202" name="Picture 54"/>
          <p:cNvPicPr/>
          <p:nvPr/>
        </p:nvPicPr>
        <p:blipFill>
          <a:blip r:embed="rId1"/>
          <a:stretch/>
        </p:blipFill>
        <p:spPr>
          <a:xfrm>
            <a:off x="7295040" y="4260240"/>
            <a:ext cx="294840" cy="132840"/>
          </a:xfrm>
          <a:prstGeom prst="rect">
            <a:avLst/>
          </a:prstGeom>
          <a:noFill/>
          <a:ln cap="sq" w="12700">
            <a:solidFill>
              <a:srgbClr val="000000"/>
            </a:solidFill>
            <a:miter/>
          </a:ln>
          <a:effectLst>
            <a:outerShdw algn="tl" blurRad="57240" dir="2700000" dist="50402" rotWithShape="0">
              <a:srgbClr val="000000">
                <a:alpha val="40000"/>
              </a:srgbClr>
            </a:outerShdw>
          </a:effectLst>
        </p:spPr>
      </p:pic>
      <p:pic>
        <p:nvPicPr>
          <p:cNvPr id="203" name="Picture 55"/>
          <p:cNvPicPr/>
          <p:nvPr/>
        </p:nvPicPr>
        <p:blipFill>
          <a:blip r:embed="rId2"/>
          <a:stretch/>
        </p:blipFill>
        <p:spPr>
          <a:xfrm>
            <a:off x="7303320" y="4502880"/>
            <a:ext cx="294840" cy="132840"/>
          </a:xfrm>
          <a:prstGeom prst="rect">
            <a:avLst/>
          </a:prstGeom>
          <a:noFill/>
          <a:ln cap="sq" w="12700">
            <a:solidFill>
              <a:srgbClr val="000000"/>
            </a:solidFill>
            <a:miter/>
          </a:ln>
          <a:effectLst>
            <a:outerShdw algn="tl" blurRad="57240" dir="2700000" dist="50402" rotWithShape="0">
              <a:srgbClr val="000000">
                <a:alpha val="40000"/>
              </a:srgbClr>
            </a:outerShdw>
          </a:effectLst>
        </p:spPr>
      </p:pic>
      <p:pic>
        <p:nvPicPr>
          <p:cNvPr id="204" name="Picture 56"/>
          <p:cNvPicPr/>
          <p:nvPr/>
        </p:nvPicPr>
        <p:blipFill>
          <a:blip r:embed="rId3"/>
          <a:stretch/>
        </p:blipFill>
        <p:spPr>
          <a:xfrm>
            <a:off x="7295040" y="4731120"/>
            <a:ext cx="294840" cy="132840"/>
          </a:xfrm>
          <a:prstGeom prst="rect">
            <a:avLst/>
          </a:prstGeom>
          <a:noFill/>
          <a:ln cap="sq" w="12700">
            <a:solidFill>
              <a:srgbClr val="000000"/>
            </a:solidFill>
            <a:miter/>
          </a:ln>
          <a:effectLst>
            <a:outerShdw algn="tl" blurRad="57240" dir="2700000" dist="50402" rotWithShape="0">
              <a:srgbClr val="000000">
                <a:alpha val="40000"/>
              </a:srgbClr>
            </a:outerShdw>
          </a:effectLst>
        </p:spPr>
      </p:pic>
      <p:pic>
        <p:nvPicPr>
          <p:cNvPr id="205" name="Picture 57"/>
          <p:cNvPicPr/>
          <p:nvPr/>
        </p:nvPicPr>
        <p:blipFill>
          <a:blip r:embed="rId4"/>
          <a:stretch/>
        </p:blipFill>
        <p:spPr>
          <a:xfrm>
            <a:off x="7303320" y="4994640"/>
            <a:ext cx="294840" cy="132840"/>
          </a:xfrm>
          <a:prstGeom prst="rect">
            <a:avLst/>
          </a:prstGeom>
          <a:noFill/>
          <a:ln cap="sq" w="12700">
            <a:solidFill>
              <a:srgbClr val="000000"/>
            </a:solidFill>
            <a:miter/>
          </a:ln>
          <a:effectLst>
            <a:outerShdw algn="tl" blurRad="57240" dir="2700000" dist="50402" rotWithShape="0">
              <a:srgbClr val="000000">
                <a:alpha val="40000"/>
              </a:srgbClr>
            </a:outerShdw>
          </a:effectLst>
        </p:spPr>
      </p:pic>
      <p:pic>
        <p:nvPicPr>
          <p:cNvPr id="206" name="Picture 58"/>
          <p:cNvPicPr/>
          <p:nvPr/>
        </p:nvPicPr>
        <p:blipFill>
          <a:blip r:embed="rId5"/>
          <a:stretch/>
        </p:blipFill>
        <p:spPr>
          <a:xfrm>
            <a:off x="7303320" y="5251680"/>
            <a:ext cx="294840" cy="132840"/>
          </a:xfrm>
          <a:prstGeom prst="rect">
            <a:avLst/>
          </a:prstGeom>
          <a:noFill/>
          <a:ln cap="sq" w="12700">
            <a:solidFill>
              <a:srgbClr val="000000"/>
            </a:solidFill>
            <a:miter/>
          </a:ln>
          <a:effectLst>
            <a:outerShdw algn="tl" blurRad="57240" dir="2700000" dist="50402" rotWithShape="0">
              <a:srgbClr val="000000">
                <a:alpha val="40000"/>
              </a:srgbClr>
            </a:outerShdw>
          </a:effectLst>
        </p:spPr>
      </p:pic>
      <p:pic>
        <p:nvPicPr>
          <p:cNvPr id="207" name="Picture 59"/>
          <p:cNvPicPr/>
          <p:nvPr/>
        </p:nvPicPr>
        <p:blipFill>
          <a:blip r:embed="rId6"/>
          <a:stretch/>
        </p:blipFill>
        <p:spPr>
          <a:xfrm>
            <a:off x="7303320" y="5472720"/>
            <a:ext cx="294840" cy="132840"/>
          </a:xfrm>
          <a:prstGeom prst="rect">
            <a:avLst/>
          </a:prstGeom>
          <a:noFill/>
          <a:ln cap="sq" w="12700">
            <a:solidFill>
              <a:srgbClr val="000000"/>
            </a:solidFill>
            <a:miter/>
          </a:ln>
          <a:effectLst>
            <a:outerShdw algn="tl" blurRad="57240" dir="2700000" dist="50402" rotWithShape="0">
              <a:srgbClr val="000000">
                <a:alpha val="40000"/>
              </a:srgbClr>
            </a:outerShdw>
          </a:effectLst>
        </p:spPr>
      </p:pic>
      <p:pic>
        <p:nvPicPr>
          <p:cNvPr id="208" name="Picture 60"/>
          <p:cNvPicPr/>
          <p:nvPr/>
        </p:nvPicPr>
        <p:blipFill>
          <a:blip r:embed="rId7"/>
          <a:stretch/>
        </p:blipFill>
        <p:spPr>
          <a:xfrm>
            <a:off x="7295040" y="5730840"/>
            <a:ext cx="294840" cy="132840"/>
          </a:xfrm>
          <a:prstGeom prst="rect">
            <a:avLst/>
          </a:prstGeom>
          <a:noFill/>
          <a:ln cap="sq" w="12700">
            <a:solidFill>
              <a:srgbClr val="000000"/>
            </a:solidFill>
            <a:miter/>
          </a:ln>
          <a:effectLst>
            <a:outerShdw algn="tl" blurRad="57240" dir="2700000" dist="50402" rotWithShape="0">
              <a:srgbClr val="000000">
                <a:alpha val="40000"/>
              </a:srgbClr>
            </a:outerShdw>
          </a:effectLst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Rectangle 205"/>
          <p:cNvSpPr/>
          <p:nvPr/>
        </p:nvSpPr>
        <p:spPr>
          <a:xfrm>
            <a:off x="1143000" y="8640"/>
            <a:ext cx="9905760" cy="308880"/>
          </a:xfrm>
          <a:prstGeom prst="rect">
            <a:avLst/>
          </a:prstGeom>
          <a:solidFill>
            <a:schemeClr val="accent1"/>
          </a:solidFill>
          <a:ln w="28575">
            <a:solidFill>
              <a:srgbClr val="00000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PH" sz="195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LINE AUTOMATION PROPOSAL</a:t>
            </a:r>
            <a:endParaRPr lang="en-US" sz="1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210" name="Straight Arrow Connector 10"/>
          <p:cNvCxnSpPr/>
          <p:nvPr/>
        </p:nvCxnSpPr>
        <p:spPr>
          <a:xfrm>
            <a:off x="2144520" y="1324440"/>
            <a:ext cx="3199680" cy="2113920"/>
          </a:xfrm>
          <a:prstGeom prst="straightConnector1">
            <a:avLst/>
          </a:prstGeom>
          <a:ln>
            <a:solidFill>
              <a:srgbClr val="FF0000"/>
            </a:solidFill>
            <a:tailEnd len="med" type="triangle" w="med"/>
          </a:ln>
        </p:spPr>
      </p:cxnSp>
      <p:sp>
        <p:nvSpPr>
          <p:cNvPr id="211" name="Rectangle 19"/>
          <p:cNvSpPr/>
          <p:nvPr/>
        </p:nvSpPr>
        <p:spPr>
          <a:xfrm>
            <a:off x="2753640" y="3614400"/>
            <a:ext cx="6487560" cy="2500200"/>
          </a:xfrm>
          <a:prstGeom prst="rect">
            <a:avLst/>
          </a:prstGeom>
          <a:solidFill>
            <a:schemeClr val="bg2"/>
          </a:solidFill>
          <a:ln w="57150">
            <a:solidFill>
              <a:srgbClr val="4EA72E">
                <a:lumMod val="40000"/>
                <a:lumOff val="60000"/>
              </a:srgb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12" name="Rectangle 25"/>
          <p:cNvSpPr/>
          <p:nvPr/>
        </p:nvSpPr>
        <p:spPr>
          <a:xfrm>
            <a:off x="8079840" y="4045680"/>
            <a:ext cx="376560" cy="307440"/>
          </a:xfrm>
          <a:prstGeom prst="rect">
            <a:avLst/>
          </a:prstGeom>
          <a:solidFill>
            <a:schemeClr val="accent3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13" name="Rectangle 26"/>
          <p:cNvSpPr/>
          <p:nvPr/>
        </p:nvSpPr>
        <p:spPr>
          <a:xfrm>
            <a:off x="8079840" y="4503960"/>
            <a:ext cx="376560" cy="307440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14" name="Rectangle 27"/>
          <p:cNvSpPr/>
          <p:nvPr/>
        </p:nvSpPr>
        <p:spPr>
          <a:xfrm>
            <a:off x="8079840" y="4939200"/>
            <a:ext cx="376560" cy="307440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15" name="Rectangle 28"/>
          <p:cNvSpPr/>
          <p:nvPr/>
        </p:nvSpPr>
        <p:spPr>
          <a:xfrm>
            <a:off x="8079840" y="5423040"/>
            <a:ext cx="376560" cy="307440"/>
          </a:xfrm>
          <a:prstGeom prst="rect">
            <a:avLst/>
          </a:prstGeom>
          <a:solidFill>
            <a:srgbClr val="FF0000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graphicFrame>
        <p:nvGraphicFramePr>
          <p:cNvPr id="216" name="Table 1"/>
          <p:cNvGraphicFramePr/>
          <p:nvPr/>
        </p:nvGraphicFramePr>
        <p:xfrm>
          <a:off x="2975040" y="4045680"/>
          <a:ext cx="4466160" cy="1955520"/>
        </p:xfrm>
        <a:graphic>
          <a:graphicData uri="http://schemas.openxmlformats.org/drawingml/2006/table">
            <a:tbl>
              <a:tblPr/>
              <a:tblGrid>
                <a:gridCol w="1252800"/>
                <a:gridCol w="1144080"/>
                <a:gridCol w="1019520"/>
                <a:gridCol w="1049040"/>
              </a:tblGrid>
              <a:tr h="182880"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Model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Plan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Act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Variance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182880"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182880"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182880"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182880"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182880"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182880"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217" name="TextBox 3"/>
          <p:cNvSpPr/>
          <p:nvPr/>
        </p:nvSpPr>
        <p:spPr>
          <a:xfrm>
            <a:off x="2753640" y="3666240"/>
            <a:ext cx="422424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Schedule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18" name="Group 7"/>
          <p:cNvGrpSpPr/>
          <p:nvPr/>
        </p:nvGrpSpPr>
        <p:grpSpPr>
          <a:xfrm>
            <a:off x="1461960" y="788760"/>
            <a:ext cx="5013360" cy="1824480"/>
            <a:chOff x="1461960" y="788760"/>
            <a:chExt cx="5013360" cy="1824480"/>
          </a:xfrm>
        </p:grpSpPr>
        <p:sp>
          <p:nvSpPr>
            <p:cNvPr id="219" name="Rounded Rectangle 14"/>
            <p:cNvSpPr/>
            <p:nvPr/>
          </p:nvSpPr>
          <p:spPr>
            <a:xfrm>
              <a:off x="1555920" y="788760"/>
              <a:ext cx="561240" cy="142560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28575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7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START</a:t>
              </a:r>
              <a:endParaRPr lang="en-US" sz="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0" name="Rounded Rectangle 126"/>
            <p:cNvSpPr/>
            <p:nvPr/>
          </p:nvSpPr>
          <p:spPr>
            <a:xfrm>
              <a:off x="1473120" y="1257480"/>
              <a:ext cx="726480" cy="212760"/>
            </a:xfrm>
            <a:prstGeom prst="parallelogram">
              <a:avLst>
                <a:gd name="adj" fmla="val 25000"/>
              </a:avLst>
            </a:prstGeom>
            <a:solidFill>
              <a:srgbClr val="FF000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1: FAN MOTOR &amp; COMPRESSOR RECORDING and CHECKING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1" name="Rounded Rectangle 17"/>
            <p:cNvSpPr/>
            <p:nvPr/>
          </p:nvSpPr>
          <p:spPr>
            <a:xfrm>
              <a:off x="1582200" y="1600200"/>
              <a:ext cx="507960" cy="142560"/>
            </a:xfrm>
            <a:prstGeom prst="parallelogram">
              <a:avLst>
                <a:gd name="adj" fmla="val 25000"/>
              </a:avLst>
            </a:prstGeom>
            <a:solidFill>
              <a:srgbClr val="FFC00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1: AIRTIGHT TEST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222" name="Straight Arrow Connector 15"/>
            <p:cNvCxnSpPr>
              <a:stCxn id="220" idx="4"/>
              <a:endCxn id="221" idx="0"/>
            </p:cNvCxnSpPr>
            <p:nvPr/>
          </p:nvCxnSpPr>
          <p:spPr>
            <a:xfrm>
              <a:off x="1836360" y="1470240"/>
              <a:ext cx="360" cy="13032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223" name="Rounded Rectangle 126"/>
            <p:cNvSpPr/>
            <p:nvPr/>
          </p:nvSpPr>
          <p:spPr>
            <a:xfrm>
              <a:off x="1461960" y="1012320"/>
              <a:ext cx="748440" cy="142560"/>
            </a:xfrm>
            <a:prstGeom prst="roundRect">
              <a:avLst>
                <a:gd name="adj" fmla="val 0"/>
              </a:avLst>
            </a:prstGeom>
            <a:solidFill>
              <a:schemeClr val="bg2">
                <a:lumMod val="50000"/>
              </a:schemeClr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SCAN FOR MODEL THAT WILL BE IN PRODUCTION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224" name="Straight Arrow Connector 21"/>
            <p:cNvCxnSpPr>
              <a:stCxn id="223" idx="2"/>
              <a:endCxn id="220" idx="0"/>
            </p:cNvCxnSpPr>
            <p:nvPr/>
          </p:nvCxnSpPr>
          <p:spPr>
            <a:xfrm>
              <a:off x="1836360" y="1154880"/>
              <a:ext cx="360" cy="1029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225" name="Straight Arrow Connector 22"/>
            <p:cNvCxnSpPr>
              <a:stCxn id="219" idx="2"/>
              <a:endCxn id="223" idx="0"/>
            </p:cNvCxnSpPr>
            <p:nvPr/>
          </p:nvCxnSpPr>
          <p:spPr>
            <a:xfrm flipH="1">
              <a:off x="1836360" y="931320"/>
              <a:ext cx="720" cy="813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226" name="Rounded Rectangle 17"/>
            <p:cNvSpPr/>
            <p:nvPr/>
          </p:nvSpPr>
          <p:spPr>
            <a:xfrm>
              <a:off x="1558800" y="1872720"/>
              <a:ext cx="507960" cy="142560"/>
            </a:xfrm>
            <a:prstGeom prst="parallelogram">
              <a:avLst>
                <a:gd name="adj" fmla="val 25000"/>
              </a:avLst>
            </a:prstGeom>
            <a:solidFill>
              <a:srgbClr val="FFFF0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2: GAS CHARGING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7" name="Rounded Rectangle 17"/>
            <p:cNvSpPr/>
            <p:nvPr/>
          </p:nvSpPr>
          <p:spPr>
            <a:xfrm>
              <a:off x="1473120" y="212292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rgbClr val="00B05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4: CONTROL BOARD &amp; OUTDOOR PCB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228" name="Straight Arrow Connector 31"/>
            <p:cNvCxnSpPr>
              <a:stCxn id="221" idx="4"/>
              <a:endCxn id="226" idx="1"/>
            </p:cNvCxnSpPr>
            <p:nvPr/>
          </p:nvCxnSpPr>
          <p:spPr>
            <a:xfrm flipH="1">
              <a:off x="1830600" y="1742760"/>
              <a:ext cx="6120" cy="13032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229" name="Straight Arrow Connector 32"/>
            <p:cNvCxnSpPr>
              <a:stCxn id="226" idx="4"/>
              <a:endCxn id="227" idx="1"/>
            </p:cNvCxnSpPr>
            <p:nvPr/>
          </p:nvCxnSpPr>
          <p:spPr>
            <a:xfrm flipH="1">
              <a:off x="1805760" y="2015280"/>
              <a:ext cx="7560" cy="10800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230" name="Rounded Rectangle 17"/>
            <p:cNvSpPr/>
            <p:nvPr/>
          </p:nvSpPr>
          <p:spPr>
            <a:xfrm>
              <a:off x="1473120" y="241776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rgbClr val="00B0F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2: WIRING AND CONSTRUCTION INSPECTION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31" name="Rounded Rectangle 17"/>
            <p:cNvSpPr/>
            <p:nvPr/>
          </p:nvSpPr>
          <p:spPr>
            <a:xfrm>
              <a:off x="3665520" y="87012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chemeClr val="accent6">
                <a:lumMod val="75000"/>
              </a:schemeClr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: RUNNING INSPECTION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32" name="Rounded Rectangle 17"/>
            <p:cNvSpPr/>
            <p:nvPr/>
          </p:nvSpPr>
          <p:spPr>
            <a:xfrm>
              <a:off x="3669840" y="116064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chemeClr val="accent6">
                <a:lumMod val="40000"/>
                <a:lumOff val="60000"/>
              </a:schemeClr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5: FINAL INSPECTION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33" name="Rounded Rectangle 17"/>
            <p:cNvSpPr/>
            <p:nvPr/>
          </p:nvSpPr>
          <p:spPr>
            <a:xfrm>
              <a:off x="3669840" y="157392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chemeClr val="accent2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5: PACKAGING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234" name="Straight Arrow Connector 37"/>
            <p:cNvCxnSpPr/>
            <p:nvPr/>
          </p:nvCxnSpPr>
          <p:spPr>
            <a:xfrm>
              <a:off x="1812960" y="2318400"/>
              <a:ext cx="360" cy="10728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235" name="Rounded Rectangle 17"/>
            <p:cNvSpPr/>
            <p:nvPr/>
          </p:nvSpPr>
          <p:spPr>
            <a:xfrm>
              <a:off x="2571480" y="213228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rgbClr val="92D05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3: INDOOR CONTROL BOARD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236" name="Straight Arrow Connector 39"/>
            <p:cNvCxnSpPr/>
            <p:nvPr/>
          </p:nvCxnSpPr>
          <p:spPr>
            <a:xfrm flipH="1">
              <a:off x="2058120" y="2235960"/>
              <a:ext cx="540720" cy="3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237" name="Elbow Connector 175"/>
            <p:cNvCxnSpPr>
              <a:stCxn id="230" idx="2"/>
              <a:endCxn id="231" idx="1"/>
            </p:cNvCxnSpPr>
            <p:nvPr/>
          </p:nvCxnSpPr>
          <p:spPr>
            <a:xfrm flipV="1">
              <a:off x="2065320" y="870120"/>
              <a:ext cx="1933200" cy="1645920"/>
            </a:xfrm>
            <a:prstGeom prst="bentConnector4">
              <a:avLst>
                <a:gd name="adj1" fmla="val 228161"/>
                <a:gd name="adj2" fmla="val 76132"/>
              </a:avLst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238" name="Straight Arrow Connector 41"/>
            <p:cNvCxnSpPr>
              <a:stCxn id="232" idx="4"/>
              <a:endCxn id="233" idx="0"/>
            </p:cNvCxnSpPr>
            <p:nvPr/>
          </p:nvCxnSpPr>
          <p:spPr>
            <a:xfrm>
              <a:off x="3978000" y="1356120"/>
              <a:ext cx="360" cy="2181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239" name="Rounded Rectangle 14"/>
            <p:cNvSpPr/>
            <p:nvPr/>
          </p:nvSpPr>
          <p:spPr>
            <a:xfrm>
              <a:off x="3697560" y="1909080"/>
              <a:ext cx="561240" cy="142560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28575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7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END</a:t>
              </a:r>
              <a:endParaRPr lang="en-US" sz="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240" name="Straight Arrow Connector 43"/>
            <p:cNvCxnSpPr/>
            <p:nvPr/>
          </p:nvCxnSpPr>
          <p:spPr>
            <a:xfrm>
              <a:off x="3973680" y="1768680"/>
              <a:ext cx="360" cy="13068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241" name="Straight Arrow Connector 44"/>
            <p:cNvCxnSpPr>
              <a:stCxn id="231" idx="4"/>
            </p:cNvCxnSpPr>
            <p:nvPr/>
          </p:nvCxnSpPr>
          <p:spPr>
            <a:xfrm>
              <a:off x="3973680" y="1065600"/>
              <a:ext cx="360" cy="1029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Rectangle 205"/>
          <p:cNvSpPr/>
          <p:nvPr/>
        </p:nvSpPr>
        <p:spPr>
          <a:xfrm>
            <a:off x="1143000" y="8640"/>
            <a:ext cx="9905760" cy="308880"/>
          </a:xfrm>
          <a:prstGeom prst="rect">
            <a:avLst/>
          </a:prstGeom>
          <a:solidFill>
            <a:schemeClr val="accent1"/>
          </a:solidFill>
          <a:ln w="28575">
            <a:solidFill>
              <a:srgbClr val="00000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PH" sz="195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LINE AUTOMATION PROPOSAL</a:t>
            </a:r>
            <a:endParaRPr lang="en-US" sz="1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243" name="Straight Arrow Connector 10"/>
          <p:cNvCxnSpPr/>
          <p:nvPr/>
        </p:nvCxnSpPr>
        <p:spPr>
          <a:xfrm>
            <a:off x="2066400" y="1686240"/>
            <a:ext cx="3277800" cy="1752120"/>
          </a:xfrm>
          <a:prstGeom prst="straightConnector1">
            <a:avLst/>
          </a:prstGeom>
          <a:ln>
            <a:solidFill>
              <a:srgbClr val="FF0000"/>
            </a:solidFill>
            <a:tailEnd len="med" type="triangle" w="med"/>
          </a:ln>
        </p:spPr>
      </p:cxnSp>
      <p:sp>
        <p:nvSpPr>
          <p:cNvPr id="244" name="Rectangle 19"/>
          <p:cNvSpPr/>
          <p:nvPr/>
        </p:nvSpPr>
        <p:spPr>
          <a:xfrm>
            <a:off x="2753640" y="3614400"/>
            <a:ext cx="6487560" cy="2500200"/>
          </a:xfrm>
          <a:prstGeom prst="rect">
            <a:avLst/>
          </a:prstGeom>
          <a:solidFill>
            <a:schemeClr val="bg2"/>
          </a:solidFill>
          <a:ln w="57150">
            <a:solidFill>
              <a:srgbClr val="4EA72E">
                <a:lumMod val="40000"/>
                <a:lumOff val="60000"/>
              </a:srgb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45" name="TextBox 3"/>
          <p:cNvSpPr/>
          <p:nvPr/>
        </p:nvSpPr>
        <p:spPr>
          <a:xfrm>
            <a:off x="2753640" y="3666240"/>
            <a:ext cx="422424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Scan Model and Airtight Test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Rectangle 7"/>
          <p:cNvSpPr/>
          <p:nvPr/>
        </p:nvSpPr>
        <p:spPr>
          <a:xfrm>
            <a:off x="3726720" y="4058280"/>
            <a:ext cx="2025720" cy="307440"/>
          </a:xfrm>
          <a:prstGeom prst="rect">
            <a:avLst/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47" name="TextBox 15"/>
          <p:cNvSpPr/>
          <p:nvPr/>
        </p:nvSpPr>
        <p:spPr>
          <a:xfrm>
            <a:off x="2920680" y="4058280"/>
            <a:ext cx="119124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MODEL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8" name="TextBox 16"/>
          <p:cNvSpPr/>
          <p:nvPr/>
        </p:nvSpPr>
        <p:spPr>
          <a:xfrm>
            <a:off x="5997600" y="4058280"/>
            <a:ext cx="124092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SERIAL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Rectangle 1"/>
          <p:cNvSpPr/>
          <p:nvPr/>
        </p:nvSpPr>
        <p:spPr>
          <a:xfrm>
            <a:off x="6792840" y="4058280"/>
            <a:ext cx="2025720" cy="307440"/>
          </a:xfrm>
          <a:prstGeom prst="rect">
            <a:avLst/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50" name="Oval 2"/>
          <p:cNvSpPr/>
          <p:nvPr/>
        </p:nvSpPr>
        <p:spPr>
          <a:xfrm>
            <a:off x="4269960" y="4644720"/>
            <a:ext cx="1191240" cy="1191240"/>
          </a:xfrm>
          <a:prstGeom prst="ellipse">
            <a:avLst/>
          </a:prstGeom>
          <a:solidFill>
            <a:srgbClr val="00B050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51" name="Oval 14"/>
          <p:cNvSpPr/>
          <p:nvPr/>
        </p:nvSpPr>
        <p:spPr>
          <a:xfrm>
            <a:off x="6118560" y="4644720"/>
            <a:ext cx="1191240" cy="1191240"/>
          </a:xfrm>
          <a:prstGeom prst="ellipse">
            <a:avLst/>
          </a:prstGeom>
          <a:solidFill>
            <a:srgbClr val="FF0000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52" name="TextBox 22"/>
          <p:cNvSpPr/>
          <p:nvPr/>
        </p:nvSpPr>
        <p:spPr>
          <a:xfrm>
            <a:off x="4269960" y="5086440"/>
            <a:ext cx="119124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GOOD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Box 29"/>
          <p:cNvSpPr/>
          <p:nvPr/>
        </p:nvSpPr>
        <p:spPr>
          <a:xfrm>
            <a:off x="6134760" y="5086440"/>
            <a:ext cx="119124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 GOOD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54" name="Group 31"/>
          <p:cNvGrpSpPr/>
          <p:nvPr/>
        </p:nvGrpSpPr>
        <p:grpSpPr>
          <a:xfrm>
            <a:off x="1461960" y="788760"/>
            <a:ext cx="5013360" cy="1824480"/>
            <a:chOff x="1461960" y="788760"/>
            <a:chExt cx="5013360" cy="1824480"/>
          </a:xfrm>
        </p:grpSpPr>
        <p:sp>
          <p:nvSpPr>
            <p:cNvPr id="255" name="Rounded Rectangle 14"/>
            <p:cNvSpPr/>
            <p:nvPr/>
          </p:nvSpPr>
          <p:spPr>
            <a:xfrm>
              <a:off x="1555920" y="788760"/>
              <a:ext cx="561240" cy="142560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28575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7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START</a:t>
              </a:r>
              <a:endParaRPr lang="en-US" sz="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56" name="Rounded Rectangle 126"/>
            <p:cNvSpPr/>
            <p:nvPr/>
          </p:nvSpPr>
          <p:spPr>
            <a:xfrm>
              <a:off x="1473120" y="1257480"/>
              <a:ext cx="726480" cy="212760"/>
            </a:xfrm>
            <a:prstGeom prst="parallelogram">
              <a:avLst>
                <a:gd name="adj" fmla="val 25000"/>
              </a:avLst>
            </a:prstGeom>
            <a:solidFill>
              <a:srgbClr val="FF000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1: FAN MOTOR &amp; COMPRESSOR RECORDING and CHECKING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57" name="Rounded Rectangle 17"/>
            <p:cNvSpPr/>
            <p:nvPr/>
          </p:nvSpPr>
          <p:spPr>
            <a:xfrm>
              <a:off x="1582200" y="1600200"/>
              <a:ext cx="507960" cy="142560"/>
            </a:xfrm>
            <a:prstGeom prst="parallelogram">
              <a:avLst>
                <a:gd name="adj" fmla="val 25000"/>
              </a:avLst>
            </a:prstGeom>
            <a:solidFill>
              <a:srgbClr val="FFC00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1: AIRTIGHT TEST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258" name="Straight Arrow Connector 35"/>
            <p:cNvCxnSpPr>
              <a:stCxn id="256" idx="4"/>
              <a:endCxn id="257" idx="0"/>
            </p:cNvCxnSpPr>
            <p:nvPr/>
          </p:nvCxnSpPr>
          <p:spPr>
            <a:xfrm>
              <a:off x="1836360" y="1470240"/>
              <a:ext cx="360" cy="13032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259" name="Rounded Rectangle 126"/>
            <p:cNvSpPr/>
            <p:nvPr/>
          </p:nvSpPr>
          <p:spPr>
            <a:xfrm>
              <a:off x="1461960" y="1012320"/>
              <a:ext cx="748440" cy="142560"/>
            </a:xfrm>
            <a:prstGeom prst="roundRect">
              <a:avLst>
                <a:gd name="adj" fmla="val 0"/>
              </a:avLst>
            </a:prstGeom>
            <a:solidFill>
              <a:schemeClr val="bg2">
                <a:lumMod val="50000"/>
              </a:schemeClr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SCAN FOR MODEL THAT WILL BE IN PRODUCTION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260" name="Straight Arrow Connector 37"/>
            <p:cNvCxnSpPr>
              <a:stCxn id="259" idx="2"/>
              <a:endCxn id="256" idx="0"/>
            </p:cNvCxnSpPr>
            <p:nvPr/>
          </p:nvCxnSpPr>
          <p:spPr>
            <a:xfrm>
              <a:off x="1836360" y="1154880"/>
              <a:ext cx="360" cy="1029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261" name="Straight Arrow Connector 38"/>
            <p:cNvCxnSpPr>
              <a:stCxn id="255" idx="2"/>
              <a:endCxn id="259" idx="0"/>
            </p:cNvCxnSpPr>
            <p:nvPr/>
          </p:nvCxnSpPr>
          <p:spPr>
            <a:xfrm flipH="1">
              <a:off x="1836360" y="931320"/>
              <a:ext cx="720" cy="813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262" name="Rounded Rectangle 17"/>
            <p:cNvSpPr/>
            <p:nvPr/>
          </p:nvSpPr>
          <p:spPr>
            <a:xfrm>
              <a:off x="1558800" y="1872720"/>
              <a:ext cx="507960" cy="142560"/>
            </a:xfrm>
            <a:prstGeom prst="parallelogram">
              <a:avLst>
                <a:gd name="adj" fmla="val 25000"/>
              </a:avLst>
            </a:prstGeom>
            <a:solidFill>
              <a:srgbClr val="FFFF0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2: GAS CHARGING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3" name="Rounded Rectangle 17"/>
            <p:cNvSpPr/>
            <p:nvPr/>
          </p:nvSpPr>
          <p:spPr>
            <a:xfrm>
              <a:off x="1473120" y="212292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rgbClr val="00B05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4: CONTROL BOARD &amp; OUTDOOR PCB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264" name="Straight Arrow Connector 41"/>
            <p:cNvCxnSpPr>
              <a:stCxn id="257" idx="4"/>
              <a:endCxn id="262" idx="1"/>
            </p:cNvCxnSpPr>
            <p:nvPr/>
          </p:nvCxnSpPr>
          <p:spPr>
            <a:xfrm flipH="1">
              <a:off x="1830600" y="1742760"/>
              <a:ext cx="6120" cy="13032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265" name="Straight Arrow Connector 42"/>
            <p:cNvCxnSpPr>
              <a:stCxn id="262" idx="4"/>
              <a:endCxn id="263" idx="1"/>
            </p:cNvCxnSpPr>
            <p:nvPr/>
          </p:nvCxnSpPr>
          <p:spPr>
            <a:xfrm flipH="1">
              <a:off x="1805760" y="2015280"/>
              <a:ext cx="7560" cy="10800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266" name="Rounded Rectangle 17"/>
            <p:cNvSpPr/>
            <p:nvPr/>
          </p:nvSpPr>
          <p:spPr>
            <a:xfrm>
              <a:off x="1473120" y="241776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rgbClr val="00B0F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2: WIRING AND CONSTRUCTION INSPECTION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7" name="Rounded Rectangle 17"/>
            <p:cNvSpPr/>
            <p:nvPr/>
          </p:nvSpPr>
          <p:spPr>
            <a:xfrm>
              <a:off x="3665520" y="87012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chemeClr val="accent6">
                <a:lumMod val="75000"/>
              </a:schemeClr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: RUNNING INSPECTION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8" name="Rounded Rectangle 17"/>
            <p:cNvSpPr/>
            <p:nvPr/>
          </p:nvSpPr>
          <p:spPr>
            <a:xfrm>
              <a:off x="3669840" y="116064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chemeClr val="accent6">
                <a:lumMod val="40000"/>
                <a:lumOff val="60000"/>
              </a:schemeClr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5: FINAL INSPECTION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69" name="Rounded Rectangle 17"/>
            <p:cNvSpPr/>
            <p:nvPr/>
          </p:nvSpPr>
          <p:spPr>
            <a:xfrm>
              <a:off x="3669840" y="157392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chemeClr val="accent2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5: PACKAGING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270" name="Straight Arrow Connector 47"/>
            <p:cNvCxnSpPr/>
            <p:nvPr/>
          </p:nvCxnSpPr>
          <p:spPr>
            <a:xfrm>
              <a:off x="1812960" y="2318400"/>
              <a:ext cx="360" cy="10728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271" name="Rounded Rectangle 17"/>
            <p:cNvSpPr/>
            <p:nvPr/>
          </p:nvSpPr>
          <p:spPr>
            <a:xfrm>
              <a:off x="2571480" y="213228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rgbClr val="92D05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3: INDOOR CONTROL BOARD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272" name="Straight Arrow Connector 49"/>
            <p:cNvCxnSpPr/>
            <p:nvPr/>
          </p:nvCxnSpPr>
          <p:spPr>
            <a:xfrm flipH="1">
              <a:off x="2058120" y="2235960"/>
              <a:ext cx="540720" cy="3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273" name="Elbow Connector 175"/>
            <p:cNvCxnSpPr>
              <a:stCxn id="266" idx="2"/>
              <a:endCxn id="267" idx="1"/>
            </p:cNvCxnSpPr>
            <p:nvPr/>
          </p:nvCxnSpPr>
          <p:spPr>
            <a:xfrm flipV="1">
              <a:off x="2065320" y="870120"/>
              <a:ext cx="1933200" cy="1645920"/>
            </a:xfrm>
            <a:prstGeom prst="bentConnector4">
              <a:avLst>
                <a:gd name="adj1" fmla="val 228161"/>
                <a:gd name="adj2" fmla="val 76132"/>
              </a:avLst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274" name="Straight Arrow Connector 51"/>
            <p:cNvCxnSpPr>
              <a:stCxn id="268" idx="4"/>
              <a:endCxn id="269" idx="0"/>
            </p:cNvCxnSpPr>
            <p:nvPr/>
          </p:nvCxnSpPr>
          <p:spPr>
            <a:xfrm>
              <a:off x="3978000" y="1356120"/>
              <a:ext cx="360" cy="2181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275" name="Rounded Rectangle 14"/>
            <p:cNvSpPr/>
            <p:nvPr/>
          </p:nvSpPr>
          <p:spPr>
            <a:xfrm>
              <a:off x="3697560" y="1909080"/>
              <a:ext cx="561240" cy="142560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28575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7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END</a:t>
              </a:r>
              <a:endParaRPr lang="en-US" sz="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276" name="Straight Arrow Connector 53"/>
            <p:cNvCxnSpPr/>
            <p:nvPr/>
          </p:nvCxnSpPr>
          <p:spPr>
            <a:xfrm>
              <a:off x="3973680" y="1768680"/>
              <a:ext cx="360" cy="13068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277" name="Straight Arrow Connector 54"/>
            <p:cNvCxnSpPr>
              <a:stCxn id="267" idx="4"/>
            </p:cNvCxnSpPr>
            <p:nvPr/>
          </p:nvCxnSpPr>
          <p:spPr>
            <a:xfrm>
              <a:off x="3973680" y="1065600"/>
              <a:ext cx="360" cy="1029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Rectangle 205"/>
          <p:cNvSpPr/>
          <p:nvPr/>
        </p:nvSpPr>
        <p:spPr>
          <a:xfrm>
            <a:off x="1143000" y="8640"/>
            <a:ext cx="9905760" cy="308880"/>
          </a:xfrm>
          <a:prstGeom prst="rect">
            <a:avLst/>
          </a:prstGeom>
          <a:solidFill>
            <a:schemeClr val="accent1"/>
          </a:solidFill>
          <a:ln w="28575">
            <a:solidFill>
              <a:srgbClr val="00000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PH" sz="195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LINE AUTOMATION PROPOSAL</a:t>
            </a:r>
            <a:endParaRPr lang="en-US" sz="1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279" name="Straight Arrow Connector 10"/>
          <p:cNvCxnSpPr>
            <a:stCxn id="280" idx="2"/>
          </p:cNvCxnSpPr>
          <p:nvPr/>
        </p:nvCxnSpPr>
        <p:spPr>
          <a:xfrm>
            <a:off x="2072520" y="1671480"/>
            <a:ext cx="3271680" cy="1766880"/>
          </a:xfrm>
          <a:prstGeom prst="straightConnector1">
            <a:avLst/>
          </a:prstGeom>
          <a:ln>
            <a:solidFill>
              <a:srgbClr val="FF0000"/>
            </a:solidFill>
            <a:tailEnd len="med" type="triangle" w="med"/>
          </a:ln>
        </p:spPr>
      </p:cxnSp>
      <p:sp>
        <p:nvSpPr>
          <p:cNvPr id="281" name="Rectangle 19"/>
          <p:cNvSpPr/>
          <p:nvPr/>
        </p:nvSpPr>
        <p:spPr>
          <a:xfrm>
            <a:off x="2753640" y="3614400"/>
            <a:ext cx="6487560" cy="2500200"/>
          </a:xfrm>
          <a:prstGeom prst="rect">
            <a:avLst/>
          </a:prstGeom>
          <a:solidFill>
            <a:schemeClr val="bg2"/>
          </a:solidFill>
          <a:ln w="57150">
            <a:solidFill>
              <a:srgbClr val="4EA72E">
                <a:lumMod val="40000"/>
                <a:lumOff val="60000"/>
              </a:srgb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82" name="TextBox 3"/>
          <p:cNvSpPr/>
          <p:nvPr/>
        </p:nvSpPr>
        <p:spPr>
          <a:xfrm>
            <a:off x="2753640" y="3666240"/>
            <a:ext cx="422424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Scan Brazing Part and Operator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Rectangle 7"/>
          <p:cNvSpPr/>
          <p:nvPr/>
        </p:nvSpPr>
        <p:spPr>
          <a:xfrm>
            <a:off x="4052880" y="4026240"/>
            <a:ext cx="1405440" cy="221040"/>
          </a:xfrm>
          <a:prstGeom prst="rect">
            <a:avLst/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284" name="TextBox 15"/>
          <p:cNvSpPr/>
          <p:nvPr/>
        </p:nvSpPr>
        <p:spPr>
          <a:xfrm>
            <a:off x="2728800" y="3980880"/>
            <a:ext cx="140544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BRAZING PART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Box 16"/>
          <p:cNvSpPr/>
          <p:nvPr/>
        </p:nvSpPr>
        <p:spPr>
          <a:xfrm>
            <a:off x="5603040" y="3974040"/>
            <a:ext cx="124092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NAME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Rectangle 1"/>
          <p:cNvSpPr/>
          <p:nvPr/>
        </p:nvSpPr>
        <p:spPr>
          <a:xfrm>
            <a:off x="6242400" y="4022280"/>
            <a:ext cx="2025720" cy="225000"/>
          </a:xfrm>
          <a:prstGeom prst="rect">
            <a:avLst/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grpSp>
        <p:nvGrpSpPr>
          <p:cNvPr id="287" name="Group 31"/>
          <p:cNvGrpSpPr/>
          <p:nvPr/>
        </p:nvGrpSpPr>
        <p:grpSpPr>
          <a:xfrm>
            <a:off x="1461960" y="788760"/>
            <a:ext cx="5013360" cy="1824480"/>
            <a:chOff x="1461960" y="788760"/>
            <a:chExt cx="5013360" cy="1824480"/>
          </a:xfrm>
        </p:grpSpPr>
        <p:sp>
          <p:nvSpPr>
            <p:cNvPr id="288" name="Rounded Rectangle 14"/>
            <p:cNvSpPr/>
            <p:nvPr/>
          </p:nvSpPr>
          <p:spPr>
            <a:xfrm>
              <a:off x="1555920" y="788760"/>
              <a:ext cx="561240" cy="142560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28575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7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START</a:t>
              </a:r>
              <a:endParaRPr lang="en-US" sz="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89" name="Rounded Rectangle 126"/>
            <p:cNvSpPr/>
            <p:nvPr/>
          </p:nvSpPr>
          <p:spPr>
            <a:xfrm>
              <a:off x="1473120" y="1257480"/>
              <a:ext cx="726480" cy="212760"/>
            </a:xfrm>
            <a:prstGeom prst="parallelogram">
              <a:avLst>
                <a:gd name="adj" fmla="val 25000"/>
              </a:avLst>
            </a:prstGeom>
            <a:solidFill>
              <a:srgbClr val="FF000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1: FAN MOTOR &amp; COMPRESSOR RECORDING and CHECKING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80" name="Rounded Rectangle 17"/>
            <p:cNvSpPr/>
            <p:nvPr/>
          </p:nvSpPr>
          <p:spPr>
            <a:xfrm>
              <a:off x="1582200" y="1600200"/>
              <a:ext cx="507960" cy="142560"/>
            </a:xfrm>
            <a:prstGeom prst="parallelogram">
              <a:avLst>
                <a:gd name="adj" fmla="val 25000"/>
              </a:avLst>
            </a:prstGeom>
            <a:solidFill>
              <a:srgbClr val="FFC00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1: AIRTIGHT TEST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290" name="Straight Arrow Connector 35"/>
            <p:cNvCxnSpPr>
              <a:stCxn id="289" idx="4"/>
              <a:endCxn id="280" idx="0"/>
            </p:cNvCxnSpPr>
            <p:nvPr/>
          </p:nvCxnSpPr>
          <p:spPr>
            <a:xfrm>
              <a:off x="1836360" y="1470240"/>
              <a:ext cx="360" cy="13032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291" name="Rounded Rectangle 126"/>
            <p:cNvSpPr/>
            <p:nvPr/>
          </p:nvSpPr>
          <p:spPr>
            <a:xfrm>
              <a:off x="1461960" y="1012320"/>
              <a:ext cx="748440" cy="142560"/>
            </a:xfrm>
            <a:prstGeom prst="roundRect">
              <a:avLst>
                <a:gd name="adj" fmla="val 0"/>
              </a:avLst>
            </a:prstGeom>
            <a:solidFill>
              <a:schemeClr val="bg2">
                <a:lumMod val="50000"/>
              </a:schemeClr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SCAN FOR MODEL THAT WILL BE IN PRODUCTION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292" name="Straight Arrow Connector 37"/>
            <p:cNvCxnSpPr>
              <a:stCxn id="291" idx="2"/>
              <a:endCxn id="289" idx="0"/>
            </p:cNvCxnSpPr>
            <p:nvPr/>
          </p:nvCxnSpPr>
          <p:spPr>
            <a:xfrm>
              <a:off x="1836360" y="1154880"/>
              <a:ext cx="360" cy="1029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293" name="Straight Arrow Connector 38"/>
            <p:cNvCxnSpPr>
              <a:stCxn id="288" idx="2"/>
              <a:endCxn id="291" idx="0"/>
            </p:cNvCxnSpPr>
            <p:nvPr/>
          </p:nvCxnSpPr>
          <p:spPr>
            <a:xfrm flipH="1">
              <a:off x="1836360" y="931320"/>
              <a:ext cx="720" cy="813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294" name="Rounded Rectangle 17"/>
            <p:cNvSpPr/>
            <p:nvPr/>
          </p:nvSpPr>
          <p:spPr>
            <a:xfrm>
              <a:off x="1558800" y="1872720"/>
              <a:ext cx="507960" cy="142560"/>
            </a:xfrm>
            <a:prstGeom prst="parallelogram">
              <a:avLst>
                <a:gd name="adj" fmla="val 25000"/>
              </a:avLst>
            </a:prstGeom>
            <a:solidFill>
              <a:srgbClr val="FFFF0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2: GAS CHARGING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95" name="Rounded Rectangle 17"/>
            <p:cNvSpPr/>
            <p:nvPr/>
          </p:nvSpPr>
          <p:spPr>
            <a:xfrm>
              <a:off x="1473120" y="212292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rgbClr val="00B05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4: CONTROL BOARD &amp; OUTDOOR PCB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296" name="Straight Arrow Connector 41"/>
            <p:cNvCxnSpPr>
              <a:stCxn id="280" idx="4"/>
              <a:endCxn id="294" idx="1"/>
            </p:cNvCxnSpPr>
            <p:nvPr/>
          </p:nvCxnSpPr>
          <p:spPr>
            <a:xfrm flipH="1">
              <a:off x="1830600" y="1742760"/>
              <a:ext cx="6120" cy="13032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297" name="Straight Arrow Connector 42"/>
            <p:cNvCxnSpPr>
              <a:stCxn id="294" idx="4"/>
              <a:endCxn id="295" idx="1"/>
            </p:cNvCxnSpPr>
            <p:nvPr/>
          </p:nvCxnSpPr>
          <p:spPr>
            <a:xfrm flipH="1">
              <a:off x="1805760" y="2015280"/>
              <a:ext cx="7560" cy="10800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298" name="Rounded Rectangle 17"/>
            <p:cNvSpPr/>
            <p:nvPr/>
          </p:nvSpPr>
          <p:spPr>
            <a:xfrm>
              <a:off x="1473120" y="241776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rgbClr val="00B0F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2: WIRING AND CONSTRUCTION INSPECTION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99" name="Rounded Rectangle 17"/>
            <p:cNvSpPr/>
            <p:nvPr/>
          </p:nvSpPr>
          <p:spPr>
            <a:xfrm>
              <a:off x="3665520" y="87012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chemeClr val="accent6">
                <a:lumMod val="75000"/>
              </a:schemeClr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: RUNNING INSPECTION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0" name="Rounded Rectangle 17"/>
            <p:cNvSpPr/>
            <p:nvPr/>
          </p:nvSpPr>
          <p:spPr>
            <a:xfrm>
              <a:off x="3669840" y="116064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chemeClr val="accent6">
                <a:lumMod val="40000"/>
                <a:lumOff val="60000"/>
              </a:schemeClr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5: FINAL INSPECTION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01" name="Rounded Rectangle 17"/>
            <p:cNvSpPr/>
            <p:nvPr/>
          </p:nvSpPr>
          <p:spPr>
            <a:xfrm>
              <a:off x="3669840" y="157392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chemeClr val="accent2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5: PACKAGING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302" name="Straight Arrow Connector 47"/>
            <p:cNvCxnSpPr/>
            <p:nvPr/>
          </p:nvCxnSpPr>
          <p:spPr>
            <a:xfrm>
              <a:off x="1812960" y="2318400"/>
              <a:ext cx="360" cy="10728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303" name="Rounded Rectangle 17"/>
            <p:cNvSpPr/>
            <p:nvPr/>
          </p:nvSpPr>
          <p:spPr>
            <a:xfrm>
              <a:off x="2571480" y="213228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rgbClr val="92D05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3: INDOOR CONTROL BOARD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304" name="Straight Arrow Connector 49"/>
            <p:cNvCxnSpPr/>
            <p:nvPr/>
          </p:nvCxnSpPr>
          <p:spPr>
            <a:xfrm flipH="1">
              <a:off x="2058120" y="2235960"/>
              <a:ext cx="540720" cy="3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305" name="Elbow Connector 175"/>
            <p:cNvCxnSpPr>
              <a:stCxn id="298" idx="2"/>
              <a:endCxn id="299" idx="1"/>
            </p:cNvCxnSpPr>
            <p:nvPr/>
          </p:nvCxnSpPr>
          <p:spPr>
            <a:xfrm flipV="1">
              <a:off x="2065320" y="870120"/>
              <a:ext cx="1933200" cy="1645920"/>
            </a:xfrm>
            <a:prstGeom prst="bentConnector4">
              <a:avLst>
                <a:gd name="adj1" fmla="val 228161"/>
                <a:gd name="adj2" fmla="val 76132"/>
              </a:avLst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306" name="Straight Arrow Connector 51"/>
            <p:cNvCxnSpPr>
              <a:stCxn id="300" idx="4"/>
              <a:endCxn id="301" idx="0"/>
            </p:cNvCxnSpPr>
            <p:nvPr/>
          </p:nvCxnSpPr>
          <p:spPr>
            <a:xfrm>
              <a:off x="3978000" y="1356120"/>
              <a:ext cx="360" cy="2181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307" name="Rounded Rectangle 14"/>
            <p:cNvSpPr/>
            <p:nvPr/>
          </p:nvSpPr>
          <p:spPr>
            <a:xfrm>
              <a:off x="3697560" y="1909080"/>
              <a:ext cx="561240" cy="142560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28575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7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END</a:t>
              </a:r>
              <a:endParaRPr lang="en-US" sz="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308" name="Straight Arrow Connector 53"/>
            <p:cNvCxnSpPr/>
            <p:nvPr/>
          </p:nvCxnSpPr>
          <p:spPr>
            <a:xfrm>
              <a:off x="3973680" y="1768680"/>
              <a:ext cx="360" cy="13068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309" name="Straight Arrow Connector 54"/>
            <p:cNvCxnSpPr>
              <a:stCxn id="299" idx="4"/>
            </p:cNvCxnSpPr>
            <p:nvPr/>
          </p:nvCxnSpPr>
          <p:spPr>
            <a:xfrm>
              <a:off x="3973680" y="1065600"/>
              <a:ext cx="360" cy="1029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</p:grpSp>
      <p:sp>
        <p:nvSpPr>
          <p:cNvPr id="310" name="Rectangle 4"/>
          <p:cNvSpPr/>
          <p:nvPr/>
        </p:nvSpPr>
        <p:spPr>
          <a:xfrm>
            <a:off x="8591040" y="4929120"/>
            <a:ext cx="376560" cy="307440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11" name="Rectangle 5"/>
          <p:cNvSpPr/>
          <p:nvPr/>
        </p:nvSpPr>
        <p:spPr>
          <a:xfrm>
            <a:off x="8591040" y="5412960"/>
            <a:ext cx="376560" cy="307440"/>
          </a:xfrm>
          <a:prstGeom prst="rect">
            <a:avLst/>
          </a:prstGeom>
          <a:solidFill>
            <a:srgbClr val="FF0000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12" name="Rectangle 26"/>
          <p:cNvSpPr/>
          <p:nvPr/>
        </p:nvSpPr>
        <p:spPr>
          <a:xfrm>
            <a:off x="4052880" y="4379040"/>
            <a:ext cx="1405440" cy="221040"/>
          </a:xfrm>
          <a:prstGeom prst="rect">
            <a:avLst/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13" name="TextBox 27"/>
          <p:cNvSpPr/>
          <p:nvPr/>
        </p:nvSpPr>
        <p:spPr>
          <a:xfrm>
            <a:off x="2728800" y="4334040"/>
            <a:ext cx="140544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BRAZING PART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4" name="TextBox 28"/>
          <p:cNvSpPr/>
          <p:nvPr/>
        </p:nvSpPr>
        <p:spPr>
          <a:xfrm>
            <a:off x="5603040" y="4326840"/>
            <a:ext cx="124092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NAME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5" name="Rectangle 29"/>
          <p:cNvSpPr/>
          <p:nvPr/>
        </p:nvSpPr>
        <p:spPr>
          <a:xfrm>
            <a:off x="6242400" y="4375080"/>
            <a:ext cx="2025720" cy="225000"/>
          </a:xfrm>
          <a:prstGeom prst="rect">
            <a:avLst/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16" name="Rectangle 30"/>
          <p:cNvSpPr/>
          <p:nvPr/>
        </p:nvSpPr>
        <p:spPr>
          <a:xfrm>
            <a:off x="4077360" y="4708800"/>
            <a:ext cx="1405440" cy="221040"/>
          </a:xfrm>
          <a:prstGeom prst="rect">
            <a:avLst/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17" name="TextBox 55"/>
          <p:cNvSpPr/>
          <p:nvPr/>
        </p:nvSpPr>
        <p:spPr>
          <a:xfrm>
            <a:off x="2753640" y="4663800"/>
            <a:ext cx="140544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BRAZING PART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Box 62"/>
          <p:cNvSpPr/>
          <p:nvPr/>
        </p:nvSpPr>
        <p:spPr>
          <a:xfrm>
            <a:off x="5627880" y="4656960"/>
            <a:ext cx="124092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NAME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Rectangle 192"/>
          <p:cNvSpPr/>
          <p:nvPr/>
        </p:nvSpPr>
        <p:spPr>
          <a:xfrm>
            <a:off x="6266880" y="4704840"/>
            <a:ext cx="2025720" cy="225000"/>
          </a:xfrm>
          <a:prstGeom prst="rect">
            <a:avLst/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20" name="Rectangle 193"/>
          <p:cNvSpPr/>
          <p:nvPr/>
        </p:nvSpPr>
        <p:spPr>
          <a:xfrm>
            <a:off x="4052880" y="5040360"/>
            <a:ext cx="1405440" cy="221040"/>
          </a:xfrm>
          <a:prstGeom prst="rect">
            <a:avLst/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21" name="TextBox 194"/>
          <p:cNvSpPr/>
          <p:nvPr/>
        </p:nvSpPr>
        <p:spPr>
          <a:xfrm>
            <a:off x="2728800" y="4995360"/>
            <a:ext cx="140544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BRAZING PART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Box 195"/>
          <p:cNvSpPr/>
          <p:nvPr/>
        </p:nvSpPr>
        <p:spPr>
          <a:xfrm>
            <a:off x="5603040" y="4988520"/>
            <a:ext cx="124092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NAME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Rectangle 196"/>
          <p:cNvSpPr/>
          <p:nvPr/>
        </p:nvSpPr>
        <p:spPr>
          <a:xfrm>
            <a:off x="6242400" y="5036400"/>
            <a:ext cx="2025720" cy="225000"/>
          </a:xfrm>
          <a:prstGeom prst="rect">
            <a:avLst/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24" name="Rectangle 197"/>
          <p:cNvSpPr/>
          <p:nvPr/>
        </p:nvSpPr>
        <p:spPr>
          <a:xfrm>
            <a:off x="4101840" y="5416920"/>
            <a:ext cx="1405440" cy="221040"/>
          </a:xfrm>
          <a:prstGeom prst="rect">
            <a:avLst/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25" name="TextBox 198"/>
          <p:cNvSpPr/>
          <p:nvPr/>
        </p:nvSpPr>
        <p:spPr>
          <a:xfrm>
            <a:off x="2778120" y="5371920"/>
            <a:ext cx="140544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BRAZING PART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Box 199"/>
          <p:cNvSpPr/>
          <p:nvPr/>
        </p:nvSpPr>
        <p:spPr>
          <a:xfrm>
            <a:off x="5652360" y="5365080"/>
            <a:ext cx="124092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NAME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Rectangle 200"/>
          <p:cNvSpPr/>
          <p:nvPr/>
        </p:nvSpPr>
        <p:spPr>
          <a:xfrm>
            <a:off x="6291720" y="5412960"/>
            <a:ext cx="2025720" cy="225000"/>
          </a:xfrm>
          <a:prstGeom prst="rect">
            <a:avLst/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28" name="Rectangle 201"/>
          <p:cNvSpPr/>
          <p:nvPr/>
        </p:nvSpPr>
        <p:spPr>
          <a:xfrm>
            <a:off x="4101840" y="5742360"/>
            <a:ext cx="1405440" cy="221040"/>
          </a:xfrm>
          <a:prstGeom prst="rect">
            <a:avLst/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29" name="TextBox 202"/>
          <p:cNvSpPr/>
          <p:nvPr/>
        </p:nvSpPr>
        <p:spPr>
          <a:xfrm>
            <a:off x="2778120" y="5697000"/>
            <a:ext cx="140544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BRAZING PART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Box 203"/>
          <p:cNvSpPr/>
          <p:nvPr/>
        </p:nvSpPr>
        <p:spPr>
          <a:xfrm>
            <a:off x="5652360" y="5690160"/>
            <a:ext cx="124092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NAME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Rectangle 204"/>
          <p:cNvSpPr/>
          <p:nvPr/>
        </p:nvSpPr>
        <p:spPr>
          <a:xfrm>
            <a:off x="6291720" y="5738400"/>
            <a:ext cx="2025720" cy="225000"/>
          </a:xfrm>
          <a:prstGeom prst="rect">
            <a:avLst/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Rectangle 205"/>
          <p:cNvSpPr/>
          <p:nvPr/>
        </p:nvSpPr>
        <p:spPr>
          <a:xfrm>
            <a:off x="1143000" y="8640"/>
            <a:ext cx="9905760" cy="308880"/>
          </a:xfrm>
          <a:prstGeom prst="rect">
            <a:avLst/>
          </a:prstGeom>
          <a:solidFill>
            <a:schemeClr val="accent1"/>
          </a:solidFill>
          <a:ln w="28575">
            <a:solidFill>
              <a:srgbClr val="00000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PH" sz="195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LINE AUTOMATION PROPOSAL</a:t>
            </a:r>
            <a:endParaRPr lang="en-US" sz="1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333" name="Straight Arrow Connector 10"/>
          <p:cNvCxnSpPr/>
          <p:nvPr/>
        </p:nvCxnSpPr>
        <p:spPr>
          <a:xfrm>
            <a:off x="2047320" y="2007000"/>
            <a:ext cx="3296880" cy="1431360"/>
          </a:xfrm>
          <a:prstGeom prst="straightConnector1">
            <a:avLst/>
          </a:prstGeom>
          <a:ln>
            <a:solidFill>
              <a:srgbClr val="FF0000"/>
            </a:solidFill>
            <a:tailEnd len="med" type="triangle" w="med"/>
          </a:ln>
        </p:spPr>
      </p:cxnSp>
      <p:sp>
        <p:nvSpPr>
          <p:cNvPr id="334" name="Rectangle 19"/>
          <p:cNvSpPr/>
          <p:nvPr/>
        </p:nvSpPr>
        <p:spPr>
          <a:xfrm>
            <a:off x="2753640" y="3614400"/>
            <a:ext cx="6487560" cy="2500200"/>
          </a:xfrm>
          <a:prstGeom prst="rect">
            <a:avLst/>
          </a:prstGeom>
          <a:solidFill>
            <a:schemeClr val="bg2"/>
          </a:solidFill>
          <a:ln w="57150">
            <a:solidFill>
              <a:srgbClr val="4EA72E">
                <a:lumMod val="40000"/>
                <a:lumOff val="60000"/>
              </a:srgb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35" name="TextBox 3"/>
          <p:cNvSpPr/>
          <p:nvPr/>
        </p:nvSpPr>
        <p:spPr>
          <a:xfrm>
            <a:off x="2753640" y="3666240"/>
            <a:ext cx="422424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Scan Model and Get Gas Charge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Rectangle 7"/>
          <p:cNvSpPr/>
          <p:nvPr/>
        </p:nvSpPr>
        <p:spPr>
          <a:xfrm>
            <a:off x="4420440" y="4045680"/>
            <a:ext cx="2724480" cy="307440"/>
          </a:xfrm>
          <a:prstGeom prst="rect">
            <a:avLst/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37" name="Rectangle 11"/>
          <p:cNvSpPr/>
          <p:nvPr/>
        </p:nvSpPr>
        <p:spPr>
          <a:xfrm>
            <a:off x="4420440" y="4503960"/>
            <a:ext cx="2724480" cy="307440"/>
          </a:xfrm>
          <a:prstGeom prst="rect">
            <a:avLst/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38" name="Rectangle 13"/>
          <p:cNvSpPr/>
          <p:nvPr/>
        </p:nvSpPr>
        <p:spPr>
          <a:xfrm>
            <a:off x="4982400" y="4949280"/>
            <a:ext cx="1600560" cy="318960"/>
          </a:xfrm>
          <a:prstGeom prst="rect">
            <a:avLst/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39" name="TextBox 15"/>
          <p:cNvSpPr/>
          <p:nvPr/>
        </p:nvSpPr>
        <p:spPr>
          <a:xfrm>
            <a:off x="2920680" y="4058280"/>
            <a:ext cx="119124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MODEL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TextBox 16"/>
          <p:cNvSpPr/>
          <p:nvPr/>
        </p:nvSpPr>
        <p:spPr>
          <a:xfrm>
            <a:off x="2920680" y="4503960"/>
            <a:ext cx="422424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SERIAL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Box 21"/>
          <p:cNvSpPr/>
          <p:nvPr/>
        </p:nvSpPr>
        <p:spPr>
          <a:xfrm>
            <a:off x="2920680" y="4939200"/>
            <a:ext cx="126648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GET GAS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42" name="Group 30"/>
          <p:cNvGrpSpPr/>
          <p:nvPr/>
        </p:nvGrpSpPr>
        <p:grpSpPr>
          <a:xfrm>
            <a:off x="1461960" y="788760"/>
            <a:ext cx="5013360" cy="1824480"/>
            <a:chOff x="1461960" y="788760"/>
            <a:chExt cx="5013360" cy="1824480"/>
          </a:xfrm>
        </p:grpSpPr>
        <p:sp>
          <p:nvSpPr>
            <p:cNvPr id="343" name="Rounded Rectangle 14"/>
            <p:cNvSpPr/>
            <p:nvPr/>
          </p:nvSpPr>
          <p:spPr>
            <a:xfrm>
              <a:off x="1555920" y="788760"/>
              <a:ext cx="561240" cy="142560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28575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7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START</a:t>
              </a:r>
              <a:endParaRPr lang="en-US" sz="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44" name="Rounded Rectangle 126"/>
            <p:cNvSpPr/>
            <p:nvPr/>
          </p:nvSpPr>
          <p:spPr>
            <a:xfrm>
              <a:off x="1473120" y="1257480"/>
              <a:ext cx="726480" cy="212760"/>
            </a:xfrm>
            <a:prstGeom prst="parallelogram">
              <a:avLst>
                <a:gd name="adj" fmla="val 25000"/>
              </a:avLst>
            </a:prstGeom>
            <a:solidFill>
              <a:srgbClr val="FF000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1: FAN MOTOR &amp; COMPRESSOR RECORDING and CHECKING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45" name="Rounded Rectangle 17"/>
            <p:cNvSpPr/>
            <p:nvPr/>
          </p:nvSpPr>
          <p:spPr>
            <a:xfrm>
              <a:off x="1582200" y="1600200"/>
              <a:ext cx="507960" cy="142560"/>
            </a:xfrm>
            <a:prstGeom prst="parallelogram">
              <a:avLst>
                <a:gd name="adj" fmla="val 25000"/>
              </a:avLst>
            </a:prstGeom>
            <a:solidFill>
              <a:srgbClr val="FFC00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1: AIRTIGHT TEST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346" name="Straight Arrow Connector 34"/>
            <p:cNvCxnSpPr>
              <a:stCxn id="344" idx="4"/>
              <a:endCxn id="345" idx="0"/>
            </p:cNvCxnSpPr>
            <p:nvPr/>
          </p:nvCxnSpPr>
          <p:spPr>
            <a:xfrm>
              <a:off x="1836360" y="1470240"/>
              <a:ext cx="360" cy="13032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347" name="Rounded Rectangle 126"/>
            <p:cNvSpPr/>
            <p:nvPr/>
          </p:nvSpPr>
          <p:spPr>
            <a:xfrm>
              <a:off x="1461960" y="1012320"/>
              <a:ext cx="748440" cy="142560"/>
            </a:xfrm>
            <a:prstGeom prst="roundRect">
              <a:avLst>
                <a:gd name="adj" fmla="val 0"/>
              </a:avLst>
            </a:prstGeom>
            <a:solidFill>
              <a:schemeClr val="bg2">
                <a:lumMod val="50000"/>
              </a:schemeClr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SCAN FOR MODEL THAT WILL BE IN PRODUCTION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348" name="Straight Arrow Connector 36"/>
            <p:cNvCxnSpPr>
              <a:stCxn id="347" idx="2"/>
              <a:endCxn id="344" idx="0"/>
            </p:cNvCxnSpPr>
            <p:nvPr/>
          </p:nvCxnSpPr>
          <p:spPr>
            <a:xfrm>
              <a:off x="1836360" y="1154880"/>
              <a:ext cx="360" cy="1029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349" name="Straight Arrow Connector 37"/>
            <p:cNvCxnSpPr>
              <a:stCxn id="343" idx="2"/>
              <a:endCxn id="347" idx="0"/>
            </p:cNvCxnSpPr>
            <p:nvPr/>
          </p:nvCxnSpPr>
          <p:spPr>
            <a:xfrm flipH="1">
              <a:off x="1836360" y="931320"/>
              <a:ext cx="720" cy="813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350" name="Rounded Rectangle 17"/>
            <p:cNvSpPr/>
            <p:nvPr/>
          </p:nvSpPr>
          <p:spPr>
            <a:xfrm>
              <a:off x="1558800" y="1872720"/>
              <a:ext cx="507960" cy="142560"/>
            </a:xfrm>
            <a:prstGeom prst="parallelogram">
              <a:avLst>
                <a:gd name="adj" fmla="val 25000"/>
              </a:avLst>
            </a:prstGeom>
            <a:solidFill>
              <a:srgbClr val="FFFF0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2: GAS CHARGING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51" name="Rounded Rectangle 17"/>
            <p:cNvSpPr/>
            <p:nvPr/>
          </p:nvSpPr>
          <p:spPr>
            <a:xfrm>
              <a:off x="1473120" y="212292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rgbClr val="00B05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4: CONTROL BOARD &amp; OUTDOOR PCB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352" name="Straight Arrow Connector 40"/>
            <p:cNvCxnSpPr>
              <a:stCxn id="345" idx="4"/>
              <a:endCxn id="350" idx="1"/>
            </p:cNvCxnSpPr>
            <p:nvPr/>
          </p:nvCxnSpPr>
          <p:spPr>
            <a:xfrm flipH="1">
              <a:off x="1830600" y="1742760"/>
              <a:ext cx="6120" cy="13032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353" name="Straight Arrow Connector 41"/>
            <p:cNvCxnSpPr>
              <a:stCxn id="350" idx="4"/>
              <a:endCxn id="351" idx="1"/>
            </p:cNvCxnSpPr>
            <p:nvPr/>
          </p:nvCxnSpPr>
          <p:spPr>
            <a:xfrm flipH="1">
              <a:off x="1805760" y="2015280"/>
              <a:ext cx="7560" cy="10800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354" name="Rounded Rectangle 17"/>
            <p:cNvSpPr/>
            <p:nvPr/>
          </p:nvSpPr>
          <p:spPr>
            <a:xfrm>
              <a:off x="1473120" y="241776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rgbClr val="00B0F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2: WIRING AND CONSTRUCTION INSPECTION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55" name="Rounded Rectangle 17"/>
            <p:cNvSpPr/>
            <p:nvPr/>
          </p:nvSpPr>
          <p:spPr>
            <a:xfrm>
              <a:off x="3665520" y="87012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chemeClr val="accent6">
                <a:lumMod val="75000"/>
              </a:schemeClr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: RUNNING INSPECTION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56" name="Rounded Rectangle 17"/>
            <p:cNvSpPr/>
            <p:nvPr/>
          </p:nvSpPr>
          <p:spPr>
            <a:xfrm>
              <a:off x="3669840" y="116064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chemeClr val="accent6">
                <a:lumMod val="40000"/>
                <a:lumOff val="60000"/>
              </a:schemeClr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5: FINAL INSPECTION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57" name="Rounded Rectangle 17"/>
            <p:cNvSpPr/>
            <p:nvPr/>
          </p:nvSpPr>
          <p:spPr>
            <a:xfrm>
              <a:off x="3669840" y="157392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chemeClr val="accent2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5: PACKAGING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358" name="Straight Arrow Connector 46"/>
            <p:cNvCxnSpPr/>
            <p:nvPr/>
          </p:nvCxnSpPr>
          <p:spPr>
            <a:xfrm>
              <a:off x="1812960" y="2318400"/>
              <a:ext cx="360" cy="10728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359" name="Rounded Rectangle 17"/>
            <p:cNvSpPr/>
            <p:nvPr/>
          </p:nvSpPr>
          <p:spPr>
            <a:xfrm>
              <a:off x="2571480" y="213228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rgbClr val="92D05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3: INDOOR CONTROL BOARD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360" name="Straight Arrow Connector 48"/>
            <p:cNvCxnSpPr/>
            <p:nvPr/>
          </p:nvCxnSpPr>
          <p:spPr>
            <a:xfrm flipH="1">
              <a:off x="2058120" y="2235960"/>
              <a:ext cx="540720" cy="3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361" name="Elbow Connector 175"/>
            <p:cNvCxnSpPr>
              <a:stCxn id="354" idx="2"/>
              <a:endCxn id="355" idx="1"/>
            </p:cNvCxnSpPr>
            <p:nvPr/>
          </p:nvCxnSpPr>
          <p:spPr>
            <a:xfrm flipV="1">
              <a:off x="2065320" y="870120"/>
              <a:ext cx="1933200" cy="1645920"/>
            </a:xfrm>
            <a:prstGeom prst="bentConnector4">
              <a:avLst>
                <a:gd name="adj1" fmla="val 228161"/>
                <a:gd name="adj2" fmla="val 76132"/>
              </a:avLst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362" name="Straight Arrow Connector 50"/>
            <p:cNvCxnSpPr>
              <a:stCxn id="356" idx="4"/>
              <a:endCxn id="357" idx="0"/>
            </p:cNvCxnSpPr>
            <p:nvPr/>
          </p:nvCxnSpPr>
          <p:spPr>
            <a:xfrm>
              <a:off x="3978000" y="1356120"/>
              <a:ext cx="360" cy="2181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363" name="Rounded Rectangle 14"/>
            <p:cNvSpPr/>
            <p:nvPr/>
          </p:nvSpPr>
          <p:spPr>
            <a:xfrm>
              <a:off x="3697560" y="1909080"/>
              <a:ext cx="561240" cy="142560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28575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7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END</a:t>
              </a:r>
              <a:endParaRPr lang="en-US" sz="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364" name="Straight Arrow Connector 52"/>
            <p:cNvCxnSpPr/>
            <p:nvPr/>
          </p:nvCxnSpPr>
          <p:spPr>
            <a:xfrm>
              <a:off x="3973680" y="1768680"/>
              <a:ext cx="360" cy="13068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365" name="Straight Arrow Connector 53"/>
            <p:cNvCxnSpPr>
              <a:stCxn id="355" idx="4"/>
            </p:cNvCxnSpPr>
            <p:nvPr/>
          </p:nvCxnSpPr>
          <p:spPr>
            <a:xfrm>
              <a:off x="3973680" y="1065600"/>
              <a:ext cx="360" cy="1029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</p:grpSp>
      <p:sp>
        <p:nvSpPr>
          <p:cNvPr id="366" name="Rectangle 54"/>
          <p:cNvSpPr/>
          <p:nvPr/>
        </p:nvSpPr>
        <p:spPr>
          <a:xfrm>
            <a:off x="8079840" y="4045680"/>
            <a:ext cx="376560" cy="307440"/>
          </a:xfrm>
          <a:prstGeom prst="rect">
            <a:avLst/>
          </a:prstGeom>
          <a:solidFill>
            <a:srgbClr val="FF0000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67" name="Rectangle 55"/>
          <p:cNvSpPr/>
          <p:nvPr/>
        </p:nvSpPr>
        <p:spPr>
          <a:xfrm>
            <a:off x="8079840" y="4529520"/>
            <a:ext cx="376560" cy="307440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68" name="Rectangle 56"/>
          <p:cNvSpPr/>
          <p:nvPr/>
        </p:nvSpPr>
        <p:spPr>
          <a:xfrm>
            <a:off x="8079840" y="5013720"/>
            <a:ext cx="376560" cy="307440"/>
          </a:xfrm>
          <a:prstGeom prst="rect">
            <a:avLst/>
          </a:prstGeom>
          <a:solidFill>
            <a:schemeClr val="accent3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Rectangle 205"/>
          <p:cNvSpPr/>
          <p:nvPr/>
        </p:nvSpPr>
        <p:spPr>
          <a:xfrm>
            <a:off x="1143000" y="8640"/>
            <a:ext cx="9905760" cy="308880"/>
          </a:xfrm>
          <a:prstGeom prst="rect">
            <a:avLst/>
          </a:prstGeom>
          <a:solidFill>
            <a:schemeClr val="accent1"/>
          </a:solidFill>
          <a:ln w="28575">
            <a:solidFill>
              <a:srgbClr val="00000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PH" sz="195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LINE AUTOMATION PROPOSAL</a:t>
            </a:r>
            <a:endParaRPr lang="en-US" sz="1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370" name="Straight Arrow Connector 10"/>
          <p:cNvCxnSpPr/>
          <p:nvPr/>
        </p:nvCxnSpPr>
        <p:spPr>
          <a:xfrm>
            <a:off x="2047320" y="2007000"/>
            <a:ext cx="3296880" cy="1431360"/>
          </a:xfrm>
          <a:prstGeom prst="straightConnector1">
            <a:avLst/>
          </a:prstGeom>
          <a:ln>
            <a:solidFill>
              <a:srgbClr val="FF0000"/>
            </a:solidFill>
            <a:tailEnd len="med" type="triangle" w="med"/>
          </a:ln>
        </p:spPr>
      </p:cxnSp>
      <p:sp>
        <p:nvSpPr>
          <p:cNvPr id="371" name="Rectangle 19"/>
          <p:cNvSpPr/>
          <p:nvPr/>
        </p:nvSpPr>
        <p:spPr>
          <a:xfrm>
            <a:off x="2753640" y="3614400"/>
            <a:ext cx="6487560" cy="2500200"/>
          </a:xfrm>
          <a:prstGeom prst="rect">
            <a:avLst/>
          </a:prstGeom>
          <a:solidFill>
            <a:schemeClr val="bg2"/>
          </a:solidFill>
          <a:ln w="57150">
            <a:solidFill>
              <a:srgbClr val="4EA72E">
                <a:lumMod val="40000"/>
                <a:lumOff val="60000"/>
              </a:srgb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72" name="Rectangle 25"/>
          <p:cNvSpPr/>
          <p:nvPr/>
        </p:nvSpPr>
        <p:spPr>
          <a:xfrm>
            <a:off x="8079840" y="4045680"/>
            <a:ext cx="376560" cy="307440"/>
          </a:xfrm>
          <a:prstGeom prst="rect">
            <a:avLst/>
          </a:prstGeom>
          <a:solidFill>
            <a:schemeClr val="accent3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73" name="Rectangle 27"/>
          <p:cNvSpPr/>
          <p:nvPr/>
        </p:nvSpPr>
        <p:spPr>
          <a:xfrm>
            <a:off x="8079840" y="4529520"/>
            <a:ext cx="376560" cy="307440"/>
          </a:xfrm>
          <a:prstGeom prst="rect">
            <a:avLst/>
          </a:prstGeom>
          <a:solidFill>
            <a:srgbClr val="FF0000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374" name="Rectangle 28"/>
          <p:cNvSpPr/>
          <p:nvPr/>
        </p:nvSpPr>
        <p:spPr>
          <a:xfrm>
            <a:off x="8079840" y="5013720"/>
            <a:ext cx="376560" cy="307440"/>
          </a:xfrm>
          <a:prstGeom prst="rect">
            <a:avLst/>
          </a:prstGeom>
          <a:solidFill>
            <a:schemeClr val="accent3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graphicFrame>
        <p:nvGraphicFramePr>
          <p:cNvPr id="375" name="Table 1"/>
          <p:cNvGraphicFramePr/>
          <p:nvPr/>
        </p:nvGraphicFramePr>
        <p:xfrm>
          <a:off x="2928600" y="3933720"/>
          <a:ext cx="4975560" cy="1955520"/>
        </p:xfrm>
        <a:graphic>
          <a:graphicData uri="http://schemas.openxmlformats.org/drawingml/2006/table">
            <a:tbl>
              <a:tblPr/>
              <a:tblGrid>
                <a:gridCol w="1123560"/>
                <a:gridCol w="1026000"/>
                <a:gridCol w="914400"/>
                <a:gridCol w="941040"/>
                <a:gridCol w="970200"/>
              </a:tblGrid>
              <a:tr h="182880"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Sequence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Model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Serial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Time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Gas Charge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182880"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182880"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182880"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182880"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182880"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182880"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grpSp>
        <p:nvGrpSpPr>
          <p:cNvPr id="376" name="Group 7"/>
          <p:cNvGrpSpPr/>
          <p:nvPr/>
        </p:nvGrpSpPr>
        <p:grpSpPr>
          <a:xfrm>
            <a:off x="1461960" y="788760"/>
            <a:ext cx="5013360" cy="1824480"/>
            <a:chOff x="1461960" y="788760"/>
            <a:chExt cx="5013360" cy="1824480"/>
          </a:xfrm>
        </p:grpSpPr>
        <p:sp>
          <p:nvSpPr>
            <p:cNvPr id="377" name="Rounded Rectangle 14"/>
            <p:cNvSpPr/>
            <p:nvPr/>
          </p:nvSpPr>
          <p:spPr>
            <a:xfrm>
              <a:off x="1555920" y="788760"/>
              <a:ext cx="561240" cy="142560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28575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7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START</a:t>
              </a:r>
              <a:endParaRPr lang="en-US" sz="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78" name="Rounded Rectangle 126"/>
            <p:cNvSpPr/>
            <p:nvPr/>
          </p:nvSpPr>
          <p:spPr>
            <a:xfrm>
              <a:off x="1473120" y="1257480"/>
              <a:ext cx="726480" cy="212760"/>
            </a:xfrm>
            <a:prstGeom prst="parallelogram">
              <a:avLst>
                <a:gd name="adj" fmla="val 25000"/>
              </a:avLst>
            </a:prstGeom>
            <a:solidFill>
              <a:srgbClr val="FF000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1: FAN MOTOR &amp; COMPRESSOR RECORDING and CHECKING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79" name="Rounded Rectangle 17"/>
            <p:cNvSpPr/>
            <p:nvPr/>
          </p:nvSpPr>
          <p:spPr>
            <a:xfrm>
              <a:off x="1582200" y="1600200"/>
              <a:ext cx="507960" cy="142560"/>
            </a:xfrm>
            <a:prstGeom prst="parallelogram">
              <a:avLst>
                <a:gd name="adj" fmla="val 25000"/>
              </a:avLst>
            </a:prstGeom>
            <a:solidFill>
              <a:srgbClr val="FFC00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1: AIRTIGHT TEST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380" name="Straight Arrow Connector 15"/>
            <p:cNvCxnSpPr>
              <a:stCxn id="378" idx="4"/>
              <a:endCxn id="379" idx="0"/>
            </p:cNvCxnSpPr>
            <p:nvPr/>
          </p:nvCxnSpPr>
          <p:spPr>
            <a:xfrm>
              <a:off x="1836360" y="1470240"/>
              <a:ext cx="360" cy="13032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381" name="Rounded Rectangle 126"/>
            <p:cNvSpPr/>
            <p:nvPr/>
          </p:nvSpPr>
          <p:spPr>
            <a:xfrm>
              <a:off x="1461960" y="1012320"/>
              <a:ext cx="748440" cy="142560"/>
            </a:xfrm>
            <a:prstGeom prst="roundRect">
              <a:avLst>
                <a:gd name="adj" fmla="val 0"/>
              </a:avLst>
            </a:prstGeom>
            <a:solidFill>
              <a:schemeClr val="bg2">
                <a:lumMod val="50000"/>
              </a:schemeClr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SCAN FOR MODEL THAT WILL BE IN PRODUCTION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382" name="Straight Arrow Connector 21"/>
            <p:cNvCxnSpPr>
              <a:stCxn id="381" idx="2"/>
              <a:endCxn id="378" idx="0"/>
            </p:cNvCxnSpPr>
            <p:nvPr/>
          </p:nvCxnSpPr>
          <p:spPr>
            <a:xfrm>
              <a:off x="1836360" y="1154880"/>
              <a:ext cx="360" cy="1029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383" name="Straight Arrow Connector 22"/>
            <p:cNvCxnSpPr>
              <a:stCxn id="377" idx="2"/>
              <a:endCxn id="381" idx="0"/>
            </p:cNvCxnSpPr>
            <p:nvPr/>
          </p:nvCxnSpPr>
          <p:spPr>
            <a:xfrm flipH="1">
              <a:off x="1836360" y="931320"/>
              <a:ext cx="720" cy="813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384" name="Rounded Rectangle 17"/>
            <p:cNvSpPr/>
            <p:nvPr/>
          </p:nvSpPr>
          <p:spPr>
            <a:xfrm>
              <a:off x="1558800" y="1872720"/>
              <a:ext cx="507960" cy="142560"/>
            </a:xfrm>
            <a:prstGeom prst="parallelogram">
              <a:avLst>
                <a:gd name="adj" fmla="val 25000"/>
              </a:avLst>
            </a:prstGeom>
            <a:solidFill>
              <a:srgbClr val="FFFF0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2: GAS CHARGING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85" name="Rounded Rectangle 17"/>
            <p:cNvSpPr/>
            <p:nvPr/>
          </p:nvSpPr>
          <p:spPr>
            <a:xfrm>
              <a:off x="1473120" y="212292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rgbClr val="00B05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4: CONTROL BOARD &amp; OUTDOOR PCB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386" name="Straight Arrow Connector 31"/>
            <p:cNvCxnSpPr>
              <a:stCxn id="379" idx="4"/>
              <a:endCxn id="384" idx="1"/>
            </p:cNvCxnSpPr>
            <p:nvPr/>
          </p:nvCxnSpPr>
          <p:spPr>
            <a:xfrm flipH="1">
              <a:off x="1830600" y="1742760"/>
              <a:ext cx="6120" cy="13032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387" name="Straight Arrow Connector 32"/>
            <p:cNvCxnSpPr>
              <a:stCxn id="384" idx="4"/>
              <a:endCxn id="385" idx="1"/>
            </p:cNvCxnSpPr>
            <p:nvPr/>
          </p:nvCxnSpPr>
          <p:spPr>
            <a:xfrm flipH="1">
              <a:off x="1805760" y="2015280"/>
              <a:ext cx="7560" cy="10800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388" name="Rounded Rectangle 17"/>
            <p:cNvSpPr/>
            <p:nvPr/>
          </p:nvSpPr>
          <p:spPr>
            <a:xfrm>
              <a:off x="1473120" y="241776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rgbClr val="00B0F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2: WIRING AND CONSTRUCTION INSPECTION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89" name="Rounded Rectangle 17"/>
            <p:cNvSpPr/>
            <p:nvPr/>
          </p:nvSpPr>
          <p:spPr>
            <a:xfrm>
              <a:off x="3665520" y="87012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chemeClr val="accent6">
                <a:lumMod val="75000"/>
              </a:schemeClr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: RUNNING INSPECTION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90" name="Rounded Rectangle 17"/>
            <p:cNvSpPr/>
            <p:nvPr/>
          </p:nvSpPr>
          <p:spPr>
            <a:xfrm>
              <a:off x="3669840" y="116064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chemeClr val="accent6">
                <a:lumMod val="40000"/>
                <a:lumOff val="60000"/>
              </a:schemeClr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5: FINAL INSPECTION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91" name="Rounded Rectangle 17"/>
            <p:cNvSpPr/>
            <p:nvPr/>
          </p:nvSpPr>
          <p:spPr>
            <a:xfrm>
              <a:off x="3669840" y="157392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chemeClr val="accent2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5: PACKAGING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392" name="Straight Arrow Connector 37"/>
            <p:cNvCxnSpPr/>
            <p:nvPr/>
          </p:nvCxnSpPr>
          <p:spPr>
            <a:xfrm>
              <a:off x="1812960" y="2318400"/>
              <a:ext cx="360" cy="10728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393" name="Rounded Rectangle 17"/>
            <p:cNvSpPr/>
            <p:nvPr/>
          </p:nvSpPr>
          <p:spPr>
            <a:xfrm>
              <a:off x="2571480" y="213228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rgbClr val="92D05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3: INDOOR CONTROL BOARD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394" name="Straight Arrow Connector 39"/>
            <p:cNvCxnSpPr/>
            <p:nvPr/>
          </p:nvCxnSpPr>
          <p:spPr>
            <a:xfrm flipH="1">
              <a:off x="2058120" y="2235960"/>
              <a:ext cx="540720" cy="3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395" name="Elbow Connector 175"/>
            <p:cNvCxnSpPr>
              <a:stCxn id="388" idx="2"/>
              <a:endCxn id="389" idx="1"/>
            </p:cNvCxnSpPr>
            <p:nvPr/>
          </p:nvCxnSpPr>
          <p:spPr>
            <a:xfrm flipV="1">
              <a:off x="2065320" y="870120"/>
              <a:ext cx="1933200" cy="1645920"/>
            </a:xfrm>
            <a:prstGeom prst="bentConnector4">
              <a:avLst>
                <a:gd name="adj1" fmla="val 228161"/>
                <a:gd name="adj2" fmla="val 76132"/>
              </a:avLst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396" name="Straight Arrow Connector 41"/>
            <p:cNvCxnSpPr>
              <a:stCxn id="390" idx="4"/>
              <a:endCxn id="391" idx="0"/>
            </p:cNvCxnSpPr>
            <p:nvPr/>
          </p:nvCxnSpPr>
          <p:spPr>
            <a:xfrm>
              <a:off x="3978000" y="1356120"/>
              <a:ext cx="360" cy="2181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397" name="Rounded Rectangle 14"/>
            <p:cNvSpPr/>
            <p:nvPr/>
          </p:nvSpPr>
          <p:spPr>
            <a:xfrm>
              <a:off x="3697560" y="1909080"/>
              <a:ext cx="561240" cy="142560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28575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7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END</a:t>
              </a:r>
              <a:endParaRPr lang="en-US" sz="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398" name="Straight Arrow Connector 43"/>
            <p:cNvCxnSpPr/>
            <p:nvPr/>
          </p:nvCxnSpPr>
          <p:spPr>
            <a:xfrm>
              <a:off x="3973680" y="1768680"/>
              <a:ext cx="360" cy="13068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399" name="Straight Arrow Connector 44"/>
            <p:cNvCxnSpPr>
              <a:stCxn id="389" idx="4"/>
            </p:cNvCxnSpPr>
            <p:nvPr/>
          </p:nvCxnSpPr>
          <p:spPr>
            <a:xfrm>
              <a:off x="3973680" y="1065600"/>
              <a:ext cx="360" cy="1029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Rectangle 205"/>
          <p:cNvSpPr/>
          <p:nvPr/>
        </p:nvSpPr>
        <p:spPr>
          <a:xfrm>
            <a:off x="1143000" y="8640"/>
            <a:ext cx="9905760" cy="308880"/>
          </a:xfrm>
          <a:prstGeom prst="rect">
            <a:avLst/>
          </a:prstGeom>
          <a:solidFill>
            <a:schemeClr val="accent1"/>
          </a:solidFill>
          <a:ln w="28575">
            <a:solidFill>
              <a:srgbClr val="00000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PH" sz="195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LINE AUTOMATION PROPOSAL</a:t>
            </a:r>
            <a:endParaRPr lang="en-US" sz="1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401" name="Straight Arrow Connector 10"/>
          <p:cNvCxnSpPr/>
          <p:nvPr/>
        </p:nvCxnSpPr>
        <p:spPr>
          <a:xfrm>
            <a:off x="2047320" y="2007000"/>
            <a:ext cx="3296880" cy="1431360"/>
          </a:xfrm>
          <a:prstGeom prst="straightConnector1">
            <a:avLst/>
          </a:prstGeom>
          <a:ln>
            <a:solidFill>
              <a:srgbClr val="FF0000"/>
            </a:solidFill>
            <a:tailEnd len="med" type="triangle" w="med"/>
          </a:ln>
        </p:spPr>
      </p:cxnSp>
      <p:sp>
        <p:nvSpPr>
          <p:cNvPr id="402" name="Rectangle 19"/>
          <p:cNvSpPr/>
          <p:nvPr/>
        </p:nvSpPr>
        <p:spPr>
          <a:xfrm>
            <a:off x="2753640" y="3614400"/>
            <a:ext cx="6487560" cy="2500200"/>
          </a:xfrm>
          <a:prstGeom prst="rect">
            <a:avLst/>
          </a:prstGeom>
          <a:solidFill>
            <a:schemeClr val="bg2"/>
          </a:solidFill>
          <a:ln w="57150">
            <a:solidFill>
              <a:srgbClr val="4EA72E">
                <a:lumMod val="40000"/>
                <a:lumOff val="60000"/>
              </a:srgb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graphicFrame>
        <p:nvGraphicFramePr>
          <p:cNvPr id="403" name="Table 1"/>
          <p:cNvGraphicFramePr/>
          <p:nvPr/>
        </p:nvGraphicFramePr>
        <p:xfrm>
          <a:off x="2975040" y="3933720"/>
          <a:ext cx="4466160" cy="1955520"/>
        </p:xfrm>
        <a:graphic>
          <a:graphicData uri="http://schemas.openxmlformats.org/drawingml/2006/table">
            <a:tbl>
              <a:tblPr/>
              <a:tblGrid>
                <a:gridCol w="1252800"/>
                <a:gridCol w="1144080"/>
                <a:gridCol w="1019520"/>
                <a:gridCol w="1049040"/>
              </a:tblGrid>
              <a:tr h="182880"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Model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Plan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Act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Variance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182880"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182880"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182880"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182880"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182880"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182880"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grpSp>
        <p:nvGrpSpPr>
          <p:cNvPr id="404" name="Group 7"/>
          <p:cNvGrpSpPr/>
          <p:nvPr/>
        </p:nvGrpSpPr>
        <p:grpSpPr>
          <a:xfrm>
            <a:off x="1461960" y="788760"/>
            <a:ext cx="5013360" cy="1824480"/>
            <a:chOff x="1461960" y="788760"/>
            <a:chExt cx="5013360" cy="1824480"/>
          </a:xfrm>
        </p:grpSpPr>
        <p:sp>
          <p:nvSpPr>
            <p:cNvPr id="405" name="Rounded Rectangle 14"/>
            <p:cNvSpPr/>
            <p:nvPr/>
          </p:nvSpPr>
          <p:spPr>
            <a:xfrm>
              <a:off x="1555920" y="788760"/>
              <a:ext cx="561240" cy="142560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28575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7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START</a:t>
              </a:r>
              <a:endParaRPr lang="en-US" sz="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06" name="Rounded Rectangle 126"/>
            <p:cNvSpPr/>
            <p:nvPr/>
          </p:nvSpPr>
          <p:spPr>
            <a:xfrm>
              <a:off x="1473120" y="1257480"/>
              <a:ext cx="726480" cy="212760"/>
            </a:xfrm>
            <a:prstGeom prst="parallelogram">
              <a:avLst>
                <a:gd name="adj" fmla="val 25000"/>
              </a:avLst>
            </a:prstGeom>
            <a:solidFill>
              <a:srgbClr val="FF000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1: FAN MOTOR &amp; COMPRESSOR RECORDING and CHECKING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07" name="Rounded Rectangle 17"/>
            <p:cNvSpPr/>
            <p:nvPr/>
          </p:nvSpPr>
          <p:spPr>
            <a:xfrm>
              <a:off x="1582200" y="1600200"/>
              <a:ext cx="507960" cy="142560"/>
            </a:xfrm>
            <a:prstGeom prst="parallelogram">
              <a:avLst>
                <a:gd name="adj" fmla="val 25000"/>
              </a:avLst>
            </a:prstGeom>
            <a:solidFill>
              <a:srgbClr val="FFC00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1: AIRTIGHT TEST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408" name="Straight Arrow Connector 15"/>
            <p:cNvCxnSpPr>
              <a:stCxn id="406" idx="4"/>
              <a:endCxn id="407" idx="0"/>
            </p:cNvCxnSpPr>
            <p:nvPr/>
          </p:nvCxnSpPr>
          <p:spPr>
            <a:xfrm>
              <a:off x="1836360" y="1470240"/>
              <a:ext cx="360" cy="13032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409" name="Rounded Rectangle 126"/>
            <p:cNvSpPr/>
            <p:nvPr/>
          </p:nvSpPr>
          <p:spPr>
            <a:xfrm>
              <a:off x="1461960" y="1012320"/>
              <a:ext cx="748440" cy="142560"/>
            </a:xfrm>
            <a:prstGeom prst="roundRect">
              <a:avLst>
                <a:gd name="adj" fmla="val 0"/>
              </a:avLst>
            </a:prstGeom>
            <a:solidFill>
              <a:schemeClr val="bg2">
                <a:lumMod val="50000"/>
              </a:schemeClr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SCAN FOR MODEL THAT WILL BE IN PRODUCTION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410" name="Straight Arrow Connector 21"/>
            <p:cNvCxnSpPr>
              <a:stCxn id="409" idx="2"/>
              <a:endCxn id="406" idx="0"/>
            </p:cNvCxnSpPr>
            <p:nvPr/>
          </p:nvCxnSpPr>
          <p:spPr>
            <a:xfrm>
              <a:off x="1836360" y="1154880"/>
              <a:ext cx="360" cy="1029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411" name="Straight Arrow Connector 22"/>
            <p:cNvCxnSpPr>
              <a:stCxn id="405" idx="2"/>
              <a:endCxn id="409" idx="0"/>
            </p:cNvCxnSpPr>
            <p:nvPr/>
          </p:nvCxnSpPr>
          <p:spPr>
            <a:xfrm flipH="1">
              <a:off x="1836360" y="931320"/>
              <a:ext cx="720" cy="813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412" name="Rounded Rectangle 17"/>
            <p:cNvSpPr/>
            <p:nvPr/>
          </p:nvSpPr>
          <p:spPr>
            <a:xfrm>
              <a:off x="1558800" y="1872720"/>
              <a:ext cx="507960" cy="142560"/>
            </a:xfrm>
            <a:prstGeom prst="parallelogram">
              <a:avLst>
                <a:gd name="adj" fmla="val 25000"/>
              </a:avLst>
            </a:prstGeom>
            <a:solidFill>
              <a:srgbClr val="FFFF0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2: GAS CHARGING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13" name="Rounded Rectangle 17"/>
            <p:cNvSpPr/>
            <p:nvPr/>
          </p:nvSpPr>
          <p:spPr>
            <a:xfrm>
              <a:off x="1473120" y="212292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rgbClr val="00B05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4: CONTROL BOARD &amp; OUTDOOR PCB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414" name="Straight Arrow Connector 31"/>
            <p:cNvCxnSpPr>
              <a:stCxn id="407" idx="4"/>
              <a:endCxn id="412" idx="1"/>
            </p:cNvCxnSpPr>
            <p:nvPr/>
          </p:nvCxnSpPr>
          <p:spPr>
            <a:xfrm flipH="1">
              <a:off x="1830600" y="1742760"/>
              <a:ext cx="6120" cy="13032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415" name="Straight Arrow Connector 32"/>
            <p:cNvCxnSpPr>
              <a:stCxn id="412" idx="4"/>
              <a:endCxn id="413" idx="1"/>
            </p:cNvCxnSpPr>
            <p:nvPr/>
          </p:nvCxnSpPr>
          <p:spPr>
            <a:xfrm flipH="1">
              <a:off x="1805760" y="2015280"/>
              <a:ext cx="7560" cy="10800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416" name="Rounded Rectangle 17"/>
            <p:cNvSpPr/>
            <p:nvPr/>
          </p:nvSpPr>
          <p:spPr>
            <a:xfrm>
              <a:off x="1473120" y="241776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rgbClr val="00B0F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2: WIRING AND CONSTRUCTION INSPECTION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17" name="Rounded Rectangle 17"/>
            <p:cNvSpPr/>
            <p:nvPr/>
          </p:nvSpPr>
          <p:spPr>
            <a:xfrm>
              <a:off x="3665520" y="87012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chemeClr val="accent6">
                <a:lumMod val="75000"/>
              </a:schemeClr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: RUNNING INSPECTION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18" name="Rounded Rectangle 17"/>
            <p:cNvSpPr/>
            <p:nvPr/>
          </p:nvSpPr>
          <p:spPr>
            <a:xfrm>
              <a:off x="3669840" y="116064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chemeClr val="accent6">
                <a:lumMod val="40000"/>
                <a:lumOff val="60000"/>
              </a:schemeClr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5: FINAL INSPECTION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19" name="Rounded Rectangle 17"/>
            <p:cNvSpPr/>
            <p:nvPr/>
          </p:nvSpPr>
          <p:spPr>
            <a:xfrm>
              <a:off x="3669840" y="157392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chemeClr val="accent2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5: PACKAGING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420" name="Straight Arrow Connector 37"/>
            <p:cNvCxnSpPr/>
            <p:nvPr/>
          </p:nvCxnSpPr>
          <p:spPr>
            <a:xfrm>
              <a:off x="1812960" y="2318400"/>
              <a:ext cx="360" cy="10728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421" name="Rounded Rectangle 17"/>
            <p:cNvSpPr/>
            <p:nvPr/>
          </p:nvSpPr>
          <p:spPr>
            <a:xfrm>
              <a:off x="2571480" y="213228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rgbClr val="92D05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3: INDOOR CONTROL BOARD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422" name="Straight Arrow Connector 39"/>
            <p:cNvCxnSpPr/>
            <p:nvPr/>
          </p:nvCxnSpPr>
          <p:spPr>
            <a:xfrm flipH="1">
              <a:off x="2058120" y="2235960"/>
              <a:ext cx="540720" cy="3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423" name="Elbow Connector 175"/>
            <p:cNvCxnSpPr>
              <a:stCxn id="416" idx="2"/>
              <a:endCxn id="417" idx="1"/>
            </p:cNvCxnSpPr>
            <p:nvPr/>
          </p:nvCxnSpPr>
          <p:spPr>
            <a:xfrm flipV="1">
              <a:off x="2065320" y="870120"/>
              <a:ext cx="1933200" cy="1645920"/>
            </a:xfrm>
            <a:prstGeom prst="bentConnector4">
              <a:avLst>
                <a:gd name="adj1" fmla="val 228161"/>
                <a:gd name="adj2" fmla="val 76132"/>
              </a:avLst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424" name="Straight Arrow Connector 41"/>
            <p:cNvCxnSpPr>
              <a:stCxn id="418" idx="4"/>
              <a:endCxn id="419" idx="0"/>
            </p:cNvCxnSpPr>
            <p:nvPr/>
          </p:nvCxnSpPr>
          <p:spPr>
            <a:xfrm>
              <a:off x="3978000" y="1356120"/>
              <a:ext cx="360" cy="2181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425" name="Rounded Rectangle 14"/>
            <p:cNvSpPr/>
            <p:nvPr/>
          </p:nvSpPr>
          <p:spPr>
            <a:xfrm>
              <a:off x="3697560" y="1909080"/>
              <a:ext cx="561240" cy="142560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28575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7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END</a:t>
              </a:r>
              <a:endParaRPr lang="en-US" sz="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426" name="Straight Arrow Connector 43"/>
            <p:cNvCxnSpPr/>
            <p:nvPr/>
          </p:nvCxnSpPr>
          <p:spPr>
            <a:xfrm>
              <a:off x="3973680" y="1768680"/>
              <a:ext cx="360" cy="13068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427" name="Straight Arrow Connector 44"/>
            <p:cNvCxnSpPr>
              <a:stCxn id="417" idx="4"/>
            </p:cNvCxnSpPr>
            <p:nvPr/>
          </p:nvCxnSpPr>
          <p:spPr>
            <a:xfrm>
              <a:off x="3973680" y="1065600"/>
              <a:ext cx="360" cy="1029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</p:grpSp>
      <p:sp>
        <p:nvSpPr>
          <p:cNvPr id="428" name="Rectangle 45"/>
          <p:cNvSpPr/>
          <p:nvPr/>
        </p:nvSpPr>
        <p:spPr>
          <a:xfrm>
            <a:off x="8079840" y="4045680"/>
            <a:ext cx="376560" cy="307440"/>
          </a:xfrm>
          <a:prstGeom prst="rect">
            <a:avLst/>
          </a:prstGeom>
          <a:solidFill>
            <a:schemeClr val="accent3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29" name="Rectangle 46"/>
          <p:cNvSpPr/>
          <p:nvPr/>
        </p:nvSpPr>
        <p:spPr>
          <a:xfrm>
            <a:off x="8079840" y="4529520"/>
            <a:ext cx="376560" cy="307440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30" name="Rectangle 47"/>
          <p:cNvSpPr/>
          <p:nvPr/>
        </p:nvSpPr>
        <p:spPr>
          <a:xfrm>
            <a:off x="8079840" y="5013720"/>
            <a:ext cx="376560" cy="307440"/>
          </a:xfrm>
          <a:prstGeom prst="rect">
            <a:avLst/>
          </a:prstGeom>
          <a:solidFill>
            <a:srgbClr val="FF0000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Rectangle 1"/>
          <p:cNvSpPr/>
          <p:nvPr/>
        </p:nvSpPr>
        <p:spPr>
          <a:xfrm>
            <a:off x="2753640" y="3614400"/>
            <a:ext cx="6487560" cy="2500200"/>
          </a:xfrm>
          <a:prstGeom prst="rect">
            <a:avLst/>
          </a:prstGeom>
          <a:solidFill>
            <a:schemeClr val="bg2"/>
          </a:solidFill>
          <a:ln w="57150">
            <a:solidFill>
              <a:srgbClr val="4EA72E">
                <a:lumMod val="40000"/>
                <a:lumOff val="60000"/>
              </a:srgb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32" name="Rectangle 205"/>
          <p:cNvSpPr/>
          <p:nvPr/>
        </p:nvSpPr>
        <p:spPr>
          <a:xfrm>
            <a:off x="1143000" y="8640"/>
            <a:ext cx="9905760" cy="308880"/>
          </a:xfrm>
          <a:prstGeom prst="rect">
            <a:avLst/>
          </a:prstGeom>
          <a:solidFill>
            <a:schemeClr val="accent1"/>
          </a:solidFill>
          <a:ln w="28575">
            <a:solidFill>
              <a:srgbClr val="00000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PH" sz="195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LINE AUTOMATION PROPOSAL</a:t>
            </a:r>
            <a:endParaRPr lang="en-US" sz="1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433" name="Straight Arrow Connector 10"/>
          <p:cNvCxnSpPr>
            <a:stCxn id="434" idx="2"/>
          </p:cNvCxnSpPr>
          <p:nvPr/>
        </p:nvCxnSpPr>
        <p:spPr>
          <a:xfrm>
            <a:off x="2065320" y="2220840"/>
            <a:ext cx="3278880" cy="1217520"/>
          </a:xfrm>
          <a:prstGeom prst="straightConnector1">
            <a:avLst/>
          </a:prstGeom>
          <a:ln>
            <a:solidFill>
              <a:srgbClr val="FF0000"/>
            </a:solidFill>
            <a:tailEnd len="med" type="triangle" w="med"/>
          </a:ln>
        </p:spPr>
      </p:cxnSp>
      <p:sp>
        <p:nvSpPr>
          <p:cNvPr id="435" name="TextBox 21"/>
          <p:cNvSpPr/>
          <p:nvPr/>
        </p:nvSpPr>
        <p:spPr>
          <a:xfrm>
            <a:off x="2753640" y="3666240"/>
            <a:ext cx="422424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Scan Safety Parts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Rectangle 2"/>
          <p:cNvSpPr/>
          <p:nvPr/>
        </p:nvSpPr>
        <p:spPr>
          <a:xfrm>
            <a:off x="3434760" y="4057200"/>
            <a:ext cx="1908720" cy="307440"/>
          </a:xfrm>
          <a:prstGeom prst="rect">
            <a:avLst/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37" name="Rectangle 3"/>
          <p:cNvSpPr/>
          <p:nvPr/>
        </p:nvSpPr>
        <p:spPr>
          <a:xfrm>
            <a:off x="6187320" y="4071960"/>
            <a:ext cx="1908720" cy="307440"/>
          </a:xfrm>
          <a:prstGeom prst="rect">
            <a:avLst/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38" name="Rectangle 7"/>
          <p:cNvSpPr/>
          <p:nvPr/>
        </p:nvSpPr>
        <p:spPr>
          <a:xfrm>
            <a:off x="3434760" y="4758840"/>
            <a:ext cx="1908720" cy="295920"/>
          </a:xfrm>
          <a:prstGeom prst="rect">
            <a:avLst/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39" name="Rectangle 11"/>
          <p:cNvSpPr/>
          <p:nvPr/>
        </p:nvSpPr>
        <p:spPr>
          <a:xfrm>
            <a:off x="6187320" y="4771080"/>
            <a:ext cx="1908720" cy="301680"/>
          </a:xfrm>
          <a:prstGeom prst="rect">
            <a:avLst/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40" name="TextBox 13"/>
          <p:cNvSpPr/>
          <p:nvPr/>
        </p:nvSpPr>
        <p:spPr>
          <a:xfrm>
            <a:off x="3160080" y="4416840"/>
            <a:ext cx="262980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SP1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TextBox 14"/>
          <p:cNvSpPr/>
          <p:nvPr/>
        </p:nvSpPr>
        <p:spPr>
          <a:xfrm>
            <a:off x="6305760" y="4429080"/>
            <a:ext cx="167184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SP2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2" name="TextBox 15"/>
          <p:cNvSpPr/>
          <p:nvPr/>
        </p:nvSpPr>
        <p:spPr>
          <a:xfrm>
            <a:off x="3661200" y="5119200"/>
            <a:ext cx="149940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SP3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TextBox 16"/>
          <p:cNvSpPr/>
          <p:nvPr/>
        </p:nvSpPr>
        <p:spPr>
          <a:xfrm>
            <a:off x="6050160" y="5090760"/>
            <a:ext cx="218340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SP4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Rectangle 25"/>
          <p:cNvSpPr/>
          <p:nvPr/>
        </p:nvSpPr>
        <p:spPr>
          <a:xfrm>
            <a:off x="8483760" y="4071960"/>
            <a:ext cx="376560" cy="307440"/>
          </a:xfrm>
          <a:prstGeom prst="rect">
            <a:avLst/>
          </a:prstGeom>
          <a:solidFill>
            <a:srgbClr val="FF0000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45" name="Rectangle 26"/>
          <p:cNvSpPr/>
          <p:nvPr/>
        </p:nvSpPr>
        <p:spPr>
          <a:xfrm>
            <a:off x="8483760" y="4529880"/>
            <a:ext cx="376560" cy="307440"/>
          </a:xfrm>
          <a:prstGeom prst="rect">
            <a:avLst/>
          </a:prstGeom>
          <a:solidFill>
            <a:schemeClr val="accent3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46" name="Rectangle 27"/>
          <p:cNvSpPr/>
          <p:nvPr/>
        </p:nvSpPr>
        <p:spPr>
          <a:xfrm>
            <a:off x="8483760" y="4965120"/>
            <a:ext cx="376560" cy="307440"/>
          </a:xfrm>
          <a:prstGeom prst="rect">
            <a:avLst/>
          </a:prstGeom>
          <a:solidFill>
            <a:schemeClr val="accent3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47" name="Rectangle 28"/>
          <p:cNvSpPr/>
          <p:nvPr/>
        </p:nvSpPr>
        <p:spPr>
          <a:xfrm>
            <a:off x="8483760" y="5448960"/>
            <a:ext cx="376560" cy="307440"/>
          </a:xfrm>
          <a:prstGeom prst="rect">
            <a:avLst/>
          </a:prstGeom>
          <a:solidFill>
            <a:schemeClr val="accent3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48" name="Rectangle 19"/>
          <p:cNvSpPr/>
          <p:nvPr/>
        </p:nvSpPr>
        <p:spPr>
          <a:xfrm>
            <a:off x="4660560" y="5448960"/>
            <a:ext cx="1908720" cy="295920"/>
          </a:xfrm>
          <a:prstGeom prst="rect">
            <a:avLst/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49" name="TextBox 22"/>
          <p:cNvSpPr/>
          <p:nvPr/>
        </p:nvSpPr>
        <p:spPr>
          <a:xfrm>
            <a:off x="4480200" y="5737680"/>
            <a:ext cx="227664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SP5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450" name="Group 53"/>
          <p:cNvGrpSpPr/>
          <p:nvPr/>
        </p:nvGrpSpPr>
        <p:grpSpPr>
          <a:xfrm>
            <a:off x="1461960" y="788760"/>
            <a:ext cx="5013360" cy="1824480"/>
            <a:chOff x="1461960" y="788760"/>
            <a:chExt cx="5013360" cy="1824480"/>
          </a:xfrm>
        </p:grpSpPr>
        <p:sp>
          <p:nvSpPr>
            <p:cNvPr id="451" name="Rounded Rectangle 14"/>
            <p:cNvSpPr/>
            <p:nvPr/>
          </p:nvSpPr>
          <p:spPr>
            <a:xfrm>
              <a:off x="1555920" y="788760"/>
              <a:ext cx="561240" cy="142560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28575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7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START</a:t>
              </a:r>
              <a:endParaRPr lang="en-US" sz="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52" name="Rounded Rectangle 126"/>
            <p:cNvSpPr/>
            <p:nvPr/>
          </p:nvSpPr>
          <p:spPr>
            <a:xfrm>
              <a:off x="1473120" y="1257480"/>
              <a:ext cx="726480" cy="212760"/>
            </a:xfrm>
            <a:prstGeom prst="parallelogram">
              <a:avLst>
                <a:gd name="adj" fmla="val 25000"/>
              </a:avLst>
            </a:prstGeom>
            <a:solidFill>
              <a:srgbClr val="FF000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1: FAN MOTOR &amp; COMPRESSOR RECORDING and CHECKING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53" name="Rounded Rectangle 17"/>
            <p:cNvSpPr/>
            <p:nvPr/>
          </p:nvSpPr>
          <p:spPr>
            <a:xfrm>
              <a:off x="1582200" y="1600200"/>
              <a:ext cx="507960" cy="142560"/>
            </a:xfrm>
            <a:prstGeom prst="parallelogram">
              <a:avLst>
                <a:gd name="adj" fmla="val 25000"/>
              </a:avLst>
            </a:prstGeom>
            <a:solidFill>
              <a:srgbClr val="FFC00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1: AIRTIGHT TEST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454" name="Straight Arrow Connector 33"/>
            <p:cNvCxnSpPr>
              <a:stCxn id="452" idx="4"/>
              <a:endCxn id="453" idx="0"/>
            </p:cNvCxnSpPr>
            <p:nvPr/>
          </p:nvCxnSpPr>
          <p:spPr>
            <a:xfrm>
              <a:off x="1836360" y="1470240"/>
              <a:ext cx="360" cy="13032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455" name="Rounded Rectangle 126"/>
            <p:cNvSpPr/>
            <p:nvPr/>
          </p:nvSpPr>
          <p:spPr>
            <a:xfrm>
              <a:off x="1461960" y="1012320"/>
              <a:ext cx="748440" cy="142560"/>
            </a:xfrm>
            <a:prstGeom prst="roundRect">
              <a:avLst>
                <a:gd name="adj" fmla="val 0"/>
              </a:avLst>
            </a:prstGeom>
            <a:solidFill>
              <a:schemeClr val="bg2">
                <a:lumMod val="50000"/>
              </a:schemeClr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SCAN FOR MODEL THAT WILL BE IN PRODUCTION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456" name="Straight Arrow Connector 35"/>
            <p:cNvCxnSpPr>
              <a:stCxn id="455" idx="2"/>
              <a:endCxn id="452" idx="0"/>
            </p:cNvCxnSpPr>
            <p:nvPr/>
          </p:nvCxnSpPr>
          <p:spPr>
            <a:xfrm>
              <a:off x="1836360" y="1154880"/>
              <a:ext cx="360" cy="1029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457" name="Straight Arrow Connector 36"/>
            <p:cNvCxnSpPr>
              <a:stCxn id="451" idx="2"/>
              <a:endCxn id="455" idx="0"/>
            </p:cNvCxnSpPr>
            <p:nvPr/>
          </p:nvCxnSpPr>
          <p:spPr>
            <a:xfrm flipH="1">
              <a:off x="1836360" y="931320"/>
              <a:ext cx="720" cy="813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458" name="Rounded Rectangle 17"/>
            <p:cNvSpPr/>
            <p:nvPr/>
          </p:nvSpPr>
          <p:spPr>
            <a:xfrm>
              <a:off x="1558800" y="1872720"/>
              <a:ext cx="507960" cy="142560"/>
            </a:xfrm>
            <a:prstGeom prst="parallelogram">
              <a:avLst>
                <a:gd name="adj" fmla="val 25000"/>
              </a:avLst>
            </a:prstGeom>
            <a:solidFill>
              <a:srgbClr val="FFFF0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2: GAS CHARGING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34" name="Rounded Rectangle 17"/>
            <p:cNvSpPr/>
            <p:nvPr/>
          </p:nvSpPr>
          <p:spPr>
            <a:xfrm>
              <a:off x="1473120" y="212292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rgbClr val="00B05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4: CONTROL BOARD &amp; OUTDOOR PCB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459" name="Straight Arrow Connector 39"/>
            <p:cNvCxnSpPr>
              <a:stCxn id="453" idx="4"/>
              <a:endCxn id="458" idx="1"/>
            </p:cNvCxnSpPr>
            <p:nvPr/>
          </p:nvCxnSpPr>
          <p:spPr>
            <a:xfrm flipH="1">
              <a:off x="1830600" y="1742760"/>
              <a:ext cx="6120" cy="13032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460" name="Straight Arrow Connector 40"/>
            <p:cNvCxnSpPr>
              <a:stCxn id="458" idx="4"/>
              <a:endCxn id="434" idx="1"/>
            </p:cNvCxnSpPr>
            <p:nvPr/>
          </p:nvCxnSpPr>
          <p:spPr>
            <a:xfrm flipH="1">
              <a:off x="1805760" y="2015280"/>
              <a:ext cx="7560" cy="10800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461" name="Rounded Rectangle 17"/>
            <p:cNvSpPr/>
            <p:nvPr/>
          </p:nvSpPr>
          <p:spPr>
            <a:xfrm>
              <a:off x="1473120" y="241776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rgbClr val="00B0F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2: WIRING AND CONSTRUCTION INSPECTION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62" name="Rounded Rectangle 17"/>
            <p:cNvSpPr/>
            <p:nvPr/>
          </p:nvSpPr>
          <p:spPr>
            <a:xfrm>
              <a:off x="3665520" y="87012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chemeClr val="accent6">
                <a:lumMod val="75000"/>
              </a:schemeClr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: RUNNING INSPECTION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63" name="Rounded Rectangle 17"/>
            <p:cNvSpPr/>
            <p:nvPr/>
          </p:nvSpPr>
          <p:spPr>
            <a:xfrm>
              <a:off x="3669840" y="116064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chemeClr val="accent6">
                <a:lumMod val="40000"/>
                <a:lumOff val="60000"/>
              </a:schemeClr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5: FINAL INSPECTION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64" name="Rounded Rectangle 17"/>
            <p:cNvSpPr/>
            <p:nvPr/>
          </p:nvSpPr>
          <p:spPr>
            <a:xfrm>
              <a:off x="3669840" y="157392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chemeClr val="accent2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5: PACKAGING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465" name="Straight Arrow Connector 45"/>
            <p:cNvCxnSpPr/>
            <p:nvPr/>
          </p:nvCxnSpPr>
          <p:spPr>
            <a:xfrm>
              <a:off x="1812960" y="2318400"/>
              <a:ext cx="360" cy="10728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466" name="Rounded Rectangle 17"/>
            <p:cNvSpPr/>
            <p:nvPr/>
          </p:nvSpPr>
          <p:spPr>
            <a:xfrm>
              <a:off x="2571480" y="213228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rgbClr val="92D05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3: INDOOR CONTROL BOARD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467" name="Straight Arrow Connector 47"/>
            <p:cNvCxnSpPr/>
            <p:nvPr/>
          </p:nvCxnSpPr>
          <p:spPr>
            <a:xfrm flipH="1">
              <a:off x="2058120" y="2235960"/>
              <a:ext cx="540720" cy="3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468" name="Elbow Connector 175"/>
            <p:cNvCxnSpPr>
              <a:stCxn id="461" idx="2"/>
              <a:endCxn id="462" idx="1"/>
            </p:cNvCxnSpPr>
            <p:nvPr/>
          </p:nvCxnSpPr>
          <p:spPr>
            <a:xfrm flipV="1">
              <a:off x="2065320" y="870120"/>
              <a:ext cx="1933200" cy="1645920"/>
            </a:xfrm>
            <a:prstGeom prst="bentConnector4">
              <a:avLst>
                <a:gd name="adj1" fmla="val 228161"/>
                <a:gd name="adj2" fmla="val 76132"/>
              </a:avLst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469" name="Straight Arrow Connector 49"/>
            <p:cNvCxnSpPr>
              <a:stCxn id="463" idx="4"/>
              <a:endCxn id="464" idx="0"/>
            </p:cNvCxnSpPr>
            <p:nvPr/>
          </p:nvCxnSpPr>
          <p:spPr>
            <a:xfrm>
              <a:off x="3978000" y="1356120"/>
              <a:ext cx="360" cy="2181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470" name="Rounded Rectangle 14"/>
            <p:cNvSpPr/>
            <p:nvPr/>
          </p:nvSpPr>
          <p:spPr>
            <a:xfrm>
              <a:off x="3697560" y="1909080"/>
              <a:ext cx="561240" cy="142560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28575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7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END</a:t>
              </a:r>
              <a:endParaRPr lang="en-US" sz="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471" name="Straight Arrow Connector 51"/>
            <p:cNvCxnSpPr/>
            <p:nvPr/>
          </p:nvCxnSpPr>
          <p:spPr>
            <a:xfrm>
              <a:off x="3973680" y="1768680"/>
              <a:ext cx="360" cy="13068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472" name="Straight Arrow Connector 52"/>
            <p:cNvCxnSpPr>
              <a:stCxn id="462" idx="4"/>
            </p:cNvCxnSpPr>
            <p:nvPr/>
          </p:nvCxnSpPr>
          <p:spPr>
            <a:xfrm>
              <a:off x="3973680" y="1065600"/>
              <a:ext cx="360" cy="1029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Rectangle 1"/>
          <p:cNvSpPr/>
          <p:nvPr/>
        </p:nvSpPr>
        <p:spPr>
          <a:xfrm>
            <a:off x="2753640" y="3614400"/>
            <a:ext cx="6487560" cy="2500200"/>
          </a:xfrm>
          <a:prstGeom prst="rect">
            <a:avLst/>
          </a:prstGeom>
          <a:solidFill>
            <a:schemeClr val="bg2"/>
          </a:solidFill>
          <a:ln w="57150">
            <a:solidFill>
              <a:srgbClr val="4EA72E">
                <a:lumMod val="40000"/>
                <a:lumOff val="60000"/>
              </a:srgb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74" name="Rectangle 205"/>
          <p:cNvSpPr/>
          <p:nvPr/>
        </p:nvSpPr>
        <p:spPr>
          <a:xfrm>
            <a:off x="1143000" y="8640"/>
            <a:ext cx="9905760" cy="308880"/>
          </a:xfrm>
          <a:prstGeom prst="rect">
            <a:avLst/>
          </a:prstGeom>
          <a:solidFill>
            <a:schemeClr val="accent1"/>
          </a:solidFill>
          <a:ln w="28575">
            <a:solidFill>
              <a:srgbClr val="00000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PH" sz="195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LINE AUTOMATION PROPOSAL</a:t>
            </a:r>
            <a:endParaRPr lang="en-US" sz="1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475" name="Straight Arrow Connector 10"/>
          <p:cNvCxnSpPr>
            <a:stCxn id="476" idx="2"/>
          </p:cNvCxnSpPr>
          <p:nvPr/>
        </p:nvCxnSpPr>
        <p:spPr>
          <a:xfrm>
            <a:off x="2065320" y="2220840"/>
            <a:ext cx="3278880" cy="1217520"/>
          </a:xfrm>
          <a:prstGeom prst="straightConnector1">
            <a:avLst/>
          </a:prstGeom>
          <a:ln>
            <a:solidFill>
              <a:srgbClr val="FF0000"/>
            </a:solidFill>
            <a:tailEnd len="med" type="triangle" w="med"/>
          </a:ln>
        </p:spPr>
      </p:cxnSp>
      <p:sp>
        <p:nvSpPr>
          <p:cNvPr id="477" name="TextBox 21"/>
          <p:cNvSpPr/>
          <p:nvPr/>
        </p:nvSpPr>
        <p:spPr>
          <a:xfrm>
            <a:off x="2753640" y="3666240"/>
            <a:ext cx="422424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Scan Model and Control Boards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8" name="Rectangle 2"/>
          <p:cNvSpPr/>
          <p:nvPr/>
        </p:nvSpPr>
        <p:spPr>
          <a:xfrm>
            <a:off x="3434760" y="4057200"/>
            <a:ext cx="1908720" cy="307440"/>
          </a:xfrm>
          <a:prstGeom prst="rect">
            <a:avLst/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79" name="Rectangle 3"/>
          <p:cNvSpPr/>
          <p:nvPr/>
        </p:nvSpPr>
        <p:spPr>
          <a:xfrm>
            <a:off x="6187320" y="4071960"/>
            <a:ext cx="1908720" cy="307440"/>
          </a:xfrm>
          <a:prstGeom prst="rect">
            <a:avLst/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80" name="Rectangle 7"/>
          <p:cNvSpPr/>
          <p:nvPr/>
        </p:nvSpPr>
        <p:spPr>
          <a:xfrm>
            <a:off x="3434760" y="4758840"/>
            <a:ext cx="1908720" cy="295920"/>
          </a:xfrm>
          <a:prstGeom prst="rect">
            <a:avLst/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81" name="Rectangle 11"/>
          <p:cNvSpPr/>
          <p:nvPr/>
        </p:nvSpPr>
        <p:spPr>
          <a:xfrm>
            <a:off x="6187320" y="4771080"/>
            <a:ext cx="1908720" cy="301680"/>
          </a:xfrm>
          <a:prstGeom prst="rect">
            <a:avLst/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82" name="TextBox 13"/>
          <p:cNvSpPr/>
          <p:nvPr/>
        </p:nvSpPr>
        <p:spPr>
          <a:xfrm>
            <a:off x="3255840" y="4412520"/>
            <a:ext cx="226692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MODEL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3" name="TextBox 14"/>
          <p:cNvSpPr/>
          <p:nvPr/>
        </p:nvSpPr>
        <p:spPr>
          <a:xfrm>
            <a:off x="6305760" y="4429080"/>
            <a:ext cx="167184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SERIAL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4" name="TextBox 15"/>
          <p:cNvSpPr/>
          <p:nvPr/>
        </p:nvSpPr>
        <p:spPr>
          <a:xfrm>
            <a:off x="3188160" y="5094720"/>
            <a:ext cx="244908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CONTROL BOARD SERIAL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TextBox 16"/>
          <p:cNvSpPr/>
          <p:nvPr/>
        </p:nvSpPr>
        <p:spPr>
          <a:xfrm>
            <a:off x="6258240" y="5141160"/>
            <a:ext cx="176724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OUTDOOR BOARD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6" name="Rectangle 25"/>
          <p:cNvSpPr/>
          <p:nvPr/>
        </p:nvSpPr>
        <p:spPr>
          <a:xfrm>
            <a:off x="8483760" y="4071960"/>
            <a:ext cx="376560" cy="307440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87" name="Rectangle 26"/>
          <p:cNvSpPr/>
          <p:nvPr/>
        </p:nvSpPr>
        <p:spPr>
          <a:xfrm>
            <a:off x="8483760" y="4529880"/>
            <a:ext cx="376560" cy="307440"/>
          </a:xfrm>
          <a:prstGeom prst="rect">
            <a:avLst/>
          </a:prstGeom>
          <a:solidFill>
            <a:srgbClr val="FF0000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88" name="Rectangle 27"/>
          <p:cNvSpPr/>
          <p:nvPr/>
        </p:nvSpPr>
        <p:spPr>
          <a:xfrm>
            <a:off x="8483760" y="4965120"/>
            <a:ext cx="376560" cy="307440"/>
          </a:xfrm>
          <a:prstGeom prst="rect">
            <a:avLst/>
          </a:prstGeom>
          <a:solidFill>
            <a:schemeClr val="accent3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89" name="Rectangle 28"/>
          <p:cNvSpPr/>
          <p:nvPr/>
        </p:nvSpPr>
        <p:spPr>
          <a:xfrm>
            <a:off x="8483760" y="5448960"/>
            <a:ext cx="376560" cy="307440"/>
          </a:xfrm>
          <a:prstGeom prst="rect">
            <a:avLst/>
          </a:prstGeom>
          <a:solidFill>
            <a:schemeClr val="accent3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90" name="Rectangle 19"/>
          <p:cNvSpPr/>
          <p:nvPr/>
        </p:nvSpPr>
        <p:spPr>
          <a:xfrm>
            <a:off x="4660560" y="5448960"/>
            <a:ext cx="1908720" cy="295920"/>
          </a:xfrm>
          <a:prstGeom prst="rect">
            <a:avLst/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491" name="TextBox 22"/>
          <p:cNvSpPr/>
          <p:nvPr/>
        </p:nvSpPr>
        <p:spPr>
          <a:xfrm>
            <a:off x="4701240" y="5756760"/>
            <a:ext cx="181872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AIRCON WIFI SERIAL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492" name="Group 29"/>
          <p:cNvGrpSpPr/>
          <p:nvPr/>
        </p:nvGrpSpPr>
        <p:grpSpPr>
          <a:xfrm>
            <a:off x="1461960" y="788760"/>
            <a:ext cx="5013360" cy="1824480"/>
            <a:chOff x="1461960" y="788760"/>
            <a:chExt cx="5013360" cy="1824480"/>
          </a:xfrm>
        </p:grpSpPr>
        <p:sp>
          <p:nvSpPr>
            <p:cNvPr id="493" name="Rounded Rectangle 14"/>
            <p:cNvSpPr/>
            <p:nvPr/>
          </p:nvSpPr>
          <p:spPr>
            <a:xfrm>
              <a:off x="1555920" y="788760"/>
              <a:ext cx="561240" cy="142560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28575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7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START</a:t>
              </a:r>
              <a:endParaRPr lang="en-US" sz="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94" name="Rounded Rectangle 126"/>
            <p:cNvSpPr/>
            <p:nvPr/>
          </p:nvSpPr>
          <p:spPr>
            <a:xfrm>
              <a:off x="1473120" y="1257480"/>
              <a:ext cx="726480" cy="212760"/>
            </a:xfrm>
            <a:prstGeom prst="parallelogram">
              <a:avLst>
                <a:gd name="adj" fmla="val 25000"/>
              </a:avLst>
            </a:prstGeom>
            <a:solidFill>
              <a:srgbClr val="FF000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1: FAN MOTOR &amp; COMPRESSOR RECORDING and CHECKING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95" name="Rounded Rectangle 17"/>
            <p:cNvSpPr/>
            <p:nvPr/>
          </p:nvSpPr>
          <p:spPr>
            <a:xfrm>
              <a:off x="1582200" y="1600200"/>
              <a:ext cx="507960" cy="142560"/>
            </a:xfrm>
            <a:prstGeom prst="parallelogram">
              <a:avLst>
                <a:gd name="adj" fmla="val 25000"/>
              </a:avLst>
            </a:prstGeom>
            <a:solidFill>
              <a:srgbClr val="FFC00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1: AIRTIGHT TEST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496" name="Straight Arrow Connector 33"/>
            <p:cNvCxnSpPr>
              <a:stCxn id="494" idx="4"/>
              <a:endCxn id="495" idx="0"/>
            </p:cNvCxnSpPr>
            <p:nvPr/>
          </p:nvCxnSpPr>
          <p:spPr>
            <a:xfrm>
              <a:off x="1836360" y="1470240"/>
              <a:ext cx="360" cy="13032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497" name="Rounded Rectangle 126"/>
            <p:cNvSpPr/>
            <p:nvPr/>
          </p:nvSpPr>
          <p:spPr>
            <a:xfrm>
              <a:off x="1461960" y="1012320"/>
              <a:ext cx="748440" cy="142560"/>
            </a:xfrm>
            <a:prstGeom prst="roundRect">
              <a:avLst>
                <a:gd name="adj" fmla="val 0"/>
              </a:avLst>
            </a:prstGeom>
            <a:solidFill>
              <a:schemeClr val="bg2">
                <a:lumMod val="50000"/>
              </a:schemeClr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SCAN FOR MODEL THAT WILL BE IN PRODUCTION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498" name="Straight Arrow Connector 35"/>
            <p:cNvCxnSpPr>
              <a:stCxn id="497" idx="2"/>
              <a:endCxn id="494" idx="0"/>
            </p:cNvCxnSpPr>
            <p:nvPr/>
          </p:nvCxnSpPr>
          <p:spPr>
            <a:xfrm>
              <a:off x="1836360" y="1154880"/>
              <a:ext cx="360" cy="1029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499" name="Straight Arrow Connector 36"/>
            <p:cNvCxnSpPr>
              <a:stCxn id="493" idx="2"/>
              <a:endCxn id="497" idx="0"/>
            </p:cNvCxnSpPr>
            <p:nvPr/>
          </p:nvCxnSpPr>
          <p:spPr>
            <a:xfrm flipH="1">
              <a:off x="1836360" y="931320"/>
              <a:ext cx="720" cy="813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500" name="Rounded Rectangle 17"/>
            <p:cNvSpPr/>
            <p:nvPr/>
          </p:nvSpPr>
          <p:spPr>
            <a:xfrm>
              <a:off x="1558800" y="1872720"/>
              <a:ext cx="507960" cy="142560"/>
            </a:xfrm>
            <a:prstGeom prst="parallelogram">
              <a:avLst>
                <a:gd name="adj" fmla="val 25000"/>
              </a:avLst>
            </a:prstGeom>
            <a:solidFill>
              <a:srgbClr val="FFFF0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2: GAS CHARGING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76" name="Rounded Rectangle 17"/>
            <p:cNvSpPr/>
            <p:nvPr/>
          </p:nvSpPr>
          <p:spPr>
            <a:xfrm>
              <a:off x="1473120" y="212292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rgbClr val="00B05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4: CONTROL BOARD &amp; OUTDOOR PCB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501" name="Straight Arrow Connector 39"/>
            <p:cNvCxnSpPr>
              <a:stCxn id="495" idx="4"/>
              <a:endCxn id="500" idx="1"/>
            </p:cNvCxnSpPr>
            <p:nvPr/>
          </p:nvCxnSpPr>
          <p:spPr>
            <a:xfrm flipH="1">
              <a:off x="1830600" y="1742760"/>
              <a:ext cx="6120" cy="13032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502" name="Straight Arrow Connector 40"/>
            <p:cNvCxnSpPr>
              <a:stCxn id="500" idx="4"/>
              <a:endCxn id="476" idx="1"/>
            </p:cNvCxnSpPr>
            <p:nvPr/>
          </p:nvCxnSpPr>
          <p:spPr>
            <a:xfrm flipH="1">
              <a:off x="1805760" y="2015280"/>
              <a:ext cx="7560" cy="10800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503" name="Rounded Rectangle 17"/>
            <p:cNvSpPr/>
            <p:nvPr/>
          </p:nvSpPr>
          <p:spPr>
            <a:xfrm>
              <a:off x="1473120" y="241776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rgbClr val="00B0F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2: WIRING AND CONSTRUCTION INSPECTION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04" name="Rounded Rectangle 17"/>
            <p:cNvSpPr/>
            <p:nvPr/>
          </p:nvSpPr>
          <p:spPr>
            <a:xfrm>
              <a:off x="3665520" y="87012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chemeClr val="accent6">
                <a:lumMod val="75000"/>
              </a:schemeClr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: RUNNING INSPECTION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05" name="Rounded Rectangle 17"/>
            <p:cNvSpPr/>
            <p:nvPr/>
          </p:nvSpPr>
          <p:spPr>
            <a:xfrm>
              <a:off x="3669840" y="116064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chemeClr val="accent6">
                <a:lumMod val="40000"/>
                <a:lumOff val="60000"/>
              </a:schemeClr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5: FINAL INSPECTION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06" name="Rounded Rectangle 17"/>
            <p:cNvSpPr/>
            <p:nvPr/>
          </p:nvSpPr>
          <p:spPr>
            <a:xfrm>
              <a:off x="3669840" y="157392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chemeClr val="accent2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5: PACKAGING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507" name="Straight Arrow Connector 45"/>
            <p:cNvCxnSpPr/>
            <p:nvPr/>
          </p:nvCxnSpPr>
          <p:spPr>
            <a:xfrm>
              <a:off x="1812960" y="2318400"/>
              <a:ext cx="360" cy="10728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508" name="Rounded Rectangle 17"/>
            <p:cNvSpPr/>
            <p:nvPr/>
          </p:nvSpPr>
          <p:spPr>
            <a:xfrm>
              <a:off x="2571480" y="213228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rgbClr val="92D05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3: INDOOR CONTROL BOARD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509" name="Straight Arrow Connector 47"/>
            <p:cNvCxnSpPr/>
            <p:nvPr/>
          </p:nvCxnSpPr>
          <p:spPr>
            <a:xfrm flipH="1">
              <a:off x="2058120" y="2235960"/>
              <a:ext cx="540720" cy="3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510" name="Elbow Connector 175"/>
            <p:cNvCxnSpPr>
              <a:stCxn id="503" idx="2"/>
              <a:endCxn id="504" idx="1"/>
            </p:cNvCxnSpPr>
            <p:nvPr/>
          </p:nvCxnSpPr>
          <p:spPr>
            <a:xfrm flipV="1">
              <a:off x="2065320" y="870120"/>
              <a:ext cx="1933200" cy="1645920"/>
            </a:xfrm>
            <a:prstGeom prst="bentConnector4">
              <a:avLst>
                <a:gd name="adj1" fmla="val 228161"/>
                <a:gd name="adj2" fmla="val 76132"/>
              </a:avLst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511" name="Straight Arrow Connector 49"/>
            <p:cNvCxnSpPr>
              <a:stCxn id="505" idx="4"/>
              <a:endCxn id="506" idx="0"/>
            </p:cNvCxnSpPr>
            <p:nvPr/>
          </p:nvCxnSpPr>
          <p:spPr>
            <a:xfrm>
              <a:off x="3978000" y="1356120"/>
              <a:ext cx="360" cy="2181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512" name="Rounded Rectangle 14"/>
            <p:cNvSpPr/>
            <p:nvPr/>
          </p:nvSpPr>
          <p:spPr>
            <a:xfrm>
              <a:off x="3697560" y="1909080"/>
              <a:ext cx="561240" cy="142560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28575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7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END</a:t>
              </a:r>
              <a:endParaRPr lang="en-US" sz="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513" name="Straight Arrow Connector 51"/>
            <p:cNvCxnSpPr/>
            <p:nvPr/>
          </p:nvCxnSpPr>
          <p:spPr>
            <a:xfrm>
              <a:off x="3973680" y="1768680"/>
              <a:ext cx="360" cy="13068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514" name="Straight Arrow Connector 52"/>
            <p:cNvCxnSpPr>
              <a:stCxn id="504" idx="4"/>
            </p:cNvCxnSpPr>
            <p:nvPr/>
          </p:nvCxnSpPr>
          <p:spPr>
            <a:xfrm>
              <a:off x="3973680" y="1065600"/>
              <a:ext cx="360" cy="1029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Rectangle 205"/>
          <p:cNvSpPr/>
          <p:nvPr/>
        </p:nvSpPr>
        <p:spPr>
          <a:xfrm>
            <a:off x="1143000" y="8640"/>
            <a:ext cx="9905760" cy="308880"/>
          </a:xfrm>
          <a:prstGeom prst="rect">
            <a:avLst/>
          </a:prstGeom>
          <a:solidFill>
            <a:schemeClr val="accent1"/>
          </a:solidFill>
          <a:ln w="28575">
            <a:solidFill>
              <a:srgbClr val="00000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PH" sz="195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LINE AUTOMATION PROPOSAL</a:t>
            </a:r>
            <a:endParaRPr lang="en-US" sz="1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516" name="Straight Arrow Connector 10"/>
          <p:cNvCxnSpPr>
            <a:stCxn id="517" idx="2"/>
          </p:cNvCxnSpPr>
          <p:nvPr/>
        </p:nvCxnSpPr>
        <p:spPr>
          <a:xfrm>
            <a:off x="2065320" y="2220840"/>
            <a:ext cx="3278880" cy="1217520"/>
          </a:xfrm>
          <a:prstGeom prst="straightConnector1">
            <a:avLst/>
          </a:prstGeom>
          <a:ln>
            <a:solidFill>
              <a:srgbClr val="FF0000"/>
            </a:solidFill>
            <a:tailEnd len="med" type="triangle" w="med"/>
          </a:ln>
        </p:spPr>
      </p:cxnSp>
      <p:sp>
        <p:nvSpPr>
          <p:cNvPr id="518" name="Rectangle 19"/>
          <p:cNvSpPr/>
          <p:nvPr/>
        </p:nvSpPr>
        <p:spPr>
          <a:xfrm>
            <a:off x="2753640" y="3614400"/>
            <a:ext cx="6487560" cy="2500200"/>
          </a:xfrm>
          <a:prstGeom prst="rect">
            <a:avLst/>
          </a:prstGeom>
          <a:solidFill>
            <a:schemeClr val="bg2"/>
          </a:solidFill>
          <a:ln w="57150">
            <a:solidFill>
              <a:srgbClr val="4EA72E">
                <a:lumMod val="40000"/>
                <a:lumOff val="60000"/>
              </a:srgb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19" name="Rectangle 25"/>
          <p:cNvSpPr/>
          <p:nvPr/>
        </p:nvSpPr>
        <p:spPr>
          <a:xfrm>
            <a:off x="8079840" y="4045680"/>
            <a:ext cx="376560" cy="307440"/>
          </a:xfrm>
          <a:prstGeom prst="rect">
            <a:avLst/>
          </a:prstGeom>
          <a:solidFill>
            <a:schemeClr val="accent3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20" name="Rectangle 26"/>
          <p:cNvSpPr/>
          <p:nvPr/>
        </p:nvSpPr>
        <p:spPr>
          <a:xfrm>
            <a:off x="8079840" y="4503960"/>
            <a:ext cx="376560" cy="307440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21" name="Rectangle 27"/>
          <p:cNvSpPr/>
          <p:nvPr/>
        </p:nvSpPr>
        <p:spPr>
          <a:xfrm>
            <a:off x="8079840" y="4939200"/>
            <a:ext cx="376560" cy="307440"/>
          </a:xfrm>
          <a:prstGeom prst="rect">
            <a:avLst/>
          </a:prstGeom>
          <a:solidFill>
            <a:srgbClr val="FF0000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22" name="Rectangle 28"/>
          <p:cNvSpPr/>
          <p:nvPr/>
        </p:nvSpPr>
        <p:spPr>
          <a:xfrm>
            <a:off x="8079840" y="5423040"/>
            <a:ext cx="376560" cy="307440"/>
          </a:xfrm>
          <a:prstGeom prst="rect">
            <a:avLst/>
          </a:prstGeom>
          <a:solidFill>
            <a:schemeClr val="accent3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graphicFrame>
        <p:nvGraphicFramePr>
          <p:cNvPr id="523" name="Table 1"/>
          <p:cNvGraphicFramePr/>
          <p:nvPr/>
        </p:nvGraphicFramePr>
        <p:xfrm>
          <a:off x="2975040" y="3963600"/>
          <a:ext cx="4975560" cy="1955520"/>
        </p:xfrm>
        <a:graphic>
          <a:graphicData uri="http://schemas.openxmlformats.org/drawingml/2006/table">
            <a:tbl>
              <a:tblPr/>
              <a:tblGrid>
                <a:gridCol w="1123560"/>
                <a:gridCol w="1026000"/>
                <a:gridCol w="914400"/>
                <a:gridCol w="941040"/>
                <a:gridCol w="970200"/>
              </a:tblGrid>
              <a:tr h="182880"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Sequence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Model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Serial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Time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Details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182880"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182880"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182880"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182880"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182880"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182880"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524" name="TextBox 29"/>
          <p:cNvSpPr/>
          <p:nvPr/>
        </p:nvSpPr>
        <p:spPr>
          <a:xfrm>
            <a:off x="2753640" y="3666240"/>
            <a:ext cx="422424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Details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525" name="Group 30"/>
          <p:cNvGrpSpPr/>
          <p:nvPr/>
        </p:nvGrpSpPr>
        <p:grpSpPr>
          <a:xfrm>
            <a:off x="1461960" y="788760"/>
            <a:ext cx="5013360" cy="1824480"/>
            <a:chOff x="1461960" y="788760"/>
            <a:chExt cx="5013360" cy="1824480"/>
          </a:xfrm>
        </p:grpSpPr>
        <p:sp>
          <p:nvSpPr>
            <p:cNvPr id="526" name="Rounded Rectangle 14"/>
            <p:cNvSpPr/>
            <p:nvPr/>
          </p:nvSpPr>
          <p:spPr>
            <a:xfrm>
              <a:off x="1555920" y="788760"/>
              <a:ext cx="561240" cy="142560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28575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7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START</a:t>
              </a:r>
              <a:endParaRPr lang="en-US" sz="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27" name="Rounded Rectangle 126"/>
            <p:cNvSpPr/>
            <p:nvPr/>
          </p:nvSpPr>
          <p:spPr>
            <a:xfrm>
              <a:off x="1473120" y="1257480"/>
              <a:ext cx="726480" cy="212760"/>
            </a:xfrm>
            <a:prstGeom prst="parallelogram">
              <a:avLst>
                <a:gd name="adj" fmla="val 25000"/>
              </a:avLst>
            </a:prstGeom>
            <a:solidFill>
              <a:srgbClr val="FF000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1: FAN MOTOR &amp; COMPRESSOR RECORDING and CHECKING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28" name="Rounded Rectangle 17"/>
            <p:cNvSpPr/>
            <p:nvPr/>
          </p:nvSpPr>
          <p:spPr>
            <a:xfrm>
              <a:off x="1582200" y="1600200"/>
              <a:ext cx="507960" cy="142560"/>
            </a:xfrm>
            <a:prstGeom prst="parallelogram">
              <a:avLst>
                <a:gd name="adj" fmla="val 25000"/>
              </a:avLst>
            </a:prstGeom>
            <a:solidFill>
              <a:srgbClr val="FFC00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1: AIRTIGHT TEST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529" name="Straight Arrow Connector 34"/>
            <p:cNvCxnSpPr>
              <a:stCxn id="527" idx="4"/>
              <a:endCxn id="528" idx="0"/>
            </p:cNvCxnSpPr>
            <p:nvPr/>
          </p:nvCxnSpPr>
          <p:spPr>
            <a:xfrm>
              <a:off x="1836360" y="1470240"/>
              <a:ext cx="360" cy="13032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530" name="Rounded Rectangle 126"/>
            <p:cNvSpPr/>
            <p:nvPr/>
          </p:nvSpPr>
          <p:spPr>
            <a:xfrm>
              <a:off x="1461960" y="1012320"/>
              <a:ext cx="748440" cy="142560"/>
            </a:xfrm>
            <a:prstGeom prst="roundRect">
              <a:avLst>
                <a:gd name="adj" fmla="val 0"/>
              </a:avLst>
            </a:prstGeom>
            <a:solidFill>
              <a:schemeClr val="bg2">
                <a:lumMod val="50000"/>
              </a:schemeClr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SCAN FOR MODEL THAT WILL BE IN PRODUCTION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531" name="Straight Arrow Connector 36"/>
            <p:cNvCxnSpPr>
              <a:stCxn id="530" idx="2"/>
              <a:endCxn id="527" idx="0"/>
            </p:cNvCxnSpPr>
            <p:nvPr/>
          </p:nvCxnSpPr>
          <p:spPr>
            <a:xfrm>
              <a:off x="1836360" y="1154880"/>
              <a:ext cx="360" cy="1029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532" name="Straight Arrow Connector 37"/>
            <p:cNvCxnSpPr>
              <a:stCxn id="526" idx="2"/>
              <a:endCxn id="530" idx="0"/>
            </p:cNvCxnSpPr>
            <p:nvPr/>
          </p:nvCxnSpPr>
          <p:spPr>
            <a:xfrm flipH="1">
              <a:off x="1836360" y="931320"/>
              <a:ext cx="720" cy="813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533" name="Rounded Rectangle 17"/>
            <p:cNvSpPr/>
            <p:nvPr/>
          </p:nvSpPr>
          <p:spPr>
            <a:xfrm>
              <a:off x="1558800" y="1872720"/>
              <a:ext cx="507960" cy="142560"/>
            </a:xfrm>
            <a:prstGeom prst="parallelogram">
              <a:avLst>
                <a:gd name="adj" fmla="val 25000"/>
              </a:avLst>
            </a:prstGeom>
            <a:solidFill>
              <a:srgbClr val="FFFF0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2: GAS CHARGING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17" name="Rounded Rectangle 17"/>
            <p:cNvSpPr/>
            <p:nvPr/>
          </p:nvSpPr>
          <p:spPr>
            <a:xfrm>
              <a:off x="1473120" y="212292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rgbClr val="00B05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4: CONTROL BOARD &amp; OUTDOOR PCB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534" name="Straight Arrow Connector 40"/>
            <p:cNvCxnSpPr>
              <a:stCxn id="528" idx="4"/>
              <a:endCxn id="533" idx="1"/>
            </p:cNvCxnSpPr>
            <p:nvPr/>
          </p:nvCxnSpPr>
          <p:spPr>
            <a:xfrm flipH="1">
              <a:off x="1830600" y="1742760"/>
              <a:ext cx="6120" cy="13032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535" name="Straight Arrow Connector 41"/>
            <p:cNvCxnSpPr>
              <a:stCxn id="533" idx="4"/>
              <a:endCxn id="517" idx="1"/>
            </p:cNvCxnSpPr>
            <p:nvPr/>
          </p:nvCxnSpPr>
          <p:spPr>
            <a:xfrm flipH="1">
              <a:off x="1805760" y="2015280"/>
              <a:ext cx="7560" cy="10800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536" name="Rounded Rectangle 17"/>
            <p:cNvSpPr/>
            <p:nvPr/>
          </p:nvSpPr>
          <p:spPr>
            <a:xfrm>
              <a:off x="1473120" y="241776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rgbClr val="00B0F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2: WIRING AND CONSTRUCTION INSPECTION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37" name="Rounded Rectangle 17"/>
            <p:cNvSpPr/>
            <p:nvPr/>
          </p:nvSpPr>
          <p:spPr>
            <a:xfrm>
              <a:off x="3665520" y="87012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chemeClr val="accent6">
                <a:lumMod val="75000"/>
              </a:schemeClr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: RUNNING INSPECTION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38" name="Rounded Rectangle 17"/>
            <p:cNvSpPr/>
            <p:nvPr/>
          </p:nvSpPr>
          <p:spPr>
            <a:xfrm>
              <a:off x="3669840" y="116064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chemeClr val="accent6">
                <a:lumMod val="40000"/>
                <a:lumOff val="60000"/>
              </a:schemeClr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5: FINAL INSPECTION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39" name="Rounded Rectangle 17"/>
            <p:cNvSpPr/>
            <p:nvPr/>
          </p:nvSpPr>
          <p:spPr>
            <a:xfrm>
              <a:off x="3669840" y="157392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chemeClr val="accent2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5: PACKAGING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540" name="Straight Arrow Connector 46"/>
            <p:cNvCxnSpPr/>
            <p:nvPr/>
          </p:nvCxnSpPr>
          <p:spPr>
            <a:xfrm>
              <a:off x="1812960" y="2318400"/>
              <a:ext cx="360" cy="10728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541" name="Rounded Rectangle 17"/>
            <p:cNvSpPr/>
            <p:nvPr/>
          </p:nvSpPr>
          <p:spPr>
            <a:xfrm>
              <a:off x="2571480" y="213228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rgbClr val="92D05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3: INDOOR CONTROL BOARD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542" name="Straight Arrow Connector 48"/>
            <p:cNvCxnSpPr/>
            <p:nvPr/>
          </p:nvCxnSpPr>
          <p:spPr>
            <a:xfrm flipH="1">
              <a:off x="2058120" y="2235960"/>
              <a:ext cx="540720" cy="3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543" name="Elbow Connector 175"/>
            <p:cNvCxnSpPr>
              <a:stCxn id="536" idx="2"/>
              <a:endCxn id="537" idx="1"/>
            </p:cNvCxnSpPr>
            <p:nvPr/>
          </p:nvCxnSpPr>
          <p:spPr>
            <a:xfrm flipV="1">
              <a:off x="2065320" y="870120"/>
              <a:ext cx="1933200" cy="1645920"/>
            </a:xfrm>
            <a:prstGeom prst="bentConnector4">
              <a:avLst>
                <a:gd name="adj1" fmla="val 228161"/>
                <a:gd name="adj2" fmla="val 76132"/>
              </a:avLst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544" name="Straight Arrow Connector 50"/>
            <p:cNvCxnSpPr>
              <a:stCxn id="538" idx="4"/>
              <a:endCxn id="539" idx="0"/>
            </p:cNvCxnSpPr>
            <p:nvPr/>
          </p:nvCxnSpPr>
          <p:spPr>
            <a:xfrm>
              <a:off x="3978000" y="1356120"/>
              <a:ext cx="360" cy="2181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545" name="Rounded Rectangle 14"/>
            <p:cNvSpPr/>
            <p:nvPr/>
          </p:nvSpPr>
          <p:spPr>
            <a:xfrm>
              <a:off x="3697560" y="1909080"/>
              <a:ext cx="561240" cy="142560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28575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7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END</a:t>
              </a:r>
              <a:endParaRPr lang="en-US" sz="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546" name="Straight Arrow Connector 52"/>
            <p:cNvCxnSpPr/>
            <p:nvPr/>
          </p:nvCxnSpPr>
          <p:spPr>
            <a:xfrm>
              <a:off x="3973680" y="1768680"/>
              <a:ext cx="360" cy="13068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547" name="Straight Arrow Connector 53"/>
            <p:cNvCxnSpPr>
              <a:stCxn id="537" idx="4"/>
            </p:cNvCxnSpPr>
            <p:nvPr/>
          </p:nvCxnSpPr>
          <p:spPr>
            <a:xfrm>
              <a:off x="3973680" y="1065600"/>
              <a:ext cx="360" cy="1029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</p:grpSp>
      <p:pic>
        <p:nvPicPr>
          <p:cNvPr id="548" name="Picture 3"/>
          <p:cNvPicPr/>
          <p:nvPr/>
        </p:nvPicPr>
        <p:blipFill>
          <a:blip r:embed="rId1"/>
          <a:stretch/>
        </p:blipFill>
        <p:spPr>
          <a:xfrm>
            <a:off x="7295040" y="4260240"/>
            <a:ext cx="294840" cy="132840"/>
          </a:xfrm>
          <a:prstGeom prst="rect">
            <a:avLst/>
          </a:prstGeom>
          <a:noFill/>
          <a:ln cap="sq" w="12700">
            <a:solidFill>
              <a:srgbClr val="000000"/>
            </a:solidFill>
            <a:miter/>
          </a:ln>
          <a:effectLst>
            <a:outerShdw algn="tl" blurRad="57240" dir="2700000" dist="50402" rotWithShape="0">
              <a:srgbClr val="000000">
                <a:alpha val="40000"/>
              </a:srgbClr>
            </a:outerShdw>
          </a:effectLst>
        </p:spPr>
      </p:pic>
      <p:pic>
        <p:nvPicPr>
          <p:cNvPr id="549" name="Picture 4"/>
          <p:cNvPicPr/>
          <p:nvPr/>
        </p:nvPicPr>
        <p:blipFill>
          <a:blip r:embed="rId2"/>
          <a:stretch/>
        </p:blipFill>
        <p:spPr>
          <a:xfrm>
            <a:off x="7295040" y="4524480"/>
            <a:ext cx="294840" cy="132840"/>
          </a:xfrm>
          <a:prstGeom prst="rect">
            <a:avLst/>
          </a:prstGeom>
          <a:noFill/>
          <a:ln cap="sq" w="12700">
            <a:solidFill>
              <a:srgbClr val="000000"/>
            </a:solidFill>
            <a:miter/>
          </a:ln>
          <a:effectLst>
            <a:outerShdw algn="tl" blurRad="57240" dir="2700000" dist="50402" rotWithShape="0">
              <a:srgbClr val="000000">
                <a:alpha val="40000"/>
              </a:srgbClr>
            </a:outerShdw>
          </a:effectLst>
        </p:spPr>
      </p:pic>
      <p:pic>
        <p:nvPicPr>
          <p:cNvPr id="550" name="Picture 5"/>
          <p:cNvPicPr/>
          <p:nvPr/>
        </p:nvPicPr>
        <p:blipFill>
          <a:blip r:embed="rId3"/>
          <a:stretch/>
        </p:blipFill>
        <p:spPr>
          <a:xfrm>
            <a:off x="7295040" y="4767120"/>
            <a:ext cx="294840" cy="132840"/>
          </a:xfrm>
          <a:prstGeom prst="rect">
            <a:avLst/>
          </a:prstGeom>
          <a:noFill/>
          <a:ln cap="sq" w="12700">
            <a:solidFill>
              <a:srgbClr val="000000"/>
            </a:solidFill>
            <a:miter/>
          </a:ln>
          <a:effectLst>
            <a:outerShdw algn="tl" blurRad="57240" dir="2700000" dist="50402" rotWithShape="0">
              <a:srgbClr val="000000">
                <a:alpha val="40000"/>
              </a:srgbClr>
            </a:outerShdw>
          </a:effectLst>
        </p:spPr>
      </p:pic>
      <p:pic>
        <p:nvPicPr>
          <p:cNvPr id="551" name="Picture 6"/>
          <p:cNvPicPr/>
          <p:nvPr/>
        </p:nvPicPr>
        <p:blipFill>
          <a:blip r:embed="rId4"/>
          <a:stretch/>
        </p:blipFill>
        <p:spPr>
          <a:xfrm>
            <a:off x="7287840" y="5007240"/>
            <a:ext cx="294840" cy="132840"/>
          </a:xfrm>
          <a:prstGeom prst="rect">
            <a:avLst/>
          </a:prstGeom>
          <a:noFill/>
          <a:ln cap="sq" w="12700">
            <a:solidFill>
              <a:srgbClr val="000000"/>
            </a:solidFill>
            <a:miter/>
          </a:ln>
          <a:effectLst>
            <a:outerShdw algn="tl" blurRad="57240" dir="2700000" dist="50402" rotWithShape="0">
              <a:srgbClr val="000000">
                <a:alpha val="40000"/>
              </a:srgbClr>
            </a:outerShdw>
          </a:effectLst>
        </p:spPr>
      </p:pic>
      <p:pic>
        <p:nvPicPr>
          <p:cNvPr id="552" name="Picture 7"/>
          <p:cNvPicPr/>
          <p:nvPr/>
        </p:nvPicPr>
        <p:blipFill>
          <a:blip r:embed="rId5"/>
          <a:stretch/>
        </p:blipFill>
        <p:spPr>
          <a:xfrm>
            <a:off x="7287840" y="5220720"/>
            <a:ext cx="294840" cy="132840"/>
          </a:xfrm>
          <a:prstGeom prst="rect">
            <a:avLst/>
          </a:prstGeom>
          <a:noFill/>
          <a:ln cap="sq" w="12700">
            <a:solidFill>
              <a:srgbClr val="000000"/>
            </a:solidFill>
            <a:miter/>
          </a:ln>
          <a:effectLst>
            <a:outerShdw algn="tl" blurRad="57240" dir="2700000" dist="50402" rotWithShape="0">
              <a:srgbClr val="000000">
                <a:alpha val="40000"/>
              </a:srgbClr>
            </a:outerShdw>
          </a:effectLst>
        </p:spPr>
      </p:pic>
      <p:pic>
        <p:nvPicPr>
          <p:cNvPr id="553" name="Picture 8"/>
          <p:cNvPicPr/>
          <p:nvPr/>
        </p:nvPicPr>
        <p:blipFill>
          <a:blip r:embed="rId6"/>
          <a:stretch/>
        </p:blipFill>
        <p:spPr>
          <a:xfrm>
            <a:off x="7287840" y="5484960"/>
            <a:ext cx="294840" cy="132840"/>
          </a:xfrm>
          <a:prstGeom prst="rect">
            <a:avLst/>
          </a:prstGeom>
          <a:noFill/>
          <a:ln cap="sq" w="12700">
            <a:solidFill>
              <a:srgbClr val="000000"/>
            </a:solidFill>
            <a:miter/>
          </a:ln>
          <a:effectLst>
            <a:outerShdw algn="tl" blurRad="57240" dir="2700000" dist="50402" rotWithShape="0">
              <a:srgbClr val="000000">
                <a:alpha val="40000"/>
              </a:srgbClr>
            </a:outerShdw>
          </a:effectLst>
        </p:spPr>
      </p:pic>
      <p:pic>
        <p:nvPicPr>
          <p:cNvPr id="554" name="Picture 9"/>
          <p:cNvPicPr/>
          <p:nvPr/>
        </p:nvPicPr>
        <p:blipFill>
          <a:blip r:embed="rId7"/>
          <a:stretch/>
        </p:blipFill>
        <p:spPr>
          <a:xfrm>
            <a:off x="7295040" y="5730840"/>
            <a:ext cx="294840" cy="132840"/>
          </a:xfrm>
          <a:prstGeom prst="rect">
            <a:avLst/>
          </a:prstGeom>
          <a:noFill/>
          <a:ln cap="sq" w="12700">
            <a:solidFill>
              <a:srgbClr val="000000"/>
            </a:solidFill>
            <a:miter/>
          </a:ln>
          <a:effectLst>
            <a:outerShdw algn="tl" blurRad="57240" dir="2700000" dist="50402" rotWithShape="0">
              <a:srgbClr val="000000">
                <a:alpha val="40000"/>
              </a:srgbClr>
            </a:outerShdw>
          </a:effectLst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Rectangle 205"/>
          <p:cNvSpPr/>
          <p:nvPr/>
        </p:nvSpPr>
        <p:spPr>
          <a:xfrm>
            <a:off x="1143000" y="8640"/>
            <a:ext cx="9905760" cy="308880"/>
          </a:xfrm>
          <a:prstGeom prst="rect">
            <a:avLst/>
          </a:prstGeom>
          <a:solidFill>
            <a:schemeClr val="accent1"/>
          </a:solidFill>
          <a:ln w="28575">
            <a:solidFill>
              <a:srgbClr val="00000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PH" sz="195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LINE AUTOMATION PROPOSAL</a:t>
            </a:r>
            <a:endParaRPr lang="en-US" sz="1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556" name="Straight Arrow Connector 10"/>
          <p:cNvCxnSpPr>
            <a:stCxn id="557" idx="2"/>
          </p:cNvCxnSpPr>
          <p:nvPr/>
        </p:nvCxnSpPr>
        <p:spPr>
          <a:xfrm>
            <a:off x="2065320" y="2220840"/>
            <a:ext cx="3278880" cy="1217520"/>
          </a:xfrm>
          <a:prstGeom prst="straightConnector1">
            <a:avLst/>
          </a:prstGeom>
          <a:ln>
            <a:solidFill>
              <a:srgbClr val="FF0000"/>
            </a:solidFill>
            <a:tailEnd len="med" type="triangle" w="med"/>
          </a:ln>
        </p:spPr>
      </p:cxnSp>
      <p:sp>
        <p:nvSpPr>
          <p:cNvPr id="558" name="Rectangle 19"/>
          <p:cNvSpPr/>
          <p:nvPr/>
        </p:nvSpPr>
        <p:spPr>
          <a:xfrm>
            <a:off x="2753640" y="3614400"/>
            <a:ext cx="6487560" cy="2500200"/>
          </a:xfrm>
          <a:prstGeom prst="rect">
            <a:avLst/>
          </a:prstGeom>
          <a:solidFill>
            <a:schemeClr val="bg2"/>
          </a:solidFill>
          <a:ln w="57150">
            <a:solidFill>
              <a:srgbClr val="4EA72E">
                <a:lumMod val="40000"/>
                <a:lumOff val="60000"/>
              </a:srgb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59" name="Rectangle 25"/>
          <p:cNvSpPr/>
          <p:nvPr/>
        </p:nvSpPr>
        <p:spPr>
          <a:xfrm>
            <a:off x="8079840" y="4045680"/>
            <a:ext cx="376560" cy="307440"/>
          </a:xfrm>
          <a:prstGeom prst="rect">
            <a:avLst/>
          </a:prstGeom>
          <a:solidFill>
            <a:schemeClr val="accent3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60" name="Rectangle 26"/>
          <p:cNvSpPr/>
          <p:nvPr/>
        </p:nvSpPr>
        <p:spPr>
          <a:xfrm>
            <a:off x="8079840" y="4503960"/>
            <a:ext cx="376560" cy="307440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61" name="Rectangle 27"/>
          <p:cNvSpPr/>
          <p:nvPr/>
        </p:nvSpPr>
        <p:spPr>
          <a:xfrm>
            <a:off x="8079840" y="4939200"/>
            <a:ext cx="376560" cy="307440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62" name="Rectangle 28"/>
          <p:cNvSpPr/>
          <p:nvPr/>
        </p:nvSpPr>
        <p:spPr>
          <a:xfrm>
            <a:off x="8079840" y="5423040"/>
            <a:ext cx="376560" cy="307440"/>
          </a:xfrm>
          <a:prstGeom prst="rect">
            <a:avLst/>
          </a:prstGeom>
          <a:solidFill>
            <a:srgbClr val="FF0000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graphicFrame>
        <p:nvGraphicFramePr>
          <p:cNvPr id="563" name="Table 1"/>
          <p:cNvGraphicFramePr/>
          <p:nvPr/>
        </p:nvGraphicFramePr>
        <p:xfrm>
          <a:off x="2975040" y="4045680"/>
          <a:ext cx="4466160" cy="1955520"/>
        </p:xfrm>
        <a:graphic>
          <a:graphicData uri="http://schemas.openxmlformats.org/drawingml/2006/table">
            <a:tbl>
              <a:tblPr/>
              <a:tblGrid>
                <a:gridCol w="1252800"/>
                <a:gridCol w="1144080"/>
                <a:gridCol w="1019520"/>
                <a:gridCol w="1049040"/>
              </a:tblGrid>
              <a:tr h="182880"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Model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Plan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Act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Variance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182880"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182880"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182880"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182880"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182880"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182880"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564" name="TextBox 3"/>
          <p:cNvSpPr/>
          <p:nvPr/>
        </p:nvSpPr>
        <p:spPr>
          <a:xfrm>
            <a:off x="2753640" y="3666240"/>
            <a:ext cx="422424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Schedule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565" name="Group 7"/>
          <p:cNvGrpSpPr/>
          <p:nvPr/>
        </p:nvGrpSpPr>
        <p:grpSpPr>
          <a:xfrm>
            <a:off x="1461960" y="788760"/>
            <a:ext cx="5013360" cy="1824480"/>
            <a:chOff x="1461960" y="788760"/>
            <a:chExt cx="5013360" cy="1824480"/>
          </a:xfrm>
        </p:grpSpPr>
        <p:sp>
          <p:nvSpPr>
            <p:cNvPr id="566" name="Rounded Rectangle 14"/>
            <p:cNvSpPr/>
            <p:nvPr/>
          </p:nvSpPr>
          <p:spPr>
            <a:xfrm>
              <a:off x="1555920" y="788760"/>
              <a:ext cx="561240" cy="142560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28575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7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START</a:t>
              </a:r>
              <a:endParaRPr lang="en-US" sz="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67" name="Rounded Rectangle 126"/>
            <p:cNvSpPr/>
            <p:nvPr/>
          </p:nvSpPr>
          <p:spPr>
            <a:xfrm>
              <a:off x="1473120" y="1257480"/>
              <a:ext cx="726480" cy="212760"/>
            </a:xfrm>
            <a:prstGeom prst="parallelogram">
              <a:avLst>
                <a:gd name="adj" fmla="val 25000"/>
              </a:avLst>
            </a:prstGeom>
            <a:solidFill>
              <a:srgbClr val="FF000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1: FAN MOTOR &amp; COMPRESSOR RECORDING and CHECKING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68" name="Rounded Rectangle 17"/>
            <p:cNvSpPr/>
            <p:nvPr/>
          </p:nvSpPr>
          <p:spPr>
            <a:xfrm>
              <a:off x="1582200" y="1600200"/>
              <a:ext cx="507960" cy="142560"/>
            </a:xfrm>
            <a:prstGeom prst="parallelogram">
              <a:avLst>
                <a:gd name="adj" fmla="val 25000"/>
              </a:avLst>
            </a:prstGeom>
            <a:solidFill>
              <a:srgbClr val="FFC00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1: AIRTIGHT TEST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569" name="Straight Arrow Connector 15"/>
            <p:cNvCxnSpPr>
              <a:stCxn id="567" idx="4"/>
              <a:endCxn id="568" idx="0"/>
            </p:cNvCxnSpPr>
            <p:nvPr/>
          </p:nvCxnSpPr>
          <p:spPr>
            <a:xfrm>
              <a:off x="1836360" y="1470240"/>
              <a:ext cx="360" cy="13032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570" name="Rounded Rectangle 126"/>
            <p:cNvSpPr/>
            <p:nvPr/>
          </p:nvSpPr>
          <p:spPr>
            <a:xfrm>
              <a:off x="1461960" y="1012320"/>
              <a:ext cx="748440" cy="142560"/>
            </a:xfrm>
            <a:prstGeom prst="roundRect">
              <a:avLst>
                <a:gd name="adj" fmla="val 0"/>
              </a:avLst>
            </a:prstGeom>
            <a:solidFill>
              <a:schemeClr val="bg2">
                <a:lumMod val="50000"/>
              </a:schemeClr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SCAN FOR MODEL THAT WILL BE IN PRODUCTION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571" name="Straight Arrow Connector 21"/>
            <p:cNvCxnSpPr>
              <a:stCxn id="570" idx="2"/>
              <a:endCxn id="567" idx="0"/>
            </p:cNvCxnSpPr>
            <p:nvPr/>
          </p:nvCxnSpPr>
          <p:spPr>
            <a:xfrm>
              <a:off x="1836360" y="1154880"/>
              <a:ext cx="360" cy="1029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572" name="Straight Arrow Connector 22"/>
            <p:cNvCxnSpPr>
              <a:stCxn id="566" idx="2"/>
              <a:endCxn id="570" idx="0"/>
            </p:cNvCxnSpPr>
            <p:nvPr/>
          </p:nvCxnSpPr>
          <p:spPr>
            <a:xfrm flipH="1">
              <a:off x="1836360" y="931320"/>
              <a:ext cx="720" cy="813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573" name="Rounded Rectangle 17"/>
            <p:cNvSpPr/>
            <p:nvPr/>
          </p:nvSpPr>
          <p:spPr>
            <a:xfrm>
              <a:off x="1558800" y="1872720"/>
              <a:ext cx="507960" cy="142560"/>
            </a:xfrm>
            <a:prstGeom prst="parallelogram">
              <a:avLst>
                <a:gd name="adj" fmla="val 25000"/>
              </a:avLst>
            </a:prstGeom>
            <a:solidFill>
              <a:srgbClr val="FFFF0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2: GAS CHARGING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57" name="Rounded Rectangle 17"/>
            <p:cNvSpPr/>
            <p:nvPr/>
          </p:nvSpPr>
          <p:spPr>
            <a:xfrm>
              <a:off x="1473120" y="212292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rgbClr val="00B05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4: CONTROL BOARD &amp; OUTDOOR PCB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574" name="Straight Arrow Connector 31"/>
            <p:cNvCxnSpPr>
              <a:stCxn id="568" idx="4"/>
              <a:endCxn id="573" idx="1"/>
            </p:cNvCxnSpPr>
            <p:nvPr/>
          </p:nvCxnSpPr>
          <p:spPr>
            <a:xfrm flipH="1">
              <a:off x="1830600" y="1742760"/>
              <a:ext cx="6120" cy="13032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575" name="Straight Arrow Connector 32"/>
            <p:cNvCxnSpPr>
              <a:stCxn id="573" idx="4"/>
              <a:endCxn id="557" idx="1"/>
            </p:cNvCxnSpPr>
            <p:nvPr/>
          </p:nvCxnSpPr>
          <p:spPr>
            <a:xfrm flipH="1">
              <a:off x="1805760" y="2015280"/>
              <a:ext cx="7560" cy="10800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576" name="Rounded Rectangle 17"/>
            <p:cNvSpPr/>
            <p:nvPr/>
          </p:nvSpPr>
          <p:spPr>
            <a:xfrm>
              <a:off x="1473120" y="241776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rgbClr val="00B0F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2: WIRING AND CONSTRUCTION INSPECTION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77" name="Rounded Rectangle 17"/>
            <p:cNvSpPr/>
            <p:nvPr/>
          </p:nvSpPr>
          <p:spPr>
            <a:xfrm>
              <a:off x="3665520" y="87012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chemeClr val="accent6">
                <a:lumMod val="75000"/>
              </a:schemeClr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: RUNNING INSPECTION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78" name="Rounded Rectangle 17"/>
            <p:cNvSpPr/>
            <p:nvPr/>
          </p:nvSpPr>
          <p:spPr>
            <a:xfrm>
              <a:off x="3669840" y="116064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chemeClr val="accent6">
                <a:lumMod val="40000"/>
                <a:lumOff val="60000"/>
              </a:schemeClr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5: FINAL INSPECTION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79" name="Rounded Rectangle 17"/>
            <p:cNvSpPr/>
            <p:nvPr/>
          </p:nvSpPr>
          <p:spPr>
            <a:xfrm>
              <a:off x="3669840" y="157392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chemeClr val="accent2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5: PACKAGING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580" name="Straight Arrow Connector 37"/>
            <p:cNvCxnSpPr/>
            <p:nvPr/>
          </p:nvCxnSpPr>
          <p:spPr>
            <a:xfrm>
              <a:off x="1812960" y="2318400"/>
              <a:ext cx="360" cy="10728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581" name="Rounded Rectangle 17"/>
            <p:cNvSpPr/>
            <p:nvPr/>
          </p:nvSpPr>
          <p:spPr>
            <a:xfrm>
              <a:off x="2571480" y="213228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rgbClr val="92D05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3: INDOOR CONTROL BOARD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582" name="Straight Arrow Connector 39"/>
            <p:cNvCxnSpPr/>
            <p:nvPr/>
          </p:nvCxnSpPr>
          <p:spPr>
            <a:xfrm flipH="1">
              <a:off x="2058120" y="2235960"/>
              <a:ext cx="540720" cy="3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583" name="Elbow Connector 175"/>
            <p:cNvCxnSpPr>
              <a:stCxn id="576" idx="2"/>
              <a:endCxn id="577" idx="1"/>
            </p:cNvCxnSpPr>
            <p:nvPr/>
          </p:nvCxnSpPr>
          <p:spPr>
            <a:xfrm flipV="1">
              <a:off x="2065320" y="870120"/>
              <a:ext cx="1933200" cy="1645920"/>
            </a:xfrm>
            <a:prstGeom prst="bentConnector4">
              <a:avLst>
                <a:gd name="adj1" fmla="val 228161"/>
                <a:gd name="adj2" fmla="val 76132"/>
              </a:avLst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584" name="Straight Arrow Connector 41"/>
            <p:cNvCxnSpPr>
              <a:stCxn id="578" idx="4"/>
              <a:endCxn id="579" idx="0"/>
            </p:cNvCxnSpPr>
            <p:nvPr/>
          </p:nvCxnSpPr>
          <p:spPr>
            <a:xfrm>
              <a:off x="3978000" y="1356120"/>
              <a:ext cx="360" cy="2181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585" name="Rounded Rectangle 14"/>
            <p:cNvSpPr/>
            <p:nvPr/>
          </p:nvSpPr>
          <p:spPr>
            <a:xfrm>
              <a:off x="3697560" y="1909080"/>
              <a:ext cx="561240" cy="142560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28575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7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END</a:t>
              </a:r>
              <a:endParaRPr lang="en-US" sz="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586" name="Straight Arrow Connector 43"/>
            <p:cNvCxnSpPr/>
            <p:nvPr/>
          </p:nvCxnSpPr>
          <p:spPr>
            <a:xfrm>
              <a:off x="3973680" y="1768680"/>
              <a:ext cx="360" cy="13068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587" name="Straight Arrow Connector 44"/>
            <p:cNvCxnSpPr>
              <a:stCxn id="577" idx="4"/>
            </p:cNvCxnSpPr>
            <p:nvPr/>
          </p:nvCxnSpPr>
          <p:spPr>
            <a:xfrm>
              <a:off x="3973680" y="1065600"/>
              <a:ext cx="360" cy="1029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8" name="Rectangle 205"/>
          <p:cNvSpPr/>
          <p:nvPr/>
        </p:nvSpPr>
        <p:spPr>
          <a:xfrm>
            <a:off x="1143000" y="8640"/>
            <a:ext cx="9905760" cy="308880"/>
          </a:xfrm>
          <a:prstGeom prst="rect">
            <a:avLst/>
          </a:prstGeom>
          <a:solidFill>
            <a:schemeClr val="accent1"/>
          </a:solidFill>
          <a:ln w="28575">
            <a:solidFill>
              <a:srgbClr val="00000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PH" sz="195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LINE AUTOMATION PROPOSAL</a:t>
            </a:r>
            <a:endParaRPr lang="en-US" sz="1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589" name="Straight Arrow Connector 10"/>
          <p:cNvCxnSpPr>
            <a:stCxn id="590" idx="2"/>
          </p:cNvCxnSpPr>
          <p:nvPr/>
        </p:nvCxnSpPr>
        <p:spPr>
          <a:xfrm>
            <a:off x="2065320" y="2515680"/>
            <a:ext cx="3278880" cy="922680"/>
          </a:xfrm>
          <a:prstGeom prst="straightConnector1">
            <a:avLst/>
          </a:prstGeom>
          <a:ln>
            <a:solidFill>
              <a:srgbClr val="FF0000"/>
            </a:solidFill>
            <a:tailEnd len="med" type="triangle" w="med"/>
          </a:ln>
        </p:spPr>
      </p:cxnSp>
      <p:sp>
        <p:nvSpPr>
          <p:cNvPr id="591" name="Rectangle 19"/>
          <p:cNvSpPr/>
          <p:nvPr/>
        </p:nvSpPr>
        <p:spPr>
          <a:xfrm>
            <a:off x="2753640" y="3614400"/>
            <a:ext cx="6487560" cy="2500200"/>
          </a:xfrm>
          <a:prstGeom prst="rect">
            <a:avLst/>
          </a:prstGeom>
          <a:solidFill>
            <a:schemeClr val="bg2"/>
          </a:solidFill>
          <a:ln w="57150">
            <a:solidFill>
              <a:srgbClr val="4EA72E">
                <a:lumMod val="40000"/>
                <a:lumOff val="60000"/>
              </a:srgb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92" name="TextBox 3"/>
          <p:cNvSpPr/>
          <p:nvPr/>
        </p:nvSpPr>
        <p:spPr>
          <a:xfrm>
            <a:off x="2753640" y="3666240"/>
            <a:ext cx="422424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Scan Model and Wiring and Construction Inspection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3" name="Rectangle 7"/>
          <p:cNvSpPr/>
          <p:nvPr/>
        </p:nvSpPr>
        <p:spPr>
          <a:xfrm>
            <a:off x="3726720" y="4058280"/>
            <a:ext cx="2025720" cy="307440"/>
          </a:xfrm>
          <a:prstGeom prst="rect">
            <a:avLst/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94" name="TextBox 15"/>
          <p:cNvSpPr/>
          <p:nvPr/>
        </p:nvSpPr>
        <p:spPr>
          <a:xfrm>
            <a:off x="2920680" y="4058280"/>
            <a:ext cx="119124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MODEL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5" name="TextBox 16"/>
          <p:cNvSpPr/>
          <p:nvPr/>
        </p:nvSpPr>
        <p:spPr>
          <a:xfrm>
            <a:off x="5997600" y="4058280"/>
            <a:ext cx="124092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SERIAL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6" name="Rectangle 1"/>
          <p:cNvSpPr/>
          <p:nvPr/>
        </p:nvSpPr>
        <p:spPr>
          <a:xfrm>
            <a:off x="6792840" y="4058280"/>
            <a:ext cx="2025720" cy="307440"/>
          </a:xfrm>
          <a:prstGeom prst="rect">
            <a:avLst/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97" name="Oval 2"/>
          <p:cNvSpPr/>
          <p:nvPr/>
        </p:nvSpPr>
        <p:spPr>
          <a:xfrm>
            <a:off x="4269960" y="4644720"/>
            <a:ext cx="1191240" cy="1191240"/>
          </a:xfrm>
          <a:prstGeom prst="ellipse">
            <a:avLst/>
          </a:prstGeom>
          <a:solidFill>
            <a:srgbClr val="00B050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98" name="Oval 14"/>
          <p:cNvSpPr/>
          <p:nvPr/>
        </p:nvSpPr>
        <p:spPr>
          <a:xfrm>
            <a:off x="6118560" y="4644720"/>
            <a:ext cx="1191240" cy="1191240"/>
          </a:xfrm>
          <a:prstGeom prst="ellipse">
            <a:avLst/>
          </a:prstGeom>
          <a:solidFill>
            <a:srgbClr val="FF0000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599" name="TextBox 22"/>
          <p:cNvSpPr/>
          <p:nvPr/>
        </p:nvSpPr>
        <p:spPr>
          <a:xfrm>
            <a:off x="4269960" y="5086440"/>
            <a:ext cx="119124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GOOD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0" name="TextBox 29"/>
          <p:cNvSpPr/>
          <p:nvPr/>
        </p:nvSpPr>
        <p:spPr>
          <a:xfrm>
            <a:off x="6134760" y="5086440"/>
            <a:ext cx="119124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 GOOD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01" name="Group 31"/>
          <p:cNvGrpSpPr/>
          <p:nvPr/>
        </p:nvGrpSpPr>
        <p:grpSpPr>
          <a:xfrm>
            <a:off x="1461960" y="788760"/>
            <a:ext cx="5013360" cy="1824480"/>
            <a:chOff x="1461960" y="788760"/>
            <a:chExt cx="5013360" cy="1824480"/>
          </a:xfrm>
        </p:grpSpPr>
        <p:sp>
          <p:nvSpPr>
            <p:cNvPr id="602" name="Rounded Rectangle 14"/>
            <p:cNvSpPr/>
            <p:nvPr/>
          </p:nvSpPr>
          <p:spPr>
            <a:xfrm>
              <a:off x="1555920" y="788760"/>
              <a:ext cx="561240" cy="142560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28575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7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START</a:t>
              </a:r>
              <a:endParaRPr lang="en-US" sz="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03" name="Rounded Rectangle 126"/>
            <p:cNvSpPr/>
            <p:nvPr/>
          </p:nvSpPr>
          <p:spPr>
            <a:xfrm>
              <a:off x="1473120" y="1257480"/>
              <a:ext cx="726480" cy="212760"/>
            </a:xfrm>
            <a:prstGeom prst="parallelogram">
              <a:avLst>
                <a:gd name="adj" fmla="val 25000"/>
              </a:avLst>
            </a:prstGeom>
            <a:solidFill>
              <a:srgbClr val="FF000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1: FAN MOTOR &amp; COMPRESSOR RECORDING and CHECKING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04" name="Rounded Rectangle 17"/>
            <p:cNvSpPr/>
            <p:nvPr/>
          </p:nvSpPr>
          <p:spPr>
            <a:xfrm>
              <a:off x="1582200" y="1600200"/>
              <a:ext cx="507960" cy="142560"/>
            </a:xfrm>
            <a:prstGeom prst="parallelogram">
              <a:avLst>
                <a:gd name="adj" fmla="val 25000"/>
              </a:avLst>
            </a:prstGeom>
            <a:solidFill>
              <a:srgbClr val="FFC00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1: AIRTIGHT TEST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605" name="Straight Arrow Connector 35"/>
            <p:cNvCxnSpPr>
              <a:stCxn id="603" idx="4"/>
              <a:endCxn id="604" idx="0"/>
            </p:cNvCxnSpPr>
            <p:nvPr/>
          </p:nvCxnSpPr>
          <p:spPr>
            <a:xfrm>
              <a:off x="1836360" y="1470240"/>
              <a:ext cx="360" cy="13032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606" name="Rounded Rectangle 126"/>
            <p:cNvSpPr/>
            <p:nvPr/>
          </p:nvSpPr>
          <p:spPr>
            <a:xfrm>
              <a:off x="1461960" y="1012320"/>
              <a:ext cx="748440" cy="142560"/>
            </a:xfrm>
            <a:prstGeom prst="roundRect">
              <a:avLst>
                <a:gd name="adj" fmla="val 0"/>
              </a:avLst>
            </a:prstGeom>
            <a:solidFill>
              <a:schemeClr val="bg2">
                <a:lumMod val="50000"/>
              </a:schemeClr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SCAN FOR MODEL THAT WILL BE IN PRODUCTION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607" name="Straight Arrow Connector 37"/>
            <p:cNvCxnSpPr>
              <a:stCxn id="606" idx="2"/>
              <a:endCxn id="603" idx="0"/>
            </p:cNvCxnSpPr>
            <p:nvPr/>
          </p:nvCxnSpPr>
          <p:spPr>
            <a:xfrm>
              <a:off x="1836360" y="1154880"/>
              <a:ext cx="360" cy="1029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608" name="Straight Arrow Connector 38"/>
            <p:cNvCxnSpPr>
              <a:stCxn id="602" idx="2"/>
              <a:endCxn id="606" idx="0"/>
            </p:cNvCxnSpPr>
            <p:nvPr/>
          </p:nvCxnSpPr>
          <p:spPr>
            <a:xfrm flipH="1">
              <a:off x="1836360" y="931320"/>
              <a:ext cx="720" cy="813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609" name="Rounded Rectangle 17"/>
            <p:cNvSpPr/>
            <p:nvPr/>
          </p:nvSpPr>
          <p:spPr>
            <a:xfrm>
              <a:off x="1558800" y="1872720"/>
              <a:ext cx="507960" cy="142560"/>
            </a:xfrm>
            <a:prstGeom prst="parallelogram">
              <a:avLst>
                <a:gd name="adj" fmla="val 25000"/>
              </a:avLst>
            </a:prstGeom>
            <a:solidFill>
              <a:srgbClr val="FFFF0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2: GAS CHARGING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10" name="Rounded Rectangle 17"/>
            <p:cNvSpPr/>
            <p:nvPr/>
          </p:nvSpPr>
          <p:spPr>
            <a:xfrm>
              <a:off x="1473120" y="212292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rgbClr val="00B05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4: CONTROL BOARD &amp; OUTDOOR PCB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611" name="Straight Arrow Connector 41"/>
            <p:cNvCxnSpPr>
              <a:stCxn id="604" idx="4"/>
              <a:endCxn id="609" idx="1"/>
            </p:cNvCxnSpPr>
            <p:nvPr/>
          </p:nvCxnSpPr>
          <p:spPr>
            <a:xfrm flipH="1">
              <a:off x="1830600" y="1742760"/>
              <a:ext cx="6120" cy="13032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612" name="Straight Arrow Connector 42"/>
            <p:cNvCxnSpPr>
              <a:stCxn id="609" idx="4"/>
              <a:endCxn id="610" idx="1"/>
            </p:cNvCxnSpPr>
            <p:nvPr/>
          </p:nvCxnSpPr>
          <p:spPr>
            <a:xfrm flipH="1">
              <a:off x="1805760" y="2015280"/>
              <a:ext cx="7560" cy="10800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590" name="Rounded Rectangle 17"/>
            <p:cNvSpPr/>
            <p:nvPr/>
          </p:nvSpPr>
          <p:spPr>
            <a:xfrm>
              <a:off x="1473120" y="241776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rgbClr val="00B0F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2: WIRING AND CONSTRUCTION INSPECTION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13" name="Rounded Rectangle 17"/>
            <p:cNvSpPr/>
            <p:nvPr/>
          </p:nvSpPr>
          <p:spPr>
            <a:xfrm>
              <a:off x="3665520" y="87012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chemeClr val="accent6">
                <a:lumMod val="75000"/>
              </a:schemeClr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: RUNNING INSPECTION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14" name="Rounded Rectangle 17"/>
            <p:cNvSpPr/>
            <p:nvPr/>
          </p:nvSpPr>
          <p:spPr>
            <a:xfrm>
              <a:off x="3669840" y="116064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chemeClr val="accent6">
                <a:lumMod val="40000"/>
                <a:lumOff val="60000"/>
              </a:schemeClr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5: FINAL INSPECTION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15" name="Rounded Rectangle 17"/>
            <p:cNvSpPr/>
            <p:nvPr/>
          </p:nvSpPr>
          <p:spPr>
            <a:xfrm>
              <a:off x="3669840" y="157392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chemeClr val="accent2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5: PACKAGING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616" name="Straight Arrow Connector 47"/>
            <p:cNvCxnSpPr/>
            <p:nvPr/>
          </p:nvCxnSpPr>
          <p:spPr>
            <a:xfrm>
              <a:off x="1812960" y="2318400"/>
              <a:ext cx="360" cy="10728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617" name="Rounded Rectangle 17"/>
            <p:cNvSpPr/>
            <p:nvPr/>
          </p:nvSpPr>
          <p:spPr>
            <a:xfrm>
              <a:off x="2571480" y="213228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rgbClr val="92D05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3: INDOOR CONTROL BOARD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618" name="Straight Arrow Connector 49"/>
            <p:cNvCxnSpPr/>
            <p:nvPr/>
          </p:nvCxnSpPr>
          <p:spPr>
            <a:xfrm flipH="1">
              <a:off x="2058120" y="2235960"/>
              <a:ext cx="540720" cy="3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619" name="Elbow Connector 175"/>
            <p:cNvCxnSpPr>
              <a:stCxn id="590" idx="2"/>
              <a:endCxn id="613" idx="1"/>
            </p:cNvCxnSpPr>
            <p:nvPr/>
          </p:nvCxnSpPr>
          <p:spPr>
            <a:xfrm flipV="1">
              <a:off x="2065320" y="870120"/>
              <a:ext cx="1933200" cy="1645920"/>
            </a:xfrm>
            <a:prstGeom prst="bentConnector4">
              <a:avLst>
                <a:gd name="adj1" fmla="val 228161"/>
                <a:gd name="adj2" fmla="val 76132"/>
              </a:avLst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620" name="Straight Arrow Connector 51"/>
            <p:cNvCxnSpPr>
              <a:stCxn id="614" idx="4"/>
              <a:endCxn id="615" idx="0"/>
            </p:cNvCxnSpPr>
            <p:nvPr/>
          </p:nvCxnSpPr>
          <p:spPr>
            <a:xfrm>
              <a:off x="3978000" y="1356120"/>
              <a:ext cx="360" cy="2181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621" name="Rounded Rectangle 14"/>
            <p:cNvSpPr/>
            <p:nvPr/>
          </p:nvSpPr>
          <p:spPr>
            <a:xfrm>
              <a:off x="3697560" y="1909080"/>
              <a:ext cx="561240" cy="142560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28575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7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END</a:t>
              </a:r>
              <a:endParaRPr lang="en-US" sz="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622" name="Straight Arrow Connector 53"/>
            <p:cNvCxnSpPr/>
            <p:nvPr/>
          </p:nvCxnSpPr>
          <p:spPr>
            <a:xfrm>
              <a:off x="3973680" y="1768680"/>
              <a:ext cx="360" cy="13068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623" name="Straight Arrow Connector 54"/>
            <p:cNvCxnSpPr>
              <a:stCxn id="613" idx="4"/>
            </p:cNvCxnSpPr>
            <p:nvPr/>
          </p:nvCxnSpPr>
          <p:spPr>
            <a:xfrm>
              <a:off x="3973680" y="1065600"/>
              <a:ext cx="360" cy="1029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Rectangle 205"/>
          <p:cNvSpPr/>
          <p:nvPr/>
        </p:nvSpPr>
        <p:spPr>
          <a:xfrm>
            <a:off x="1143000" y="8640"/>
            <a:ext cx="9905760" cy="308880"/>
          </a:xfrm>
          <a:prstGeom prst="rect">
            <a:avLst/>
          </a:prstGeom>
          <a:solidFill>
            <a:schemeClr val="accent1"/>
          </a:solidFill>
          <a:ln w="28575">
            <a:solidFill>
              <a:srgbClr val="00000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PH" sz="195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LINE AUTOMATION PROPOSAL</a:t>
            </a:r>
            <a:endParaRPr lang="en-US" sz="1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625" name="Straight Arrow Connector 10"/>
          <p:cNvCxnSpPr>
            <a:stCxn id="626" idx="2"/>
          </p:cNvCxnSpPr>
          <p:nvPr/>
        </p:nvCxnSpPr>
        <p:spPr>
          <a:xfrm>
            <a:off x="4257720" y="968040"/>
            <a:ext cx="1086480" cy="2470320"/>
          </a:xfrm>
          <a:prstGeom prst="straightConnector1">
            <a:avLst/>
          </a:prstGeom>
          <a:ln>
            <a:solidFill>
              <a:srgbClr val="FF0000"/>
            </a:solidFill>
            <a:tailEnd len="med" type="triangle" w="med"/>
          </a:ln>
        </p:spPr>
      </p:cxnSp>
      <p:sp>
        <p:nvSpPr>
          <p:cNvPr id="627" name="Rectangle 19"/>
          <p:cNvSpPr/>
          <p:nvPr/>
        </p:nvSpPr>
        <p:spPr>
          <a:xfrm>
            <a:off x="2753640" y="3614400"/>
            <a:ext cx="6487560" cy="2500200"/>
          </a:xfrm>
          <a:prstGeom prst="rect">
            <a:avLst/>
          </a:prstGeom>
          <a:solidFill>
            <a:schemeClr val="bg2"/>
          </a:solidFill>
          <a:ln w="57150">
            <a:solidFill>
              <a:srgbClr val="4EA72E">
                <a:lumMod val="40000"/>
                <a:lumOff val="60000"/>
              </a:srgb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628" name="TextBox 3"/>
          <p:cNvSpPr/>
          <p:nvPr/>
        </p:nvSpPr>
        <p:spPr>
          <a:xfrm>
            <a:off x="2753640" y="3666240"/>
            <a:ext cx="422424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Scan Model and Inspection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9" name="Rectangle 7"/>
          <p:cNvSpPr/>
          <p:nvPr/>
        </p:nvSpPr>
        <p:spPr>
          <a:xfrm>
            <a:off x="3726720" y="4058280"/>
            <a:ext cx="2025720" cy="307440"/>
          </a:xfrm>
          <a:prstGeom prst="rect">
            <a:avLst/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630" name="TextBox 15"/>
          <p:cNvSpPr/>
          <p:nvPr/>
        </p:nvSpPr>
        <p:spPr>
          <a:xfrm>
            <a:off x="2920680" y="4058280"/>
            <a:ext cx="119124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MODEL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1" name="TextBox 16"/>
          <p:cNvSpPr/>
          <p:nvPr/>
        </p:nvSpPr>
        <p:spPr>
          <a:xfrm>
            <a:off x="5997600" y="4058280"/>
            <a:ext cx="124092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SERIAL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2" name="Rectangle 1"/>
          <p:cNvSpPr/>
          <p:nvPr/>
        </p:nvSpPr>
        <p:spPr>
          <a:xfrm>
            <a:off x="6792840" y="4058280"/>
            <a:ext cx="2025720" cy="307440"/>
          </a:xfrm>
          <a:prstGeom prst="rect">
            <a:avLst/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633" name="Oval 2"/>
          <p:cNvSpPr/>
          <p:nvPr/>
        </p:nvSpPr>
        <p:spPr>
          <a:xfrm>
            <a:off x="4269960" y="4644720"/>
            <a:ext cx="1191240" cy="1191240"/>
          </a:xfrm>
          <a:prstGeom prst="ellipse">
            <a:avLst/>
          </a:prstGeom>
          <a:solidFill>
            <a:srgbClr val="00B050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634" name="Oval 14"/>
          <p:cNvSpPr/>
          <p:nvPr/>
        </p:nvSpPr>
        <p:spPr>
          <a:xfrm>
            <a:off x="6118560" y="4644720"/>
            <a:ext cx="1191240" cy="1191240"/>
          </a:xfrm>
          <a:prstGeom prst="ellipse">
            <a:avLst/>
          </a:prstGeom>
          <a:solidFill>
            <a:srgbClr val="FF0000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635" name="TextBox 22"/>
          <p:cNvSpPr/>
          <p:nvPr/>
        </p:nvSpPr>
        <p:spPr>
          <a:xfrm>
            <a:off x="4269960" y="5086440"/>
            <a:ext cx="119124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GOOD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6" name="TextBox 29"/>
          <p:cNvSpPr/>
          <p:nvPr/>
        </p:nvSpPr>
        <p:spPr>
          <a:xfrm>
            <a:off x="6134760" y="5086440"/>
            <a:ext cx="119124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 GOOD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37" name="Group 31"/>
          <p:cNvGrpSpPr/>
          <p:nvPr/>
        </p:nvGrpSpPr>
        <p:grpSpPr>
          <a:xfrm>
            <a:off x="1461960" y="788760"/>
            <a:ext cx="5013360" cy="1824480"/>
            <a:chOff x="1461960" y="788760"/>
            <a:chExt cx="5013360" cy="1824480"/>
          </a:xfrm>
        </p:grpSpPr>
        <p:sp>
          <p:nvSpPr>
            <p:cNvPr id="638" name="Rounded Rectangle 14"/>
            <p:cNvSpPr/>
            <p:nvPr/>
          </p:nvSpPr>
          <p:spPr>
            <a:xfrm>
              <a:off x="1555920" y="788760"/>
              <a:ext cx="561240" cy="142560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28575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7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START</a:t>
              </a:r>
              <a:endParaRPr lang="en-US" sz="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39" name="Rounded Rectangle 126"/>
            <p:cNvSpPr/>
            <p:nvPr/>
          </p:nvSpPr>
          <p:spPr>
            <a:xfrm>
              <a:off x="1473120" y="1257480"/>
              <a:ext cx="726480" cy="212760"/>
            </a:xfrm>
            <a:prstGeom prst="parallelogram">
              <a:avLst>
                <a:gd name="adj" fmla="val 25000"/>
              </a:avLst>
            </a:prstGeom>
            <a:solidFill>
              <a:srgbClr val="FF000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1: FAN MOTOR &amp; COMPRESSOR RECORDING and CHECKING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40" name="Rounded Rectangle 17"/>
            <p:cNvSpPr/>
            <p:nvPr/>
          </p:nvSpPr>
          <p:spPr>
            <a:xfrm>
              <a:off x="1582200" y="1600200"/>
              <a:ext cx="507960" cy="142560"/>
            </a:xfrm>
            <a:prstGeom prst="parallelogram">
              <a:avLst>
                <a:gd name="adj" fmla="val 25000"/>
              </a:avLst>
            </a:prstGeom>
            <a:solidFill>
              <a:srgbClr val="FFC00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1: AIRTIGHT TEST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641" name="Straight Arrow Connector 35"/>
            <p:cNvCxnSpPr>
              <a:stCxn id="639" idx="4"/>
              <a:endCxn id="640" idx="0"/>
            </p:cNvCxnSpPr>
            <p:nvPr/>
          </p:nvCxnSpPr>
          <p:spPr>
            <a:xfrm>
              <a:off x="1836360" y="1470240"/>
              <a:ext cx="360" cy="13032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642" name="Rounded Rectangle 126"/>
            <p:cNvSpPr/>
            <p:nvPr/>
          </p:nvSpPr>
          <p:spPr>
            <a:xfrm>
              <a:off x="1461960" y="1012320"/>
              <a:ext cx="748440" cy="142560"/>
            </a:xfrm>
            <a:prstGeom prst="roundRect">
              <a:avLst>
                <a:gd name="adj" fmla="val 0"/>
              </a:avLst>
            </a:prstGeom>
            <a:solidFill>
              <a:schemeClr val="bg2">
                <a:lumMod val="50000"/>
              </a:schemeClr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SCAN FOR MODEL THAT WILL BE IN PRODUCTION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643" name="Straight Arrow Connector 37"/>
            <p:cNvCxnSpPr>
              <a:stCxn id="642" idx="2"/>
              <a:endCxn id="639" idx="0"/>
            </p:cNvCxnSpPr>
            <p:nvPr/>
          </p:nvCxnSpPr>
          <p:spPr>
            <a:xfrm>
              <a:off x="1836360" y="1154880"/>
              <a:ext cx="360" cy="1029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644" name="Straight Arrow Connector 38"/>
            <p:cNvCxnSpPr>
              <a:stCxn id="638" idx="2"/>
              <a:endCxn id="642" idx="0"/>
            </p:cNvCxnSpPr>
            <p:nvPr/>
          </p:nvCxnSpPr>
          <p:spPr>
            <a:xfrm flipH="1">
              <a:off x="1836360" y="931320"/>
              <a:ext cx="720" cy="813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645" name="Rounded Rectangle 17"/>
            <p:cNvSpPr/>
            <p:nvPr/>
          </p:nvSpPr>
          <p:spPr>
            <a:xfrm>
              <a:off x="1558800" y="1872720"/>
              <a:ext cx="507960" cy="142560"/>
            </a:xfrm>
            <a:prstGeom prst="parallelogram">
              <a:avLst>
                <a:gd name="adj" fmla="val 25000"/>
              </a:avLst>
            </a:prstGeom>
            <a:solidFill>
              <a:srgbClr val="FFFF0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2: GAS CHARGING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46" name="Rounded Rectangle 17"/>
            <p:cNvSpPr/>
            <p:nvPr/>
          </p:nvSpPr>
          <p:spPr>
            <a:xfrm>
              <a:off x="1473120" y="212292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rgbClr val="00B05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4: CONTROL BOARD &amp; OUTDOOR PCB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647" name="Straight Arrow Connector 41"/>
            <p:cNvCxnSpPr>
              <a:stCxn id="640" idx="4"/>
              <a:endCxn id="645" idx="1"/>
            </p:cNvCxnSpPr>
            <p:nvPr/>
          </p:nvCxnSpPr>
          <p:spPr>
            <a:xfrm flipH="1">
              <a:off x="1830600" y="1742760"/>
              <a:ext cx="6120" cy="13032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648" name="Straight Arrow Connector 42"/>
            <p:cNvCxnSpPr>
              <a:stCxn id="645" idx="4"/>
              <a:endCxn id="646" idx="1"/>
            </p:cNvCxnSpPr>
            <p:nvPr/>
          </p:nvCxnSpPr>
          <p:spPr>
            <a:xfrm flipH="1">
              <a:off x="1805760" y="2015280"/>
              <a:ext cx="7560" cy="10800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649" name="Rounded Rectangle 17"/>
            <p:cNvSpPr/>
            <p:nvPr/>
          </p:nvSpPr>
          <p:spPr>
            <a:xfrm>
              <a:off x="1473120" y="241776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rgbClr val="00B0F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2: WIRING AND CONSTRUCTION INSPECTION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26" name="Rounded Rectangle 17"/>
            <p:cNvSpPr/>
            <p:nvPr/>
          </p:nvSpPr>
          <p:spPr>
            <a:xfrm>
              <a:off x="3665520" y="87012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chemeClr val="accent6">
                <a:lumMod val="75000"/>
              </a:schemeClr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: RUNNING INSPECTION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50" name="Rounded Rectangle 17"/>
            <p:cNvSpPr/>
            <p:nvPr/>
          </p:nvSpPr>
          <p:spPr>
            <a:xfrm>
              <a:off x="3669840" y="116064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chemeClr val="accent6">
                <a:lumMod val="40000"/>
                <a:lumOff val="60000"/>
              </a:schemeClr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5: FINAL INSPECTION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51" name="Rounded Rectangle 17"/>
            <p:cNvSpPr/>
            <p:nvPr/>
          </p:nvSpPr>
          <p:spPr>
            <a:xfrm>
              <a:off x="3669840" y="157392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chemeClr val="accent2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5: PACKAGING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652" name="Straight Arrow Connector 47"/>
            <p:cNvCxnSpPr/>
            <p:nvPr/>
          </p:nvCxnSpPr>
          <p:spPr>
            <a:xfrm>
              <a:off x="1812960" y="2318400"/>
              <a:ext cx="360" cy="10728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653" name="Rounded Rectangle 17"/>
            <p:cNvSpPr/>
            <p:nvPr/>
          </p:nvSpPr>
          <p:spPr>
            <a:xfrm>
              <a:off x="2571480" y="213228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rgbClr val="92D05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3: INDOOR CONTROL BOARD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654" name="Straight Arrow Connector 49"/>
            <p:cNvCxnSpPr/>
            <p:nvPr/>
          </p:nvCxnSpPr>
          <p:spPr>
            <a:xfrm flipH="1">
              <a:off x="2058120" y="2235960"/>
              <a:ext cx="540720" cy="3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655" name="Elbow Connector 175"/>
            <p:cNvCxnSpPr>
              <a:stCxn id="649" idx="2"/>
              <a:endCxn id="626" idx="1"/>
            </p:cNvCxnSpPr>
            <p:nvPr/>
          </p:nvCxnSpPr>
          <p:spPr>
            <a:xfrm flipV="1">
              <a:off x="2065320" y="870120"/>
              <a:ext cx="1933200" cy="1645920"/>
            </a:xfrm>
            <a:prstGeom prst="bentConnector4">
              <a:avLst>
                <a:gd name="adj1" fmla="val 228161"/>
                <a:gd name="adj2" fmla="val 76132"/>
              </a:avLst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656" name="Straight Arrow Connector 51"/>
            <p:cNvCxnSpPr>
              <a:stCxn id="650" idx="4"/>
              <a:endCxn id="651" idx="0"/>
            </p:cNvCxnSpPr>
            <p:nvPr/>
          </p:nvCxnSpPr>
          <p:spPr>
            <a:xfrm>
              <a:off x="3978000" y="1356120"/>
              <a:ext cx="360" cy="2181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657" name="Rounded Rectangle 14"/>
            <p:cNvSpPr/>
            <p:nvPr/>
          </p:nvSpPr>
          <p:spPr>
            <a:xfrm>
              <a:off x="3697560" y="1909080"/>
              <a:ext cx="561240" cy="142560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28575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7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END</a:t>
              </a:r>
              <a:endParaRPr lang="en-US" sz="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658" name="Straight Arrow Connector 53"/>
            <p:cNvCxnSpPr/>
            <p:nvPr/>
          </p:nvCxnSpPr>
          <p:spPr>
            <a:xfrm>
              <a:off x="3973680" y="1768680"/>
              <a:ext cx="360" cy="13068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659" name="Straight Arrow Connector 54"/>
            <p:cNvCxnSpPr>
              <a:stCxn id="626" idx="4"/>
            </p:cNvCxnSpPr>
            <p:nvPr/>
          </p:nvCxnSpPr>
          <p:spPr>
            <a:xfrm>
              <a:off x="3973680" y="1065600"/>
              <a:ext cx="360" cy="1029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</p:grpSp>
      <p:sp>
        <p:nvSpPr>
          <p:cNvPr id="660" name="Rectangle 4"/>
          <p:cNvSpPr/>
          <p:nvPr/>
        </p:nvSpPr>
        <p:spPr>
          <a:xfrm>
            <a:off x="8079840" y="4939200"/>
            <a:ext cx="376560" cy="307440"/>
          </a:xfrm>
          <a:prstGeom prst="rect">
            <a:avLst/>
          </a:prstGeom>
          <a:solidFill>
            <a:srgbClr val="FF0000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661" name="Rectangle 5"/>
          <p:cNvSpPr/>
          <p:nvPr/>
        </p:nvSpPr>
        <p:spPr>
          <a:xfrm>
            <a:off x="8079840" y="5423040"/>
            <a:ext cx="376560" cy="307440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Rectangle 205"/>
          <p:cNvSpPr/>
          <p:nvPr/>
        </p:nvSpPr>
        <p:spPr>
          <a:xfrm>
            <a:off x="1143000" y="8640"/>
            <a:ext cx="9905760" cy="308880"/>
          </a:xfrm>
          <a:prstGeom prst="rect">
            <a:avLst/>
          </a:prstGeom>
          <a:solidFill>
            <a:schemeClr val="accent1"/>
          </a:solidFill>
          <a:ln w="28575">
            <a:solidFill>
              <a:srgbClr val="00000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PH" sz="195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LINE AUTOMATION PROPOSAL</a:t>
            </a:r>
            <a:endParaRPr lang="en-US" sz="1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663" name="Straight Arrow Connector 10"/>
          <p:cNvCxnSpPr>
            <a:stCxn id="664" idx="2"/>
          </p:cNvCxnSpPr>
          <p:nvPr/>
        </p:nvCxnSpPr>
        <p:spPr>
          <a:xfrm>
            <a:off x="4257720" y="968040"/>
            <a:ext cx="1086480" cy="2470320"/>
          </a:xfrm>
          <a:prstGeom prst="straightConnector1">
            <a:avLst/>
          </a:prstGeom>
          <a:ln>
            <a:solidFill>
              <a:srgbClr val="FF0000"/>
            </a:solidFill>
            <a:tailEnd len="med" type="triangle" w="med"/>
          </a:ln>
        </p:spPr>
      </p:cxnSp>
      <p:sp>
        <p:nvSpPr>
          <p:cNvPr id="665" name="Rectangle 19"/>
          <p:cNvSpPr/>
          <p:nvPr/>
        </p:nvSpPr>
        <p:spPr>
          <a:xfrm>
            <a:off x="2753640" y="3614400"/>
            <a:ext cx="6487560" cy="2500200"/>
          </a:xfrm>
          <a:prstGeom prst="rect">
            <a:avLst/>
          </a:prstGeom>
          <a:solidFill>
            <a:schemeClr val="bg2"/>
          </a:solidFill>
          <a:ln w="57150">
            <a:solidFill>
              <a:srgbClr val="4EA72E">
                <a:lumMod val="40000"/>
                <a:lumOff val="60000"/>
              </a:srgb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666" name="TextBox 3"/>
          <p:cNvSpPr/>
          <p:nvPr/>
        </p:nvSpPr>
        <p:spPr>
          <a:xfrm>
            <a:off x="2753640" y="3666240"/>
            <a:ext cx="422424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Scan Model and Inspection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7" name="Rectangle 7"/>
          <p:cNvSpPr/>
          <p:nvPr/>
        </p:nvSpPr>
        <p:spPr>
          <a:xfrm>
            <a:off x="3726720" y="4058280"/>
            <a:ext cx="2025720" cy="307440"/>
          </a:xfrm>
          <a:prstGeom prst="rect">
            <a:avLst/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668" name="TextBox 15"/>
          <p:cNvSpPr/>
          <p:nvPr/>
        </p:nvSpPr>
        <p:spPr>
          <a:xfrm>
            <a:off x="2920680" y="4058280"/>
            <a:ext cx="119124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MODEL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9" name="TextBox 16"/>
          <p:cNvSpPr/>
          <p:nvPr/>
        </p:nvSpPr>
        <p:spPr>
          <a:xfrm>
            <a:off x="5997600" y="4058280"/>
            <a:ext cx="124092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SERIAL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0" name="Rectangle 1"/>
          <p:cNvSpPr/>
          <p:nvPr/>
        </p:nvSpPr>
        <p:spPr>
          <a:xfrm>
            <a:off x="6792840" y="4058280"/>
            <a:ext cx="2025720" cy="307440"/>
          </a:xfrm>
          <a:prstGeom prst="rect">
            <a:avLst/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grpSp>
        <p:nvGrpSpPr>
          <p:cNvPr id="671" name="Group 31"/>
          <p:cNvGrpSpPr/>
          <p:nvPr/>
        </p:nvGrpSpPr>
        <p:grpSpPr>
          <a:xfrm>
            <a:off x="1461960" y="788760"/>
            <a:ext cx="5013360" cy="1824480"/>
            <a:chOff x="1461960" y="788760"/>
            <a:chExt cx="5013360" cy="1824480"/>
          </a:xfrm>
        </p:grpSpPr>
        <p:sp>
          <p:nvSpPr>
            <p:cNvPr id="672" name="Rounded Rectangle 14"/>
            <p:cNvSpPr/>
            <p:nvPr/>
          </p:nvSpPr>
          <p:spPr>
            <a:xfrm>
              <a:off x="1555920" y="788760"/>
              <a:ext cx="561240" cy="142560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28575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7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START</a:t>
              </a:r>
              <a:endParaRPr lang="en-US" sz="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73" name="Rounded Rectangle 126"/>
            <p:cNvSpPr/>
            <p:nvPr/>
          </p:nvSpPr>
          <p:spPr>
            <a:xfrm>
              <a:off x="1473120" y="1257480"/>
              <a:ext cx="726480" cy="212760"/>
            </a:xfrm>
            <a:prstGeom prst="parallelogram">
              <a:avLst>
                <a:gd name="adj" fmla="val 25000"/>
              </a:avLst>
            </a:prstGeom>
            <a:solidFill>
              <a:srgbClr val="FF000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1: FAN MOTOR &amp; COMPRESSOR RECORDING and CHECKING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74" name="Rounded Rectangle 17"/>
            <p:cNvSpPr/>
            <p:nvPr/>
          </p:nvSpPr>
          <p:spPr>
            <a:xfrm>
              <a:off x="1582200" y="1600200"/>
              <a:ext cx="507960" cy="142560"/>
            </a:xfrm>
            <a:prstGeom prst="parallelogram">
              <a:avLst>
                <a:gd name="adj" fmla="val 25000"/>
              </a:avLst>
            </a:prstGeom>
            <a:solidFill>
              <a:srgbClr val="FFC00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1: AIRTIGHT TEST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675" name="Straight Arrow Connector 35"/>
            <p:cNvCxnSpPr>
              <a:stCxn id="673" idx="4"/>
              <a:endCxn id="674" idx="0"/>
            </p:cNvCxnSpPr>
            <p:nvPr/>
          </p:nvCxnSpPr>
          <p:spPr>
            <a:xfrm>
              <a:off x="1836360" y="1470240"/>
              <a:ext cx="360" cy="13032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676" name="Rounded Rectangle 126"/>
            <p:cNvSpPr/>
            <p:nvPr/>
          </p:nvSpPr>
          <p:spPr>
            <a:xfrm>
              <a:off x="1461960" y="1012320"/>
              <a:ext cx="748440" cy="142560"/>
            </a:xfrm>
            <a:prstGeom prst="roundRect">
              <a:avLst>
                <a:gd name="adj" fmla="val 0"/>
              </a:avLst>
            </a:prstGeom>
            <a:solidFill>
              <a:schemeClr val="bg2">
                <a:lumMod val="50000"/>
              </a:schemeClr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SCAN FOR MODEL THAT WILL BE IN PRODUCTION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677" name="Straight Arrow Connector 37"/>
            <p:cNvCxnSpPr>
              <a:stCxn id="676" idx="2"/>
              <a:endCxn id="673" idx="0"/>
            </p:cNvCxnSpPr>
            <p:nvPr/>
          </p:nvCxnSpPr>
          <p:spPr>
            <a:xfrm>
              <a:off x="1836360" y="1154880"/>
              <a:ext cx="360" cy="1029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678" name="Straight Arrow Connector 38"/>
            <p:cNvCxnSpPr>
              <a:stCxn id="672" idx="2"/>
              <a:endCxn id="676" idx="0"/>
            </p:cNvCxnSpPr>
            <p:nvPr/>
          </p:nvCxnSpPr>
          <p:spPr>
            <a:xfrm flipH="1">
              <a:off x="1836360" y="931320"/>
              <a:ext cx="720" cy="813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679" name="Rounded Rectangle 17"/>
            <p:cNvSpPr/>
            <p:nvPr/>
          </p:nvSpPr>
          <p:spPr>
            <a:xfrm>
              <a:off x="1558800" y="1872720"/>
              <a:ext cx="507960" cy="142560"/>
            </a:xfrm>
            <a:prstGeom prst="parallelogram">
              <a:avLst>
                <a:gd name="adj" fmla="val 25000"/>
              </a:avLst>
            </a:prstGeom>
            <a:solidFill>
              <a:srgbClr val="FFFF0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2: GAS CHARGING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80" name="Rounded Rectangle 17"/>
            <p:cNvSpPr/>
            <p:nvPr/>
          </p:nvSpPr>
          <p:spPr>
            <a:xfrm>
              <a:off x="1473120" y="212292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rgbClr val="00B05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4: CONTROL BOARD &amp; OUTDOOR PCB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681" name="Straight Arrow Connector 41"/>
            <p:cNvCxnSpPr>
              <a:stCxn id="674" idx="4"/>
              <a:endCxn id="679" idx="1"/>
            </p:cNvCxnSpPr>
            <p:nvPr/>
          </p:nvCxnSpPr>
          <p:spPr>
            <a:xfrm flipH="1">
              <a:off x="1830600" y="1742760"/>
              <a:ext cx="6120" cy="13032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682" name="Straight Arrow Connector 42"/>
            <p:cNvCxnSpPr>
              <a:stCxn id="679" idx="4"/>
              <a:endCxn id="680" idx="1"/>
            </p:cNvCxnSpPr>
            <p:nvPr/>
          </p:nvCxnSpPr>
          <p:spPr>
            <a:xfrm flipH="1">
              <a:off x="1805760" y="2015280"/>
              <a:ext cx="7560" cy="10800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683" name="Rounded Rectangle 17"/>
            <p:cNvSpPr/>
            <p:nvPr/>
          </p:nvSpPr>
          <p:spPr>
            <a:xfrm>
              <a:off x="1473120" y="241776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rgbClr val="00B0F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2: WIRING AND CONSTRUCTION INSPECTION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64" name="Rounded Rectangle 17"/>
            <p:cNvSpPr/>
            <p:nvPr/>
          </p:nvSpPr>
          <p:spPr>
            <a:xfrm>
              <a:off x="3665520" y="87012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chemeClr val="accent6">
                <a:lumMod val="75000"/>
              </a:schemeClr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: RUNNING INSPECTION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84" name="Rounded Rectangle 17"/>
            <p:cNvSpPr/>
            <p:nvPr/>
          </p:nvSpPr>
          <p:spPr>
            <a:xfrm>
              <a:off x="3669840" y="116064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chemeClr val="accent6">
                <a:lumMod val="40000"/>
                <a:lumOff val="60000"/>
              </a:schemeClr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5: FINAL INSPECTION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85" name="Rounded Rectangle 17"/>
            <p:cNvSpPr/>
            <p:nvPr/>
          </p:nvSpPr>
          <p:spPr>
            <a:xfrm>
              <a:off x="3669840" y="157392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chemeClr val="accent2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5: PACKAGING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686" name="Straight Arrow Connector 47"/>
            <p:cNvCxnSpPr/>
            <p:nvPr/>
          </p:nvCxnSpPr>
          <p:spPr>
            <a:xfrm>
              <a:off x="1812960" y="2318400"/>
              <a:ext cx="360" cy="10728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687" name="Rounded Rectangle 17"/>
            <p:cNvSpPr/>
            <p:nvPr/>
          </p:nvSpPr>
          <p:spPr>
            <a:xfrm>
              <a:off x="2571480" y="213228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rgbClr val="92D05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3: INDOOR CONTROL BOARD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688" name="Straight Arrow Connector 49"/>
            <p:cNvCxnSpPr/>
            <p:nvPr/>
          </p:nvCxnSpPr>
          <p:spPr>
            <a:xfrm flipH="1">
              <a:off x="2058120" y="2235960"/>
              <a:ext cx="540720" cy="3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689" name="Elbow Connector 175"/>
            <p:cNvCxnSpPr>
              <a:stCxn id="683" idx="2"/>
              <a:endCxn id="664" idx="1"/>
            </p:cNvCxnSpPr>
            <p:nvPr/>
          </p:nvCxnSpPr>
          <p:spPr>
            <a:xfrm flipV="1">
              <a:off x="2065320" y="870120"/>
              <a:ext cx="1933200" cy="1645920"/>
            </a:xfrm>
            <a:prstGeom prst="bentConnector4">
              <a:avLst>
                <a:gd name="adj1" fmla="val 228161"/>
                <a:gd name="adj2" fmla="val 76132"/>
              </a:avLst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690" name="Straight Arrow Connector 51"/>
            <p:cNvCxnSpPr>
              <a:stCxn id="684" idx="4"/>
              <a:endCxn id="685" idx="0"/>
            </p:cNvCxnSpPr>
            <p:nvPr/>
          </p:nvCxnSpPr>
          <p:spPr>
            <a:xfrm>
              <a:off x="3978000" y="1356120"/>
              <a:ext cx="360" cy="2181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691" name="Rounded Rectangle 14"/>
            <p:cNvSpPr/>
            <p:nvPr/>
          </p:nvSpPr>
          <p:spPr>
            <a:xfrm>
              <a:off x="3697560" y="1909080"/>
              <a:ext cx="561240" cy="142560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28575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7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END</a:t>
              </a:r>
              <a:endParaRPr lang="en-US" sz="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692" name="Straight Arrow Connector 53"/>
            <p:cNvCxnSpPr/>
            <p:nvPr/>
          </p:nvCxnSpPr>
          <p:spPr>
            <a:xfrm>
              <a:off x="3973680" y="1768680"/>
              <a:ext cx="360" cy="13068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693" name="Straight Arrow Connector 54"/>
            <p:cNvCxnSpPr>
              <a:stCxn id="664" idx="4"/>
            </p:cNvCxnSpPr>
            <p:nvPr/>
          </p:nvCxnSpPr>
          <p:spPr>
            <a:xfrm>
              <a:off x="3973680" y="1065600"/>
              <a:ext cx="360" cy="1029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</p:grpSp>
      <p:sp>
        <p:nvSpPr>
          <p:cNvPr id="694" name="Rectangle 4"/>
          <p:cNvSpPr/>
          <p:nvPr/>
        </p:nvSpPr>
        <p:spPr>
          <a:xfrm>
            <a:off x="8079840" y="4939200"/>
            <a:ext cx="376560" cy="307440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695" name="Rectangle 5"/>
          <p:cNvSpPr/>
          <p:nvPr/>
        </p:nvSpPr>
        <p:spPr>
          <a:xfrm>
            <a:off x="8079840" y="5423040"/>
            <a:ext cx="376560" cy="307440"/>
          </a:xfrm>
          <a:prstGeom prst="rect">
            <a:avLst/>
          </a:prstGeom>
          <a:solidFill>
            <a:srgbClr val="FF0000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696" name="Rectangle 6"/>
          <p:cNvSpPr/>
          <p:nvPr/>
        </p:nvSpPr>
        <p:spPr>
          <a:xfrm>
            <a:off x="3711960" y="4581000"/>
            <a:ext cx="569880" cy="288720"/>
          </a:xfrm>
          <a:prstGeom prst="rect">
            <a:avLst/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697" name="TextBox 8"/>
          <p:cNvSpPr/>
          <p:nvPr/>
        </p:nvSpPr>
        <p:spPr>
          <a:xfrm>
            <a:off x="2751480" y="4580280"/>
            <a:ext cx="119124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CURRENT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8" name="Rectangle 9"/>
          <p:cNvSpPr/>
          <p:nvPr/>
        </p:nvSpPr>
        <p:spPr>
          <a:xfrm>
            <a:off x="3697560" y="4975560"/>
            <a:ext cx="584280" cy="308160"/>
          </a:xfrm>
          <a:prstGeom prst="rect">
            <a:avLst/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699" name="TextBox 11"/>
          <p:cNvSpPr/>
          <p:nvPr/>
        </p:nvSpPr>
        <p:spPr>
          <a:xfrm>
            <a:off x="2922120" y="4986720"/>
            <a:ext cx="119124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POWER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0" name="Rectangle 12"/>
          <p:cNvSpPr/>
          <p:nvPr/>
        </p:nvSpPr>
        <p:spPr>
          <a:xfrm>
            <a:off x="3697560" y="5402880"/>
            <a:ext cx="584280" cy="294120"/>
          </a:xfrm>
          <a:prstGeom prst="rect">
            <a:avLst/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01" name="TextBox 13"/>
          <p:cNvSpPr/>
          <p:nvPr/>
        </p:nvSpPr>
        <p:spPr>
          <a:xfrm>
            <a:off x="2710080" y="5413320"/>
            <a:ext cx="119124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TEMP. DIFF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2" name="Rectangle 56"/>
          <p:cNvSpPr/>
          <p:nvPr/>
        </p:nvSpPr>
        <p:spPr>
          <a:xfrm>
            <a:off x="5326920" y="4570920"/>
            <a:ext cx="569880" cy="288720"/>
          </a:xfrm>
          <a:prstGeom prst="rect">
            <a:avLst/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03" name="TextBox 57"/>
          <p:cNvSpPr/>
          <p:nvPr/>
        </p:nvSpPr>
        <p:spPr>
          <a:xfrm>
            <a:off x="4294440" y="4570560"/>
            <a:ext cx="119124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CURRENT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4" name="Rectangle 58"/>
          <p:cNvSpPr/>
          <p:nvPr/>
        </p:nvSpPr>
        <p:spPr>
          <a:xfrm>
            <a:off x="5384880" y="4965480"/>
            <a:ext cx="584280" cy="308160"/>
          </a:xfrm>
          <a:prstGeom prst="rect">
            <a:avLst/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05" name="TextBox 59"/>
          <p:cNvSpPr/>
          <p:nvPr/>
        </p:nvSpPr>
        <p:spPr>
          <a:xfrm>
            <a:off x="4465440" y="4976640"/>
            <a:ext cx="119124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POWER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6" name="Rectangle 60"/>
          <p:cNvSpPr/>
          <p:nvPr/>
        </p:nvSpPr>
        <p:spPr>
          <a:xfrm>
            <a:off x="5384880" y="5392800"/>
            <a:ext cx="584280" cy="294120"/>
          </a:xfrm>
          <a:prstGeom prst="rect">
            <a:avLst/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07" name="TextBox 61"/>
          <p:cNvSpPr/>
          <p:nvPr/>
        </p:nvSpPr>
        <p:spPr>
          <a:xfrm>
            <a:off x="4253040" y="5403240"/>
            <a:ext cx="119124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TEMP. DIFF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08" name="Picture 191"/>
          <p:cNvPicPr/>
          <p:nvPr/>
        </p:nvPicPr>
        <p:blipFill>
          <a:blip r:embed="rId1"/>
          <a:stretch/>
        </p:blipFill>
        <p:spPr>
          <a:xfrm>
            <a:off x="6285960" y="4495320"/>
            <a:ext cx="1269720" cy="1474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Rectangle 205"/>
          <p:cNvSpPr/>
          <p:nvPr/>
        </p:nvSpPr>
        <p:spPr>
          <a:xfrm>
            <a:off x="1143000" y="8640"/>
            <a:ext cx="9905760" cy="308880"/>
          </a:xfrm>
          <a:prstGeom prst="rect">
            <a:avLst/>
          </a:prstGeom>
          <a:solidFill>
            <a:schemeClr val="accent1"/>
          </a:solidFill>
          <a:ln w="28575">
            <a:solidFill>
              <a:srgbClr val="00000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PH" sz="195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LINE AUTOMATION PROPOSAL</a:t>
            </a:r>
            <a:endParaRPr lang="en-US" sz="1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710" name="Straight Arrow Connector 10"/>
          <p:cNvCxnSpPr>
            <a:stCxn id="711" idx="2"/>
          </p:cNvCxnSpPr>
          <p:nvPr/>
        </p:nvCxnSpPr>
        <p:spPr>
          <a:xfrm>
            <a:off x="4262040" y="1258560"/>
            <a:ext cx="1082160" cy="2179800"/>
          </a:xfrm>
          <a:prstGeom prst="straightConnector1">
            <a:avLst/>
          </a:prstGeom>
          <a:ln>
            <a:solidFill>
              <a:srgbClr val="FF0000"/>
            </a:solidFill>
            <a:tailEnd len="med" type="triangle" w="med"/>
          </a:ln>
        </p:spPr>
      </p:cxnSp>
      <p:sp>
        <p:nvSpPr>
          <p:cNvPr id="712" name="Rectangle 19"/>
          <p:cNvSpPr/>
          <p:nvPr/>
        </p:nvSpPr>
        <p:spPr>
          <a:xfrm>
            <a:off x="2753640" y="3614400"/>
            <a:ext cx="6487560" cy="2500200"/>
          </a:xfrm>
          <a:prstGeom prst="rect">
            <a:avLst/>
          </a:prstGeom>
          <a:solidFill>
            <a:schemeClr val="bg2"/>
          </a:solidFill>
          <a:ln w="57150">
            <a:solidFill>
              <a:srgbClr val="4EA72E">
                <a:lumMod val="40000"/>
                <a:lumOff val="60000"/>
              </a:srgb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713" name="TextBox 3"/>
          <p:cNvSpPr/>
          <p:nvPr/>
        </p:nvSpPr>
        <p:spPr>
          <a:xfrm>
            <a:off x="2753640" y="3666240"/>
            <a:ext cx="422424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Scan Model and Inspection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4" name="Rectangle 7"/>
          <p:cNvSpPr/>
          <p:nvPr/>
        </p:nvSpPr>
        <p:spPr>
          <a:xfrm>
            <a:off x="3726720" y="4058280"/>
            <a:ext cx="2025720" cy="307440"/>
          </a:xfrm>
          <a:prstGeom prst="rect">
            <a:avLst/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15" name="TextBox 15"/>
          <p:cNvSpPr/>
          <p:nvPr/>
        </p:nvSpPr>
        <p:spPr>
          <a:xfrm>
            <a:off x="2920680" y="4058280"/>
            <a:ext cx="119124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MODEL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6" name="TextBox 16"/>
          <p:cNvSpPr/>
          <p:nvPr/>
        </p:nvSpPr>
        <p:spPr>
          <a:xfrm>
            <a:off x="5997600" y="4058280"/>
            <a:ext cx="124092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SERIAL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7" name="Rectangle 1"/>
          <p:cNvSpPr/>
          <p:nvPr/>
        </p:nvSpPr>
        <p:spPr>
          <a:xfrm>
            <a:off x="6792840" y="4058280"/>
            <a:ext cx="2025720" cy="307440"/>
          </a:xfrm>
          <a:prstGeom prst="rect">
            <a:avLst/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18" name="Oval 2"/>
          <p:cNvSpPr/>
          <p:nvPr/>
        </p:nvSpPr>
        <p:spPr>
          <a:xfrm>
            <a:off x="4269960" y="4644720"/>
            <a:ext cx="1191240" cy="1191240"/>
          </a:xfrm>
          <a:prstGeom prst="ellipse">
            <a:avLst/>
          </a:prstGeom>
          <a:solidFill>
            <a:srgbClr val="00B050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19" name="Oval 14"/>
          <p:cNvSpPr/>
          <p:nvPr/>
        </p:nvSpPr>
        <p:spPr>
          <a:xfrm>
            <a:off x="6118560" y="4644720"/>
            <a:ext cx="1191240" cy="1191240"/>
          </a:xfrm>
          <a:prstGeom prst="ellipse">
            <a:avLst/>
          </a:prstGeom>
          <a:solidFill>
            <a:srgbClr val="FF0000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20" name="TextBox 22"/>
          <p:cNvSpPr/>
          <p:nvPr/>
        </p:nvSpPr>
        <p:spPr>
          <a:xfrm>
            <a:off x="4269960" y="5086440"/>
            <a:ext cx="119124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GOOD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1" name="TextBox 29"/>
          <p:cNvSpPr/>
          <p:nvPr/>
        </p:nvSpPr>
        <p:spPr>
          <a:xfrm>
            <a:off x="6134760" y="5086440"/>
            <a:ext cx="119124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 GOOD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22" name="Group 31"/>
          <p:cNvGrpSpPr/>
          <p:nvPr/>
        </p:nvGrpSpPr>
        <p:grpSpPr>
          <a:xfrm>
            <a:off x="1461960" y="788760"/>
            <a:ext cx="5013360" cy="1824480"/>
            <a:chOff x="1461960" y="788760"/>
            <a:chExt cx="5013360" cy="1824480"/>
          </a:xfrm>
        </p:grpSpPr>
        <p:sp>
          <p:nvSpPr>
            <p:cNvPr id="723" name="Rounded Rectangle 14"/>
            <p:cNvSpPr/>
            <p:nvPr/>
          </p:nvSpPr>
          <p:spPr>
            <a:xfrm>
              <a:off x="1555920" y="788760"/>
              <a:ext cx="561240" cy="142560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28575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7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START</a:t>
              </a:r>
              <a:endParaRPr lang="en-US" sz="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24" name="Rounded Rectangle 126"/>
            <p:cNvSpPr/>
            <p:nvPr/>
          </p:nvSpPr>
          <p:spPr>
            <a:xfrm>
              <a:off x="1473120" y="1257480"/>
              <a:ext cx="726480" cy="212760"/>
            </a:xfrm>
            <a:prstGeom prst="parallelogram">
              <a:avLst>
                <a:gd name="adj" fmla="val 25000"/>
              </a:avLst>
            </a:prstGeom>
            <a:solidFill>
              <a:srgbClr val="FF000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1: FAN MOTOR &amp; COMPRESSOR RECORDING and CHECKING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25" name="Rounded Rectangle 17"/>
            <p:cNvSpPr/>
            <p:nvPr/>
          </p:nvSpPr>
          <p:spPr>
            <a:xfrm>
              <a:off x="1582200" y="1600200"/>
              <a:ext cx="507960" cy="142560"/>
            </a:xfrm>
            <a:prstGeom prst="parallelogram">
              <a:avLst>
                <a:gd name="adj" fmla="val 25000"/>
              </a:avLst>
            </a:prstGeom>
            <a:solidFill>
              <a:srgbClr val="FFC00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1: AIRTIGHT TEST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726" name="Straight Arrow Connector 35"/>
            <p:cNvCxnSpPr>
              <a:stCxn id="724" idx="4"/>
              <a:endCxn id="725" idx="0"/>
            </p:cNvCxnSpPr>
            <p:nvPr/>
          </p:nvCxnSpPr>
          <p:spPr>
            <a:xfrm>
              <a:off x="1836360" y="1470240"/>
              <a:ext cx="360" cy="13032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727" name="Rounded Rectangle 126"/>
            <p:cNvSpPr/>
            <p:nvPr/>
          </p:nvSpPr>
          <p:spPr>
            <a:xfrm>
              <a:off x="1461960" y="1012320"/>
              <a:ext cx="748440" cy="142560"/>
            </a:xfrm>
            <a:prstGeom prst="roundRect">
              <a:avLst>
                <a:gd name="adj" fmla="val 0"/>
              </a:avLst>
            </a:prstGeom>
            <a:solidFill>
              <a:schemeClr val="bg2">
                <a:lumMod val="50000"/>
              </a:schemeClr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SCAN FOR MODEL THAT WILL BE IN PRODUCTION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728" name="Straight Arrow Connector 37"/>
            <p:cNvCxnSpPr>
              <a:stCxn id="727" idx="2"/>
              <a:endCxn id="724" idx="0"/>
            </p:cNvCxnSpPr>
            <p:nvPr/>
          </p:nvCxnSpPr>
          <p:spPr>
            <a:xfrm>
              <a:off x="1836360" y="1154880"/>
              <a:ext cx="360" cy="1029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729" name="Straight Arrow Connector 38"/>
            <p:cNvCxnSpPr>
              <a:stCxn id="723" idx="2"/>
              <a:endCxn id="727" idx="0"/>
            </p:cNvCxnSpPr>
            <p:nvPr/>
          </p:nvCxnSpPr>
          <p:spPr>
            <a:xfrm flipH="1">
              <a:off x="1836360" y="931320"/>
              <a:ext cx="720" cy="813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730" name="Rounded Rectangle 17"/>
            <p:cNvSpPr/>
            <p:nvPr/>
          </p:nvSpPr>
          <p:spPr>
            <a:xfrm>
              <a:off x="1558800" y="1872720"/>
              <a:ext cx="507960" cy="142560"/>
            </a:xfrm>
            <a:prstGeom prst="parallelogram">
              <a:avLst>
                <a:gd name="adj" fmla="val 25000"/>
              </a:avLst>
            </a:prstGeom>
            <a:solidFill>
              <a:srgbClr val="FFFF0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2: GAS CHARGING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31" name="Rounded Rectangle 17"/>
            <p:cNvSpPr/>
            <p:nvPr/>
          </p:nvSpPr>
          <p:spPr>
            <a:xfrm>
              <a:off x="1473120" y="212292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rgbClr val="00B05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4: CONTROL BOARD &amp; OUTDOOR PCB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732" name="Straight Arrow Connector 41"/>
            <p:cNvCxnSpPr>
              <a:stCxn id="725" idx="4"/>
              <a:endCxn id="730" idx="1"/>
            </p:cNvCxnSpPr>
            <p:nvPr/>
          </p:nvCxnSpPr>
          <p:spPr>
            <a:xfrm flipH="1">
              <a:off x="1830600" y="1742760"/>
              <a:ext cx="6120" cy="13032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733" name="Straight Arrow Connector 42"/>
            <p:cNvCxnSpPr>
              <a:stCxn id="730" idx="4"/>
              <a:endCxn id="731" idx="1"/>
            </p:cNvCxnSpPr>
            <p:nvPr/>
          </p:nvCxnSpPr>
          <p:spPr>
            <a:xfrm flipH="1">
              <a:off x="1805760" y="2015280"/>
              <a:ext cx="7560" cy="10800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734" name="Rounded Rectangle 17"/>
            <p:cNvSpPr/>
            <p:nvPr/>
          </p:nvSpPr>
          <p:spPr>
            <a:xfrm>
              <a:off x="1473120" y="241776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rgbClr val="00B0F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2: WIRING AND CONSTRUCTION INSPECTION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35" name="Rounded Rectangle 17"/>
            <p:cNvSpPr/>
            <p:nvPr/>
          </p:nvSpPr>
          <p:spPr>
            <a:xfrm>
              <a:off x="3665520" y="87012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chemeClr val="accent6">
                <a:lumMod val="75000"/>
              </a:schemeClr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: RUNNING INSPECTION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11" name="Rounded Rectangle 17"/>
            <p:cNvSpPr/>
            <p:nvPr/>
          </p:nvSpPr>
          <p:spPr>
            <a:xfrm>
              <a:off x="3669840" y="116064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chemeClr val="accent6">
                <a:lumMod val="40000"/>
                <a:lumOff val="60000"/>
              </a:schemeClr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5: FINAL INSPECTION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36" name="Rounded Rectangle 17"/>
            <p:cNvSpPr/>
            <p:nvPr/>
          </p:nvSpPr>
          <p:spPr>
            <a:xfrm>
              <a:off x="3669840" y="157392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chemeClr val="accent2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5: PACKAGING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737" name="Straight Arrow Connector 47"/>
            <p:cNvCxnSpPr/>
            <p:nvPr/>
          </p:nvCxnSpPr>
          <p:spPr>
            <a:xfrm>
              <a:off x="1812960" y="2318400"/>
              <a:ext cx="360" cy="10728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738" name="Rounded Rectangle 17"/>
            <p:cNvSpPr/>
            <p:nvPr/>
          </p:nvSpPr>
          <p:spPr>
            <a:xfrm>
              <a:off x="2571480" y="213228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rgbClr val="92D05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3: INDOOR CONTROL BOARD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739" name="Straight Arrow Connector 49"/>
            <p:cNvCxnSpPr/>
            <p:nvPr/>
          </p:nvCxnSpPr>
          <p:spPr>
            <a:xfrm flipH="1">
              <a:off x="2058120" y="2235960"/>
              <a:ext cx="540720" cy="3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740" name="Elbow Connector 175"/>
            <p:cNvCxnSpPr>
              <a:stCxn id="734" idx="2"/>
              <a:endCxn id="735" idx="1"/>
            </p:cNvCxnSpPr>
            <p:nvPr/>
          </p:nvCxnSpPr>
          <p:spPr>
            <a:xfrm flipV="1">
              <a:off x="2065320" y="870120"/>
              <a:ext cx="1933200" cy="1645920"/>
            </a:xfrm>
            <a:prstGeom prst="bentConnector4">
              <a:avLst>
                <a:gd name="adj1" fmla="val 228161"/>
                <a:gd name="adj2" fmla="val 76132"/>
              </a:avLst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741" name="Straight Arrow Connector 51"/>
            <p:cNvCxnSpPr>
              <a:stCxn id="711" idx="4"/>
              <a:endCxn id="736" idx="0"/>
            </p:cNvCxnSpPr>
            <p:nvPr/>
          </p:nvCxnSpPr>
          <p:spPr>
            <a:xfrm>
              <a:off x="3978000" y="1356120"/>
              <a:ext cx="360" cy="2181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742" name="Rounded Rectangle 14"/>
            <p:cNvSpPr/>
            <p:nvPr/>
          </p:nvSpPr>
          <p:spPr>
            <a:xfrm>
              <a:off x="3697560" y="1909080"/>
              <a:ext cx="561240" cy="142560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28575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7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END</a:t>
              </a:r>
              <a:endParaRPr lang="en-US" sz="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743" name="Straight Arrow Connector 53"/>
            <p:cNvCxnSpPr/>
            <p:nvPr/>
          </p:nvCxnSpPr>
          <p:spPr>
            <a:xfrm>
              <a:off x="3973680" y="1768680"/>
              <a:ext cx="360" cy="13068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744" name="Straight Arrow Connector 54"/>
            <p:cNvCxnSpPr>
              <a:stCxn id="735" idx="4"/>
            </p:cNvCxnSpPr>
            <p:nvPr/>
          </p:nvCxnSpPr>
          <p:spPr>
            <a:xfrm>
              <a:off x="3973680" y="1065600"/>
              <a:ext cx="360" cy="1029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</p:grpSp>
      <p:sp>
        <p:nvSpPr>
          <p:cNvPr id="745" name="Rectangle 4"/>
          <p:cNvSpPr/>
          <p:nvPr/>
        </p:nvSpPr>
        <p:spPr>
          <a:xfrm>
            <a:off x="8079840" y="4939200"/>
            <a:ext cx="376560" cy="307440"/>
          </a:xfrm>
          <a:prstGeom prst="rect">
            <a:avLst/>
          </a:prstGeom>
          <a:solidFill>
            <a:srgbClr val="FF0000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46" name="Rectangle 5"/>
          <p:cNvSpPr/>
          <p:nvPr/>
        </p:nvSpPr>
        <p:spPr>
          <a:xfrm>
            <a:off x="8079840" y="5423040"/>
            <a:ext cx="376560" cy="307440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" name="Rectangle 205"/>
          <p:cNvSpPr/>
          <p:nvPr/>
        </p:nvSpPr>
        <p:spPr>
          <a:xfrm>
            <a:off x="1143000" y="8640"/>
            <a:ext cx="9905760" cy="308880"/>
          </a:xfrm>
          <a:prstGeom prst="rect">
            <a:avLst/>
          </a:prstGeom>
          <a:solidFill>
            <a:schemeClr val="accent1"/>
          </a:solidFill>
          <a:ln w="28575">
            <a:solidFill>
              <a:srgbClr val="00000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PH" sz="195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LINE AUTOMATION PROPOSAL</a:t>
            </a:r>
            <a:endParaRPr lang="en-US" sz="1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748" name="Straight Arrow Connector 10"/>
          <p:cNvCxnSpPr>
            <a:stCxn id="749" idx="2"/>
          </p:cNvCxnSpPr>
          <p:nvPr/>
        </p:nvCxnSpPr>
        <p:spPr>
          <a:xfrm>
            <a:off x="4262040" y="1258560"/>
            <a:ext cx="1082160" cy="2179800"/>
          </a:xfrm>
          <a:prstGeom prst="straightConnector1">
            <a:avLst/>
          </a:prstGeom>
          <a:ln>
            <a:solidFill>
              <a:srgbClr val="FF0000"/>
            </a:solidFill>
            <a:tailEnd len="med" type="triangle" w="med"/>
          </a:ln>
        </p:spPr>
      </p:cxnSp>
      <p:sp>
        <p:nvSpPr>
          <p:cNvPr id="750" name="Rectangle 19"/>
          <p:cNvSpPr/>
          <p:nvPr/>
        </p:nvSpPr>
        <p:spPr>
          <a:xfrm>
            <a:off x="2753640" y="3614400"/>
            <a:ext cx="6487560" cy="2500200"/>
          </a:xfrm>
          <a:prstGeom prst="rect">
            <a:avLst/>
          </a:prstGeom>
          <a:solidFill>
            <a:schemeClr val="bg2"/>
          </a:solidFill>
          <a:ln w="57150">
            <a:solidFill>
              <a:srgbClr val="4EA72E">
                <a:lumMod val="40000"/>
                <a:lumOff val="60000"/>
              </a:srgb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751" name="TextBox 3"/>
          <p:cNvSpPr/>
          <p:nvPr/>
        </p:nvSpPr>
        <p:spPr>
          <a:xfrm>
            <a:off x="2753640" y="3666240"/>
            <a:ext cx="422424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Scan Model and Inspection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2" name="Rectangle 7"/>
          <p:cNvSpPr/>
          <p:nvPr/>
        </p:nvSpPr>
        <p:spPr>
          <a:xfrm>
            <a:off x="3726720" y="4058280"/>
            <a:ext cx="2025720" cy="307440"/>
          </a:xfrm>
          <a:prstGeom prst="rect">
            <a:avLst/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53" name="TextBox 15"/>
          <p:cNvSpPr/>
          <p:nvPr/>
        </p:nvSpPr>
        <p:spPr>
          <a:xfrm>
            <a:off x="2920680" y="4058280"/>
            <a:ext cx="119124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MODEL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4" name="TextBox 16"/>
          <p:cNvSpPr/>
          <p:nvPr/>
        </p:nvSpPr>
        <p:spPr>
          <a:xfrm>
            <a:off x="5997600" y="4058280"/>
            <a:ext cx="124092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SERIAL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5" name="Rectangle 1"/>
          <p:cNvSpPr/>
          <p:nvPr/>
        </p:nvSpPr>
        <p:spPr>
          <a:xfrm>
            <a:off x="6792840" y="4058280"/>
            <a:ext cx="2025720" cy="307440"/>
          </a:xfrm>
          <a:prstGeom prst="rect">
            <a:avLst/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grpSp>
        <p:nvGrpSpPr>
          <p:cNvPr id="756" name="Group 31"/>
          <p:cNvGrpSpPr/>
          <p:nvPr/>
        </p:nvGrpSpPr>
        <p:grpSpPr>
          <a:xfrm>
            <a:off x="1461960" y="788760"/>
            <a:ext cx="5013360" cy="1824480"/>
            <a:chOff x="1461960" y="788760"/>
            <a:chExt cx="5013360" cy="1824480"/>
          </a:xfrm>
        </p:grpSpPr>
        <p:sp>
          <p:nvSpPr>
            <p:cNvPr id="757" name="Rounded Rectangle 14"/>
            <p:cNvSpPr/>
            <p:nvPr/>
          </p:nvSpPr>
          <p:spPr>
            <a:xfrm>
              <a:off x="1555920" y="788760"/>
              <a:ext cx="561240" cy="142560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28575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7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START</a:t>
              </a:r>
              <a:endParaRPr lang="en-US" sz="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58" name="Rounded Rectangle 126"/>
            <p:cNvSpPr/>
            <p:nvPr/>
          </p:nvSpPr>
          <p:spPr>
            <a:xfrm>
              <a:off x="1473120" y="1257480"/>
              <a:ext cx="726480" cy="212760"/>
            </a:xfrm>
            <a:prstGeom prst="parallelogram">
              <a:avLst>
                <a:gd name="adj" fmla="val 25000"/>
              </a:avLst>
            </a:prstGeom>
            <a:solidFill>
              <a:srgbClr val="FF000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1: FAN MOTOR &amp; COMPRESSOR RECORDING and CHECKING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59" name="Rounded Rectangle 17"/>
            <p:cNvSpPr/>
            <p:nvPr/>
          </p:nvSpPr>
          <p:spPr>
            <a:xfrm>
              <a:off x="1582200" y="1600200"/>
              <a:ext cx="507960" cy="142560"/>
            </a:xfrm>
            <a:prstGeom prst="parallelogram">
              <a:avLst>
                <a:gd name="adj" fmla="val 25000"/>
              </a:avLst>
            </a:prstGeom>
            <a:solidFill>
              <a:srgbClr val="FFC00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1: AIRTIGHT TEST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760" name="Straight Arrow Connector 35"/>
            <p:cNvCxnSpPr>
              <a:stCxn id="758" idx="4"/>
              <a:endCxn id="759" idx="0"/>
            </p:cNvCxnSpPr>
            <p:nvPr/>
          </p:nvCxnSpPr>
          <p:spPr>
            <a:xfrm>
              <a:off x="1836360" y="1470240"/>
              <a:ext cx="360" cy="13032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761" name="Rounded Rectangle 126"/>
            <p:cNvSpPr/>
            <p:nvPr/>
          </p:nvSpPr>
          <p:spPr>
            <a:xfrm>
              <a:off x="1461960" y="1012320"/>
              <a:ext cx="748440" cy="142560"/>
            </a:xfrm>
            <a:prstGeom prst="roundRect">
              <a:avLst>
                <a:gd name="adj" fmla="val 0"/>
              </a:avLst>
            </a:prstGeom>
            <a:solidFill>
              <a:schemeClr val="bg2">
                <a:lumMod val="50000"/>
              </a:schemeClr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SCAN FOR MODEL THAT WILL BE IN PRODUCTION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762" name="Straight Arrow Connector 37"/>
            <p:cNvCxnSpPr>
              <a:stCxn id="761" idx="2"/>
              <a:endCxn id="758" idx="0"/>
            </p:cNvCxnSpPr>
            <p:nvPr/>
          </p:nvCxnSpPr>
          <p:spPr>
            <a:xfrm>
              <a:off x="1836360" y="1154880"/>
              <a:ext cx="360" cy="1029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763" name="Straight Arrow Connector 38"/>
            <p:cNvCxnSpPr>
              <a:stCxn id="757" idx="2"/>
              <a:endCxn id="761" idx="0"/>
            </p:cNvCxnSpPr>
            <p:nvPr/>
          </p:nvCxnSpPr>
          <p:spPr>
            <a:xfrm flipH="1">
              <a:off x="1836360" y="931320"/>
              <a:ext cx="720" cy="813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764" name="Rounded Rectangle 17"/>
            <p:cNvSpPr/>
            <p:nvPr/>
          </p:nvSpPr>
          <p:spPr>
            <a:xfrm>
              <a:off x="1558800" y="1872720"/>
              <a:ext cx="507960" cy="142560"/>
            </a:xfrm>
            <a:prstGeom prst="parallelogram">
              <a:avLst>
                <a:gd name="adj" fmla="val 25000"/>
              </a:avLst>
            </a:prstGeom>
            <a:solidFill>
              <a:srgbClr val="FFFF0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2: GAS CHARGING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65" name="Rounded Rectangle 17"/>
            <p:cNvSpPr/>
            <p:nvPr/>
          </p:nvSpPr>
          <p:spPr>
            <a:xfrm>
              <a:off x="1473120" y="212292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rgbClr val="00B05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4: CONTROL BOARD &amp; OUTDOOR PCB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766" name="Straight Arrow Connector 41"/>
            <p:cNvCxnSpPr>
              <a:stCxn id="759" idx="4"/>
              <a:endCxn id="764" idx="1"/>
            </p:cNvCxnSpPr>
            <p:nvPr/>
          </p:nvCxnSpPr>
          <p:spPr>
            <a:xfrm flipH="1">
              <a:off x="1830600" y="1742760"/>
              <a:ext cx="6120" cy="13032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767" name="Straight Arrow Connector 42"/>
            <p:cNvCxnSpPr>
              <a:stCxn id="764" idx="4"/>
              <a:endCxn id="765" idx="1"/>
            </p:cNvCxnSpPr>
            <p:nvPr/>
          </p:nvCxnSpPr>
          <p:spPr>
            <a:xfrm flipH="1">
              <a:off x="1805760" y="2015280"/>
              <a:ext cx="7560" cy="10800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768" name="Rounded Rectangle 17"/>
            <p:cNvSpPr/>
            <p:nvPr/>
          </p:nvSpPr>
          <p:spPr>
            <a:xfrm>
              <a:off x="1473120" y="241776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rgbClr val="00B0F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2: WIRING AND CONSTRUCTION INSPECTION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69" name="Rounded Rectangle 17"/>
            <p:cNvSpPr/>
            <p:nvPr/>
          </p:nvSpPr>
          <p:spPr>
            <a:xfrm>
              <a:off x="3665520" y="87012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chemeClr val="accent6">
                <a:lumMod val="75000"/>
              </a:schemeClr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: RUNNING INSPECTION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49" name="Rounded Rectangle 17"/>
            <p:cNvSpPr/>
            <p:nvPr/>
          </p:nvSpPr>
          <p:spPr>
            <a:xfrm>
              <a:off x="3669840" y="116064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chemeClr val="accent6">
                <a:lumMod val="40000"/>
                <a:lumOff val="60000"/>
              </a:schemeClr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5: FINAL INSPECTION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70" name="Rounded Rectangle 17"/>
            <p:cNvSpPr/>
            <p:nvPr/>
          </p:nvSpPr>
          <p:spPr>
            <a:xfrm>
              <a:off x="3669840" y="157392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chemeClr val="accent2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5: PACKAGING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771" name="Straight Arrow Connector 47"/>
            <p:cNvCxnSpPr/>
            <p:nvPr/>
          </p:nvCxnSpPr>
          <p:spPr>
            <a:xfrm>
              <a:off x="1812960" y="2318400"/>
              <a:ext cx="360" cy="10728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772" name="Rounded Rectangle 17"/>
            <p:cNvSpPr/>
            <p:nvPr/>
          </p:nvSpPr>
          <p:spPr>
            <a:xfrm>
              <a:off x="2571480" y="213228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rgbClr val="92D05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3: INDOOR CONTROL BOARD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773" name="Straight Arrow Connector 49"/>
            <p:cNvCxnSpPr/>
            <p:nvPr/>
          </p:nvCxnSpPr>
          <p:spPr>
            <a:xfrm flipH="1">
              <a:off x="2058120" y="2235960"/>
              <a:ext cx="540720" cy="3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774" name="Elbow Connector 175"/>
            <p:cNvCxnSpPr>
              <a:stCxn id="768" idx="2"/>
              <a:endCxn id="769" idx="1"/>
            </p:cNvCxnSpPr>
            <p:nvPr/>
          </p:nvCxnSpPr>
          <p:spPr>
            <a:xfrm flipV="1">
              <a:off x="2065320" y="870120"/>
              <a:ext cx="1933200" cy="1645920"/>
            </a:xfrm>
            <a:prstGeom prst="bentConnector4">
              <a:avLst>
                <a:gd name="adj1" fmla="val 228161"/>
                <a:gd name="adj2" fmla="val 76132"/>
              </a:avLst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775" name="Straight Arrow Connector 51"/>
            <p:cNvCxnSpPr>
              <a:stCxn id="749" idx="4"/>
              <a:endCxn id="770" idx="0"/>
            </p:cNvCxnSpPr>
            <p:nvPr/>
          </p:nvCxnSpPr>
          <p:spPr>
            <a:xfrm>
              <a:off x="3978000" y="1356120"/>
              <a:ext cx="360" cy="2181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776" name="Rounded Rectangle 14"/>
            <p:cNvSpPr/>
            <p:nvPr/>
          </p:nvSpPr>
          <p:spPr>
            <a:xfrm>
              <a:off x="3697560" y="1909080"/>
              <a:ext cx="561240" cy="142560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28575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7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END</a:t>
              </a:r>
              <a:endParaRPr lang="en-US" sz="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777" name="Straight Arrow Connector 53"/>
            <p:cNvCxnSpPr/>
            <p:nvPr/>
          </p:nvCxnSpPr>
          <p:spPr>
            <a:xfrm>
              <a:off x="3973680" y="1768680"/>
              <a:ext cx="360" cy="13068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778" name="Straight Arrow Connector 54"/>
            <p:cNvCxnSpPr>
              <a:stCxn id="769" idx="4"/>
            </p:cNvCxnSpPr>
            <p:nvPr/>
          </p:nvCxnSpPr>
          <p:spPr>
            <a:xfrm>
              <a:off x="3973680" y="1065600"/>
              <a:ext cx="360" cy="1029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</p:grpSp>
      <p:sp>
        <p:nvSpPr>
          <p:cNvPr id="779" name="Rectangle 4"/>
          <p:cNvSpPr/>
          <p:nvPr/>
        </p:nvSpPr>
        <p:spPr>
          <a:xfrm>
            <a:off x="8079840" y="4939200"/>
            <a:ext cx="376560" cy="307440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80" name="Rectangle 5"/>
          <p:cNvSpPr/>
          <p:nvPr/>
        </p:nvSpPr>
        <p:spPr>
          <a:xfrm>
            <a:off x="8079840" y="5423040"/>
            <a:ext cx="376560" cy="307440"/>
          </a:xfrm>
          <a:prstGeom prst="rect">
            <a:avLst/>
          </a:prstGeom>
          <a:solidFill>
            <a:srgbClr val="FF0000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81" name="Rectangle 6"/>
          <p:cNvSpPr/>
          <p:nvPr/>
        </p:nvSpPr>
        <p:spPr>
          <a:xfrm>
            <a:off x="3800880" y="4990320"/>
            <a:ext cx="569880" cy="288720"/>
          </a:xfrm>
          <a:prstGeom prst="rect">
            <a:avLst/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82" name="TextBox 8"/>
          <p:cNvSpPr/>
          <p:nvPr/>
        </p:nvSpPr>
        <p:spPr>
          <a:xfrm>
            <a:off x="2840400" y="4989600"/>
            <a:ext cx="119124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CURRENT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3" name="Rectangle 56"/>
          <p:cNvSpPr/>
          <p:nvPr/>
        </p:nvSpPr>
        <p:spPr>
          <a:xfrm>
            <a:off x="5344200" y="4980240"/>
            <a:ext cx="569880" cy="288720"/>
          </a:xfrm>
          <a:prstGeom prst="rect">
            <a:avLst/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84" name="TextBox 57"/>
          <p:cNvSpPr/>
          <p:nvPr/>
        </p:nvSpPr>
        <p:spPr>
          <a:xfrm>
            <a:off x="4383720" y="4979520"/>
            <a:ext cx="119124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CURRENT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85" name="Picture 191"/>
          <p:cNvPicPr/>
          <p:nvPr/>
        </p:nvPicPr>
        <p:blipFill>
          <a:blip r:embed="rId1"/>
          <a:stretch/>
        </p:blipFill>
        <p:spPr>
          <a:xfrm>
            <a:off x="6177960" y="4495320"/>
            <a:ext cx="1269720" cy="1474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Rectangle 205"/>
          <p:cNvSpPr/>
          <p:nvPr/>
        </p:nvSpPr>
        <p:spPr>
          <a:xfrm>
            <a:off x="1143000" y="8640"/>
            <a:ext cx="9905760" cy="308880"/>
          </a:xfrm>
          <a:prstGeom prst="rect">
            <a:avLst/>
          </a:prstGeom>
          <a:solidFill>
            <a:schemeClr val="accent1"/>
          </a:solidFill>
          <a:ln w="28575">
            <a:solidFill>
              <a:srgbClr val="00000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PH" sz="195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LINE AUTOMATION PROPOSAL</a:t>
            </a:r>
            <a:endParaRPr lang="en-US" sz="1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787" name="Straight Arrow Connector 10"/>
          <p:cNvCxnSpPr>
            <a:stCxn id="788" idx="2"/>
          </p:cNvCxnSpPr>
          <p:nvPr/>
        </p:nvCxnSpPr>
        <p:spPr>
          <a:xfrm>
            <a:off x="4262040" y="1671840"/>
            <a:ext cx="1082160" cy="1766520"/>
          </a:xfrm>
          <a:prstGeom prst="straightConnector1">
            <a:avLst/>
          </a:prstGeom>
          <a:ln>
            <a:solidFill>
              <a:srgbClr val="FF0000"/>
            </a:solidFill>
            <a:tailEnd len="med" type="triangle" w="med"/>
          </a:ln>
        </p:spPr>
      </p:cxnSp>
      <p:sp>
        <p:nvSpPr>
          <p:cNvPr id="789" name="Rectangle 19"/>
          <p:cNvSpPr/>
          <p:nvPr/>
        </p:nvSpPr>
        <p:spPr>
          <a:xfrm>
            <a:off x="2753640" y="3614400"/>
            <a:ext cx="6487560" cy="2500200"/>
          </a:xfrm>
          <a:prstGeom prst="rect">
            <a:avLst/>
          </a:prstGeom>
          <a:solidFill>
            <a:schemeClr val="bg2"/>
          </a:solidFill>
          <a:ln w="57150">
            <a:solidFill>
              <a:srgbClr val="4EA72E">
                <a:lumMod val="40000"/>
                <a:lumOff val="60000"/>
              </a:srgb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790" name="TextBox 3"/>
          <p:cNvSpPr/>
          <p:nvPr/>
        </p:nvSpPr>
        <p:spPr>
          <a:xfrm>
            <a:off x="2753640" y="3666240"/>
            <a:ext cx="422424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Scan Model and CC Case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1" name="Rectangle 7"/>
          <p:cNvSpPr/>
          <p:nvPr/>
        </p:nvSpPr>
        <p:spPr>
          <a:xfrm>
            <a:off x="4420440" y="4045680"/>
            <a:ext cx="2724480" cy="307440"/>
          </a:xfrm>
          <a:prstGeom prst="rect">
            <a:avLst/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92" name="Rectangle 11"/>
          <p:cNvSpPr/>
          <p:nvPr/>
        </p:nvSpPr>
        <p:spPr>
          <a:xfrm>
            <a:off x="4420440" y="4503960"/>
            <a:ext cx="2724480" cy="307440"/>
          </a:xfrm>
          <a:prstGeom prst="rect">
            <a:avLst/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93" name="Rectangle 13"/>
          <p:cNvSpPr/>
          <p:nvPr/>
        </p:nvSpPr>
        <p:spPr>
          <a:xfrm>
            <a:off x="4982400" y="4949280"/>
            <a:ext cx="1600560" cy="318960"/>
          </a:xfrm>
          <a:prstGeom prst="rect">
            <a:avLst/>
          </a:prstGeom>
          <a:solidFill>
            <a:srgbClr val="156082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94" name="TextBox 15"/>
          <p:cNvSpPr/>
          <p:nvPr/>
        </p:nvSpPr>
        <p:spPr>
          <a:xfrm>
            <a:off x="2920680" y="4058280"/>
            <a:ext cx="119124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MODEL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5" name="TextBox 16"/>
          <p:cNvSpPr/>
          <p:nvPr/>
        </p:nvSpPr>
        <p:spPr>
          <a:xfrm>
            <a:off x="2920680" y="4503960"/>
            <a:ext cx="4224240" cy="30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SERIAL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6" name="TextBox 21"/>
          <p:cNvSpPr/>
          <p:nvPr/>
        </p:nvSpPr>
        <p:spPr>
          <a:xfrm>
            <a:off x="2920680" y="4939200"/>
            <a:ext cx="1266480" cy="31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CC. Case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97" name="Group 30"/>
          <p:cNvGrpSpPr/>
          <p:nvPr/>
        </p:nvGrpSpPr>
        <p:grpSpPr>
          <a:xfrm>
            <a:off x="1461960" y="788760"/>
            <a:ext cx="5013360" cy="1824480"/>
            <a:chOff x="1461960" y="788760"/>
            <a:chExt cx="5013360" cy="1824480"/>
          </a:xfrm>
        </p:grpSpPr>
        <p:sp>
          <p:nvSpPr>
            <p:cNvPr id="798" name="Rounded Rectangle 14"/>
            <p:cNvSpPr/>
            <p:nvPr/>
          </p:nvSpPr>
          <p:spPr>
            <a:xfrm>
              <a:off x="1555920" y="788760"/>
              <a:ext cx="561240" cy="142560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28575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7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START</a:t>
              </a:r>
              <a:endParaRPr lang="en-US" sz="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99" name="Rounded Rectangle 126"/>
            <p:cNvSpPr/>
            <p:nvPr/>
          </p:nvSpPr>
          <p:spPr>
            <a:xfrm>
              <a:off x="1473120" y="1257480"/>
              <a:ext cx="726480" cy="212760"/>
            </a:xfrm>
            <a:prstGeom prst="parallelogram">
              <a:avLst>
                <a:gd name="adj" fmla="val 25000"/>
              </a:avLst>
            </a:prstGeom>
            <a:solidFill>
              <a:srgbClr val="FF000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1: FAN MOTOR &amp; COMPRESSOR RECORDING and CHECKING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00" name="Rounded Rectangle 17"/>
            <p:cNvSpPr/>
            <p:nvPr/>
          </p:nvSpPr>
          <p:spPr>
            <a:xfrm>
              <a:off x="1582200" y="1600200"/>
              <a:ext cx="507960" cy="142560"/>
            </a:xfrm>
            <a:prstGeom prst="parallelogram">
              <a:avLst>
                <a:gd name="adj" fmla="val 25000"/>
              </a:avLst>
            </a:prstGeom>
            <a:solidFill>
              <a:srgbClr val="FFC00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1: AIRTIGHT TEST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801" name="Straight Arrow Connector 34"/>
            <p:cNvCxnSpPr>
              <a:stCxn id="799" idx="4"/>
              <a:endCxn id="800" idx="0"/>
            </p:cNvCxnSpPr>
            <p:nvPr/>
          </p:nvCxnSpPr>
          <p:spPr>
            <a:xfrm>
              <a:off x="1836360" y="1470240"/>
              <a:ext cx="360" cy="13032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802" name="Rounded Rectangle 126"/>
            <p:cNvSpPr/>
            <p:nvPr/>
          </p:nvSpPr>
          <p:spPr>
            <a:xfrm>
              <a:off x="1461960" y="1012320"/>
              <a:ext cx="748440" cy="142560"/>
            </a:xfrm>
            <a:prstGeom prst="roundRect">
              <a:avLst>
                <a:gd name="adj" fmla="val 0"/>
              </a:avLst>
            </a:prstGeom>
            <a:solidFill>
              <a:schemeClr val="bg2">
                <a:lumMod val="50000"/>
              </a:schemeClr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SCAN FOR MODEL THAT WILL BE IN PRODUCTION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803" name="Straight Arrow Connector 36"/>
            <p:cNvCxnSpPr>
              <a:stCxn id="802" idx="2"/>
              <a:endCxn id="799" idx="0"/>
            </p:cNvCxnSpPr>
            <p:nvPr/>
          </p:nvCxnSpPr>
          <p:spPr>
            <a:xfrm>
              <a:off x="1836360" y="1154880"/>
              <a:ext cx="360" cy="1029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804" name="Straight Arrow Connector 37"/>
            <p:cNvCxnSpPr>
              <a:stCxn id="798" idx="2"/>
              <a:endCxn id="802" idx="0"/>
            </p:cNvCxnSpPr>
            <p:nvPr/>
          </p:nvCxnSpPr>
          <p:spPr>
            <a:xfrm flipH="1">
              <a:off x="1836360" y="931320"/>
              <a:ext cx="720" cy="813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805" name="Rounded Rectangle 17"/>
            <p:cNvSpPr/>
            <p:nvPr/>
          </p:nvSpPr>
          <p:spPr>
            <a:xfrm>
              <a:off x="1558800" y="1872720"/>
              <a:ext cx="507960" cy="142560"/>
            </a:xfrm>
            <a:prstGeom prst="parallelogram">
              <a:avLst>
                <a:gd name="adj" fmla="val 25000"/>
              </a:avLst>
            </a:prstGeom>
            <a:solidFill>
              <a:srgbClr val="FFFF0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2: GAS CHARGING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06" name="Rounded Rectangle 17"/>
            <p:cNvSpPr/>
            <p:nvPr/>
          </p:nvSpPr>
          <p:spPr>
            <a:xfrm>
              <a:off x="1473120" y="212292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rgbClr val="00B05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4: CONTROL BOARD &amp; OUTDOOR PCB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807" name="Straight Arrow Connector 40"/>
            <p:cNvCxnSpPr>
              <a:stCxn id="800" idx="4"/>
              <a:endCxn id="805" idx="1"/>
            </p:cNvCxnSpPr>
            <p:nvPr/>
          </p:nvCxnSpPr>
          <p:spPr>
            <a:xfrm flipH="1">
              <a:off x="1830600" y="1742760"/>
              <a:ext cx="6120" cy="13032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808" name="Straight Arrow Connector 41"/>
            <p:cNvCxnSpPr>
              <a:stCxn id="805" idx="4"/>
              <a:endCxn id="806" idx="1"/>
            </p:cNvCxnSpPr>
            <p:nvPr/>
          </p:nvCxnSpPr>
          <p:spPr>
            <a:xfrm flipH="1">
              <a:off x="1805760" y="2015280"/>
              <a:ext cx="7560" cy="10800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809" name="Rounded Rectangle 17"/>
            <p:cNvSpPr/>
            <p:nvPr/>
          </p:nvSpPr>
          <p:spPr>
            <a:xfrm>
              <a:off x="1473120" y="241776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rgbClr val="00B0F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2: WIRING AND CONSTRUCTION INSPECTION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10" name="Rounded Rectangle 17"/>
            <p:cNvSpPr/>
            <p:nvPr/>
          </p:nvSpPr>
          <p:spPr>
            <a:xfrm>
              <a:off x="3665520" y="87012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chemeClr val="accent6">
                <a:lumMod val="75000"/>
              </a:schemeClr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: RUNNING INSPECTION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11" name="Rounded Rectangle 17"/>
            <p:cNvSpPr/>
            <p:nvPr/>
          </p:nvSpPr>
          <p:spPr>
            <a:xfrm>
              <a:off x="3669840" y="116064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chemeClr val="accent6">
                <a:lumMod val="40000"/>
                <a:lumOff val="60000"/>
              </a:schemeClr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5: FINAL INSPECTION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88" name="Rounded Rectangle 17"/>
            <p:cNvSpPr/>
            <p:nvPr/>
          </p:nvSpPr>
          <p:spPr>
            <a:xfrm>
              <a:off x="3669840" y="157392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chemeClr val="accent2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5: PACKAGING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812" name="Straight Arrow Connector 46"/>
            <p:cNvCxnSpPr/>
            <p:nvPr/>
          </p:nvCxnSpPr>
          <p:spPr>
            <a:xfrm>
              <a:off x="1812960" y="2318400"/>
              <a:ext cx="360" cy="10728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813" name="Rounded Rectangle 17"/>
            <p:cNvSpPr/>
            <p:nvPr/>
          </p:nvSpPr>
          <p:spPr>
            <a:xfrm>
              <a:off x="2571480" y="213228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rgbClr val="92D05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3: INDOOR CONTROL BOARD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814" name="Straight Arrow Connector 48"/>
            <p:cNvCxnSpPr/>
            <p:nvPr/>
          </p:nvCxnSpPr>
          <p:spPr>
            <a:xfrm flipH="1">
              <a:off x="2058120" y="2235960"/>
              <a:ext cx="540720" cy="3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815" name="Elbow Connector 175"/>
            <p:cNvCxnSpPr>
              <a:stCxn id="809" idx="2"/>
              <a:endCxn id="810" idx="1"/>
            </p:cNvCxnSpPr>
            <p:nvPr/>
          </p:nvCxnSpPr>
          <p:spPr>
            <a:xfrm flipV="1">
              <a:off x="2065320" y="870120"/>
              <a:ext cx="1933200" cy="1645920"/>
            </a:xfrm>
            <a:prstGeom prst="bentConnector4">
              <a:avLst>
                <a:gd name="adj1" fmla="val 228161"/>
                <a:gd name="adj2" fmla="val 76132"/>
              </a:avLst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816" name="Straight Arrow Connector 50"/>
            <p:cNvCxnSpPr>
              <a:stCxn id="811" idx="4"/>
              <a:endCxn id="788" idx="0"/>
            </p:cNvCxnSpPr>
            <p:nvPr/>
          </p:nvCxnSpPr>
          <p:spPr>
            <a:xfrm>
              <a:off x="3978000" y="1356120"/>
              <a:ext cx="360" cy="2181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817" name="Rounded Rectangle 14"/>
            <p:cNvSpPr/>
            <p:nvPr/>
          </p:nvSpPr>
          <p:spPr>
            <a:xfrm>
              <a:off x="3697560" y="1909080"/>
              <a:ext cx="561240" cy="142560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28575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7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END</a:t>
              </a:r>
              <a:endParaRPr lang="en-US" sz="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818" name="Straight Arrow Connector 52"/>
            <p:cNvCxnSpPr/>
            <p:nvPr/>
          </p:nvCxnSpPr>
          <p:spPr>
            <a:xfrm>
              <a:off x="3973680" y="1768680"/>
              <a:ext cx="360" cy="13068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819" name="Straight Arrow Connector 53"/>
            <p:cNvCxnSpPr>
              <a:stCxn id="810" idx="4"/>
            </p:cNvCxnSpPr>
            <p:nvPr/>
          </p:nvCxnSpPr>
          <p:spPr>
            <a:xfrm>
              <a:off x="3973680" y="1065600"/>
              <a:ext cx="360" cy="1029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</p:grpSp>
      <p:sp>
        <p:nvSpPr>
          <p:cNvPr id="820" name="Rectangle 54"/>
          <p:cNvSpPr/>
          <p:nvPr/>
        </p:nvSpPr>
        <p:spPr>
          <a:xfrm>
            <a:off x="8079840" y="4045680"/>
            <a:ext cx="376560" cy="307440"/>
          </a:xfrm>
          <a:prstGeom prst="rect">
            <a:avLst/>
          </a:prstGeom>
          <a:solidFill>
            <a:srgbClr val="FF0000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821" name="Rectangle 55"/>
          <p:cNvSpPr/>
          <p:nvPr/>
        </p:nvSpPr>
        <p:spPr>
          <a:xfrm>
            <a:off x="8079840" y="4529520"/>
            <a:ext cx="376560" cy="307440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822" name="Rectangle 56"/>
          <p:cNvSpPr/>
          <p:nvPr/>
        </p:nvSpPr>
        <p:spPr>
          <a:xfrm>
            <a:off x="8079840" y="5013720"/>
            <a:ext cx="376560" cy="307440"/>
          </a:xfrm>
          <a:prstGeom prst="rect">
            <a:avLst/>
          </a:prstGeom>
          <a:solidFill>
            <a:schemeClr val="accent3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3" name="Rectangle 205"/>
          <p:cNvSpPr/>
          <p:nvPr/>
        </p:nvSpPr>
        <p:spPr>
          <a:xfrm>
            <a:off x="1143000" y="8640"/>
            <a:ext cx="9905760" cy="308880"/>
          </a:xfrm>
          <a:prstGeom prst="rect">
            <a:avLst/>
          </a:prstGeom>
          <a:solidFill>
            <a:schemeClr val="accent1"/>
          </a:solidFill>
          <a:ln w="28575">
            <a:solidFill>
              <a:srgbClr val="00000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PH" sz="195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LINE AUTOMATION PROPOSAL</a:t>
            </a:r>
            <a:endParaRPr lang="en-US" sz="1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824" name="Straight Arrow Connector 10"/>
          <p:cNvCxnSpPr>
            <a:stCxn id="825" idx="2"/>
          </p:cNvCxnSpPr>
          <p:nvPr/>
        </p:nvCxnSpPr>
        <p:spPr>
          <a:xfrm>
            <a:off x="4262040" y="1671840"/>
            <a:ext cx="1082160" cy="1766520"/>
          </a:xfrm>
          <a:prstGeom prst="straightConnector1">
            <a:avLst/>
          </a:prstGeom>
          <a:ln>
            <a:solidFill>
              <a:srgbClr val="FF0000"/>
            </a:solidFill>
            <a:tailEnd len="med" type="triangle" w="med"/>
          </a:ln>
        </p:spPr>
      </p:cxnSp>
      <p:sp>
        <p:nvSpPr>
          <p:cNvPr id="826" name="Rectangle 19"/>
          <p:cNvSpPr/>
          <p:nvPr/>
        </p:nvSpPr>
        <p:spPr>
          <a:xfrm>
            <a:off x="2753640" y="3614400"/>
            <a:ext cx="6487560" cy="2500200"/>
          </a:xfrm>
          <a:prstGeom prst="rect">
            <a:avLst/>
          </a:prstGeom>
          <a:solidFill>
            <a:schemeClr val="bg2"/>
          </a:solidFill>
          <a:ln w="57150">
            <a:solidFill>
              <a:srgbClr val="4EA72E">
                <a:lumMod val="40000"/>
                <a:lumOff val="60000"/>
              </a:srgb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827" name="Rectangle 25"/>
          <p:cNvSpPr/>
          <p:nvPr/>
        </p:nvSpPr>
        <p:spPr>
          <a:xfrm>
            <a:off x="8079840" y="4045680"/>
            <a:ext cx="376560" cy="307440"/>
          </a:xfrm>
          <a:prstGeom prst="rect">
            <a:avLst/>
          </a:prstGeom>
          <a:solidFill>
            <a:schemeClr val="accent3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828" name="Rectangle 27"/>
          <p:cNvSpPr/>
          <p:nvPr/>
        </p:nvSpPr>
        <p:spPr>
          <a:xfrm>
            <a:off x="8079840" y="4529520"/>
            <a:ext cx="376560" cy="307440"/>
          </a:xfrm>
          <a:prstGeom prst="rect">
            <a:avLst/>
          </a:prstGeom>
          <a:solidFill>
            <a:srgbClr val="FF0000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829" name="Rectangle 28"/>
          <p:cNvSpPr/>
          <p:nvPr/>
        </p:nvSpPr>
        <p:spPr>
          <a:xfrm>
            <a:off x="8079840" y="5013720"/>
            <a:ext cx="376560" cy="307440"/>
          </a:xfrm>
          <a:prstGeom prst="rect">
            <a:avLst/>
          </a:prstGeom>
          <a:solidFill>
            <a:schemeClr val="accent3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graphicFrame>
        <p:nvGraphicFramePr>
          <p:cNvPr id="830" name="Table 1"/>
          <p:cNvGraphicFramePr/>
          <p:nvPr/>
        </p:nvGraphicFramePr>
        <p:xfrm>
          <a:off x="2928600" y="3933720"/>
          <a:ext cx="4975560" cy="1955520"/>
        </p:xfrm>
        <a:graphic>
          <a:graphicData uri="http://schemas.openxmlformats.org/drawingml/2006/table">
            <a:tbl>
              <a:tblPr/>
              <a:tblGrid>
                <a:gridCol w="1123560"/>
                <a:gridCol w="1026000"/>
                <a:gridCol w="914400"/>
                <a:gridCol w="941040"/>
                <a:gridCol w="970200"/>
              </a:tblGrid>
              <a:tr h="182880"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Sequence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Model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Serial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Time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Gas Charge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182880"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182880"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182880"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182880"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182880"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182880"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grpSp>
        <p:nvGrpSpPr>
          <p:cNvPr id="831" name="Group 7"/>
          <p:cNvGrpSpPr/>
          <p:nvPr/>
        </p:nvGrpSpPr>
        <p:grpSpPr>
          <a:xfrm>
            <a:off x="1461960" y="788760"/>
            <a:ext cx="5013360" cy="1824480"/>
            <a:chOff x="1461960" y="788760"/>
            <a:chExt cx="5013360" cy="1824480"/>
          </a:xfrm>
        </p:grpSpPr>
        <p:sp>
          <p:nvSpPr>
            <p:cNvPr id="832" name="Rounded Rectangle 14"/>
            <p:cNvSpPr/>
            <p:nvPr/>
          </p:nvSpPr>
          <p:spPr>
            <a:xfrm>
              <a:off x="1555920" y="788760"/>
              <a:ext cx="561240" cy="142560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28575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7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START</a:t>
              </a:r>
              <a:endParaRPr lang="en-US" sz="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33" name="Rounded Rectangle 126"/>
            <p:cNvSpPr/>
            <p:nvPr/>
          </p:nvSpPr>
          <p:spPr>
            <a:xfrm>
              <a:off x="1473120" y="1257480"/>
              <a:ext cx="726480" cy="212760"/>
            </a:xfrm>
            <a:prstGeom prst="parallelogram">
              <a:avLst>
                <a:gd name="adj" fmla="val 25000"/>
              </a:avLst>
            </a:prstGeom>
            <a:solidFill>
              <a:srgbClr val="FF000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1: FAN MOTOR &amp; COMPRESSOR RECORDING and CHECKING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34" name="Rounded Rectangle 17"/>
            <p:cNvSpPr/>
            <p:nvPr/>
          </p:nvSpPr>
          <p:spPr>
            <a:xfrm>
              <a:off x="1582200" y="1600200"/>
              <a:ext cx="507960" cy="142560"/>
            </a:xfrm>
            <a:prstGeom prst="parallelogram">
              <a:avLst>
                <a:gd name="adj" fmla="val 25000"/>
              </a:avLst>
            </a:prstGeom>
            <a:solidFill>
              <a:srgbClr val="FFC00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1: AIRTIGHT TEST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835" name="Straight Arrow Connector 15"/>
            <p:cNvCxnSpPr>
              <a:stCxn id="833" idx="4"/>
              <a:endCxn id="834" idx="0"/>
            </p:cNvCxnSpPr>
            <p:nvPr/>
          </p:nvCxnSpPr>
          <p:spPr>
            <a:xfrm>
              <a:off x="1836360" y="1470240"/>
              <a:ext cx="360" cy="13032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836" name="Rounded Rectangle 126"/>
            <p:cNvSpPr/>
            <p:nvPr/>
          </p:nvSpPr>
          <p:spPr>
            <a:xfrm>
              <a:off x="1461960" y="1012320"/>
              <a:ext cx="748440" cy="142560"/>
            </a:xfrm>
            <a:prstGeom prst="roundRect">
              <a:avLst>
                <a:gd name="adj" fmla="val 0"/>
              </a:avLst>
            </a:prstGeom>
            <a:solidFill>
              <a:schemeClr val="bg2">
                <a:lumMod val="50000"/>
              </a:schemeClr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SCAN FOR MODEL THAT WILL BE IN PRODUCTION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837" name="Straight Arrow Connector 21"/>
            <p:cNvCxnSpPr>
              <a:stCxn id="836" idx="2"/>
              <a:endCxn id="833" idx="0"/>
            </p:cNvCxnSpPr>
            <p:nvPr/>
          </p:nvCxnSpPr>
          <p:spPr>
            <a:xfrm>
              <a:off x="1836360" y="1154880"/>
              <a:ext cx="360" cy="1029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838" name="Straight Arrow Connector 22"/>
            <p:cNvCxnSpPr>
              <a:stCxn id="832" idx="2"/>
              <a:endCxn id="836" idx="0"/>
            </p:cNvCxnSpPr>
            <p:nvPr/>
          </p:nvCxnSpPr>
          <p:spPr>
            <a:xfrm flipH="1">
              <a:off x="1836360" y="931320"/>
              <a:ext cx="720" cy="813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839" name="Rounded Rectangle 17"/>
            <p:cNvSpPr/>
            <p:nvPr/>
          </p:nvSpPr>
          <p:spPr>
            <a:xfrm>
              <a:off x="1558800" y="1872720"/>
              <a:ext cx="507960" cy="142560"/>
            </a:xfrm>
            <a:prstGeom prst="parallelogram">
              <a:avLst>
                <a:gd name="adj" fmla="val 25000"/>
              </a:avLst>
            </a:prstGeom>
            <a:solidFill>
              <a:srgbClr val="FFFF0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2: GAS CHARGING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40" name="Rounded Rectangle 17"/>
            <p:cNvSpPr/>
            <p:nvPr/>
          </p:nvSpPr>
          <p:spPr>
            <a:xfrm>
              <a:off x="1473120" y="212292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rgbClr val="00B05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4: CONTROL BOARD &amp; OUTDOOR PCB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841" name="Straight Arrow Connector 31"/>
            <p:cNvCxnSpPr>
              <a:stCxn id="834" idx="4"/>
              <a:endCxn id="839" idx="1"/>
            </p:cNvCxnSpPr>
            <p:nvPr/>
          </p:nvCxnSpPr>
          <p:spPr>
            <a:xfrm flipH="1">
              <a:off x="1830600" y="1742760"/>
              <a:ext cx="6120" cy="13032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842" name="Straight Arrow Connector 32"/>
            <p:cNvCxnSpPr>
              <a:stCxn id="839" idx="4"/>
              <a:endCxn id="840" idx="1"/>
            </p:cNvCxnSpPr>
            <p:nvPr/>
          </p:nvCxnSpPr>
          <p:spPr>
            <a:xfrm flipH="1">
              <a:off x="1805760" y="2015280"/>
              <a:ext cx="7560" cy="10800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843" name="Rounded Rectangle 17"/>
            <p:cNvSpPr/>
            <p:nvPr/>
          </p:nvSpPr>
          <p:spPr>
            <a:xfrm>
              <a:off x="1473120" y="241776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rgbClr val="00B0F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2: WIRING AND CONSTRUCTION INSPECTION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44" name="Rounded Rectangle 17"/>
            <p:cNvSpPr/>
            <p:nvPr/>
          </p:nvSpPr>
          <p:spPr>
            <a:xfrm>
              <a:off x="3665520" y="87012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chemeClr val="accent6">
                <a:lumMod val="75000"/>
              </a:schemeClr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: RUNNING INSPECTION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45" name="Rounded Rectangle 17"/>
            <p:cNvSpPr/>
            <p:nvPr/>
          </p:nvSpPr>
          <p:spPr>
            <a:xfrm>
              <a:off x="3669840" y="116064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chemeClr val="accent6">
                <a:lumMod val="40000"/>
                <a:lumOff val="60000"/>
              </a:schemeClr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5: FINAL INSPECTION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25" name="Rounded Rectangle 17"/>
            <p:cNvSpPr/>
            <p:nvPr/>
          </p:nvSpPr>
          <p:spPr>
            <a:xfrm>
              <a:off x="3669840" y="157392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chemeClr val="accent2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5: PACKAGING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846" name="Straight Arrow Connector 37"/>
            <p:cNvCxnSpPr/>
            <p:nvPr/>
          </p:nvCxnSpPr>
          <p:spPr>
            <a:xfrm>
              <a:off x="1812960" y="2318400"/>
              <a:ext cx="360" cy="10728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847" name="Rounded Rectangle 17"/>
            <p:cNvSpPr/>
            <p:nvPr/>
          </p:nvSpPr>
          <p:spPr>
            <a:xfrm>
              <a:off x="2571480" y="213228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rgbClr val="92D05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3: INDOOR CONTROL BOARD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848" name="Straight Arrow Connector 39"/>
            <p:cNvCxnSpPr/>
            <p:nvPr/>
          </p:nvCxnSpPr>
          <p:spPr>
            <a:xfrm flipH="1">
              <a:off x="2058120" y="2235960"/>
              <a:ext cx="540720" cy="3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849" name="Elbow Connector 175"/>
            <p:cNvCxnSpPr>
              <a:stCxn id="843" idx="2"/>
              <a:endCxn id="844" idx="1"/>
            </p:cNvCxnSpPr>
            <p:nvPr/>
          </p:nvCxnSpPr>
          <p:spPr>
            <a:xfrm flipV="1">
              <a:off x="2065320" y="870120"/>
              <a:ext cx="1933200" cy="1645920"/>
            </a:xfrm>
            <a:prstGeom prst="bentConnector4">
              <a:avLst>
                <a:gd name="adj1" fmla="val 228161"/>
                <a:gd name="adj2" fmla="val 76132"/>
              </a:avLst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850" name="Straight Arrow Connector 41"/>
            <p:cNvCxnSpPr>
              <a:stCxn id="845" idx="4"/>
              <a:endCxn id="825" idx="0"/>
            </p:cNvCxnSpPr>
            <p:nvPr/>
          </p:nvCxnSpPr>
          <p:spPr>
            <a:xfrm>
              <a:off x="3978000" y="1356120"/>
              <a:ext cx="360" cy="2181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851" name="Rounded Rectangle 14"/>
            <p:cNvSpPr/>
            <p:nvPr/>
          </p:nvSpPr>
          <p:spPr>
            <a:xfrm>
              <a:off x="3697560" y="1909080"/>
              <a:ext cx="561240" cy="142560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28575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7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END</a:t>
              </a:r>
              <a:endParaRPr lang="en-US" sz="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852" name="Straight Arrow Connector 43"/>
            <p:cNvCxnSpPr/>
            <p:nvPr/>
          </p:nvCxnSpPr>
          <p:spPr>
            <a:xfrm>
              <a:off x="3973680" y="1768680"/>
              <a:ext cx="360" cy="13068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853" name="Straight Arrow Connector 44"/>
            <p:cNvCxnSpPr>
              <a:stCxn id="844" idx="4"/>
            </p:cNvCxnSpPr>
            <p:nvPr/>
          </p:nvCxnSpPr>
          <p:spPr>
            <a:xfrm>
              <a:off x="3973680" y="1065600"/>
              <a:ext cx="360" cy="1029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4" name="Rectangle 205"/>
          <p:cNvSpPr/>
          <p:nvPr/>
        </p:nvSpPr>
        <p:spPr>
          <a:xfrm>
            <a:off x="1143000" y="8640"/>
            <a:ext cx="9905760" cy="308880"/>
          </a:xfrm>
          <a:prstGeom prst="rect">
            <a:avLst/>
          </a:prstGeom>
          <a:solidFill>
            <a:schemeClr val="accent1"/>
          </a:solidFill>
          <a:ln w="28575">
            <a:solidFill>
              <a:srgbClr val="00000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PH" sz="195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LINE AUTOMATION PROPOSAL</a:t>
            </a:r>
            <a:endParaRPr lang="en-US" sz="1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855" name="Straight Arrow Connector 10"/>
          <p:cNvCxnSpPr>
            <a:stCxn id="856" idx="2"/>
          </p:cNvCxnSpPr>
          <p:nvPr/>
        </p:nvCxnSpPr>
        <p:spPr>
          <a:xfrm>
            <a:off x="4262040" y="1671840"/>
            <a:ext cx="1082160" cy="1766520"/>
          </a:xfrm>
          <a:prstGeom prst="straightConnector1">
            <a:avLst/>
          </a:prstGeom>
          <a:ln>
            <a:solidFill>
              <a:srgbClr val="FF0000"/>
            </a:solidFill>
            <a:tailEnd len="med" type="triangle" w="med"/>
          </a:ln>
        </p:spPr>
      </p:cxnSp>
      <p:sp>
        <p:nvSpPr>
          <p:cNvPr id="857" name="Rectangle 19"/>
          <p:cNvSpPr/>
          <p:nvPr/>
        </p:nvSpPr>
        <p:spPr>
          <a:xfrm>
            <a:off x="2753640" y="3614400"/>
            <a:ext cx="6487560" cy="2500200"/>
          </a:xfrm>
          <a:prstGeom prst="rect">
            <a:avLst/>
          </a:prstGeom>
          <a:solidFill>
            <a:schemeClr val="bg2"/>
          </a:solidFill>
          <a:ln w="57150">
            <a:solidFill>
              <a:srgbClr val="4EA72E">
                <a:lumMod val="40000"/>
                <a:lumOff val="60000"/>
              </a:srgb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graphicFrame>
        <p:nvGraphicFramePr>
          <p:cNvPr id="858" name="Table 1"/>
          <p:cNvGraphicFramePr/>
          <p:nvPr/>
        </p:nvGraphicFramePr>
        <p:xfrm>
          <a:off x="2975040" y="3933720"/>
          <a:ext cx="4466160" cy="1955520"/>
        </p:xfrm>
        <a:graphic>
          <a:graphicData uri="http://schemas.openxmlformats.org/drawingml/2006/table">
            <a:tbl>
              <a:tblPr/>
              <a:tblGrid>
                <a:gridCol w="1252800"/>
                <a:gridCol w="1144080"/>
                <a:gridCol w="1019520"/>
                <a:gridCol w="1049040"/>
              </a:tblGrid>
              <a:tr h="182880"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Model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Plan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Act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Variance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0"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182880"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182880"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182880"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182880"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182880"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  <a:tr h="182880"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endParaRPr lang="en-US" sz="10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grpSp>
        <p:nvGrpSpPr>
          <p:cNvPr id="859" name="Group 7"/>
          <p:cNvGrpSpPr/>
          <p:nvPr/>
        </p:nvGrpSpPr>
        <p:grpSpPr>
          <a:xfrm>
            <a:off x="1461960" y="788760"/>
            <a:ext cx="5013360" cy="1824480"/>
            <a:chOff x="1461960" y="788760"/>
            <a:chExt cx="5013360" cy="1824480"/>
          </a:xfrm>
        </p:grpSpPr>
        <p:sp>
          <p:nvSpPr>
            <p:cNvPr id="860" name="Rounded Rectangle 14"/>
            <p:cNvSpPr/>
            <p:nvPr/>
          </p:nvSpPr>
          <p:spPr>
            <a:xfrm>
              <a:off x="1555920" y="788760"/>
              <a:ext cx="561240" cy="142560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28575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7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START</a:t>
              </a:r>
              <a:endParaRPr lang="en-US" sz="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61" name="Rounded Rectangle 126"/>
            <p:cNvSpPr/>
            <p:nvPr/>
          </p:nvSpPr>
          <p:spPr>
            <a:xfrm>
              <a:off x="1473120" y="1257480"/>
              <a:ext cx="726480" cy="212760"/>
            </a:xfrm>
            <a:prstGeom prst="parallelogram">
              <a:avLst>
                <a:gd name="adj" fmla="val 25000"/>
              </a:avLst>
            </a:prstGeom>
            <a:solidFill>
              <a:srgbClr val="FF000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1: FAN MOTOR &amp; COMPRESSOR RECORDING and CHECKING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62" name="Rounded Rectangle 17"/>
            <p:cNvSpPr/>
            <p:nvPr/>
          </p:nvSpPr>
          <p:spPr>
            <a:xfrm>
              <a:off x="1582200" y="1600200"/>
              <a:ext cx="507960" cy="142560"/>
            </a:xfrm>
            <a:prstGeom prst="parallelogram">
              <a:avLst>
                <a:gd name="adj" fmla="val 25000"/>
              </a:avLst>
            </a:prstGeom>
            <a:solidFill>
              <a:srgbClr val="FFC00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1: AIRTIGHT TEST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863" name="Straight Arrow Connector 15"/>
            <p:cNvCxnSpPr>
              <a:stCxn id="861" idx="4"/>
              <a:endCxn id="862" idx="0"/>
            </p:cNvCxnSpPr>
            <p:nvPr/>
          </p:nvCxnSpPr>
          <p:spPr>
            <a:xfrm>
              <a:off x="1836360" y="1470240"/>
              <a:ext cx="360" cy="13032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864" name="Rounded Rectangle 126"/>
            <p:cNvSpPr/>
            <p:nvPr/>
          </p:nvSpPr>
          <p:spPr>
            <a:xfrm>
              <a:off x="1461960" y="1012320"/>
              <a:ext cx="748440" cy="142560"/>
            </a:xfrm>
            <a:prstGeom prst="roundRect">
              <a:avLst>
                <a:gd name="adj" fmla="val 0"/>
              </a:avLst>
            </a:prstGeom>
            <a:solidFill>
              <a:schemeClr val="bg2">
                <a:lumMod val="50000"/>
              </a:schemeClr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SCAN FOR MODEL THAT WILL BE IN PRODUCTION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865" name="Straight Arrow Connector 21"/>
            <p:cNvCxnSpPr>
              <a:stCxn id="864" idx="2"/>
              <a:endCxn id="861" idx="0"/>
            </p:cNvCxnSpPr>
            <p:nvPr/>
          </p:nvCxnSpPr>
          <p:spPr>
            <a:xfrm>
              <a:off x="1836360" y="1154880"/>
              <a:ext cx="360" cy="1029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866" name="Straight Arrow Connector 22"/>
            <p:cNvCxnSpPr>
              <a:stCxn id="860" idx="2"/>
              <a:endCxn id="864" idx="0"/>
            </p:cNvCxnSpPr>
            <p:nvPr/>
          </p:nvCxnSpPr>
          <p:spPr>
            <a:xfrm flipH="1">
              <a:off x="1836360" y="931320"/>
              <a:ext cx="720" cy="813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867" name="Rounded Rectangle 17"/>
            <p:cNvSpPr/>
            <p:nvPr/>
          </p:nvSpPr>
          <p:spPr>
            <a:xfrm>
              <a:off x="1558800" y="1872720"/>
              <a:ext cx="507960" cy="142560"/>
            </a:xfrm>
            <a:prstGeom prst="parallelogram">
              <a:avLst>
                <a:gd name="adj" fmla="val 25000"/>
              </a:avLst>
            </a:prstGeom>
            <a:solidFill>
              <a:srgbClr val="FFFF0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2: GAS CHARGING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68" name="Rounded Rectangle 17"/>
            <p:cNvSpPr/>
            <p:nvPr/>
          </p:nvSpPr>
          <p:spPr>
            <a:xfrm>
              <a:off x="1473120" y="212292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rgbClr val="00B05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4: CONTROL BOARD &amp; OUTDOOR PCB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869" name="Straight Arrow Connector 31"/>
            <p:cNvCxnSpPr>
              <a:stCxn id="862" idx="4"/>
              <a:endCxn id="867" idx="1"/>
            </p:cNvCxnSpPr>
            <p:nvPr/>
          </p:nvCxnSpPr>
          <p:spPr>
            <a:xfrm flipH="1">
              <a:off x="1830600" y="1742760"/>
              <a:ext cx="6120" cy="13032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870" name="Straight Arrow Connector 32"/>
            <p:cNvCxnSpPr>
              <a:stCxn id="867" idx="4"/>
              <a:endCxn id="868" idx="1"/>
            </p:cNvCxnSpPr>
            <p:nvPr/>
          </p:nvCxnSpPr>
          <p:spPr>
            <a:xfrm flipH="1">
              <a:off x="1805760" y="2015280"/>
              <a:ext cx="7560" cy="10800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871" name="Rounded Rectangle 17"/>
            <p:cNvSpPr/>
            <p:nvPr/>
          </p:nvSpPr>
          <p:spPr>
            <a:xfrm>
              <a:off x="1473120" y="241776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rgbClr val="00B0F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2: WIRING AND CONSTRUCTION INSPECTION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72" name="Rounded Rectangle 17"/>
            <p:cNvSpPr/>
            <p:nvPr/>
          </p:nvSpPr>
          <p:spPr>
            <a:xfrm>
              <a:off x="3665520" y="87012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chemeClr val="accent6">
                <a:lumMod val="75000"/>
              </a:schemeClr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: RUNNING INSPECTION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73" name="Rounded Rectangle 17"/>
            <p:cNvSpPr/>
            <p:nvPr/>
          </p:nvSpPr>
          <p:spPr>
            <a:xfrm>
              <a:off x="3669840" y="116064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chemeClr val="accent6">
                <a:lumMod val="40000"/>
                <a:lumOff val="60000"/>
              </a:schemeClr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INSPECTION 5: FINAL INSPECTION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56" name="Rounded Rectangle 17"/>
            <p:cNvSpPr/>
            <p:nvPr/>
          </p:nvSpPr>
          <p:spPr>
            <a:xfrm>
              <a:off x="3669840" y="157392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chemeClr val="accent2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5: PACKAGING</a:t>
              </a:r>
              <a:endParaRPr lang="en-US" sz="3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874" name="Straight Arrow Connector 37"/>
            <p:cNvCxnSpPr/>
            <p:nvPr/>
          </p:nvCxnSpPr>
          <p:spPr>
            <a:xfrm>
              <a:off x="1812960" y="2318400"/>
              <a:ext cx="360" cy="10728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875" name="Rounded Rectangle 17"/>
            <p:cNvSpPr/>
            <p:nvPr/>
          </p:nvSpPr>
          <p:spPr>
            <a:xfrm>
              <a:off x="2571480" y="2132280"/>
              <a:ext cx="616320" cy="195480"/>
            </a:xfrm>
            <a:prstGeom prst="parallelogram">
              <a:avLst>
                <a:gd name="adj" fmla="val 25000"/>
              </a:avLst>
            </a:prstGeom>
            <a:solidFill>
              <a:srgbClr val="92D050"/>
            </a:solidFill>
            <a:ln w="12700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3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SFIS 3: INDOOR CONTROL BOARD</a:t>
              </a:r>
              <a:endParaRPr lang="en-US" sz="3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876" name="Straight Arrow Connector 39"/>
            <p:cNvCxnSpPr/>
            <p:nvPr/>
          </p:nvCxnSpPr>
          <p:spPr>
            <a:xfrm flipH="1">
              <a:off x="2058120" y="2235960"/>
              <a:ext cx="540720" cy="3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877" name="Elbow Connector 175"/>
            <p:cNvCxnSpPr>
              <a:stCxn id="871" idx="2"/>
              <a:endCxn id="872" idx="1"/>
            </p:cNvCxnSpPr>
            <p:nvPr/>
          </p:nvCxnSpPr>
          <p:spPr>
            <a:xfrm flipV="1">
              <a:off x="2065320" y="870120"/>
              <a:ext cx="1933200" cy="1645920"/>
            </a:xfrm>
            <a:prstGeom prst="bentConnector4">
              <a:avLst>
                <a:gd name="adj1" fmla="val 228161"/>
                <a:gd name="adj2" fmla="val 76132"/>
              </a:avLst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878" name="Straight Arrow Connector 41"/>
            <p:cNvCxnSpPr>
              <a:stCxn id="873" idx="4"/>
              <a:endCxn id="856" idx="0"/>
            </p:cNvCxnSpPr>
            <p:nvPr/>
          </p:nvCxnSpPr>
          <p:spPr>
            <a:xfrm>
              <a:off x="3978000" y="1356120"/>
              <a:ext cx="360" cy="2181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sp>
          <p:nvSpPr>
            <p:cNvPr id="879" name="Rounded Rectangle 14"/>
            <p:cNvSpPr/>
            <p:nvPr/>
          </p:nvSpPr>
          <p:spPr>
            <a:xfrm>
              <a:off x="3697560" y="1909080"/>
              <a:ext cx="561240" cy="142560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28575">
              <a:solidFill>
                <a:srgbClr val="000000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/>
          </p:style>
          <p:txBody>
            <a:bodyPr numCol="1" spcCol="0" lIns="60480" tIns="30240" rIns="60480" bIns="3024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PH" sz="700" b="1" u="none" strike="noStrike">
                  <a:solidFill>
                    <a:srgbClr val="000000"/>
                  </a:solidFill>
                  <a:effectLst/>
                  <a:uFillTx/>
                  <a:latin typeface="Arial"/>
                </a:rPr>
                <a:t>END</a:t>
              </a:r>
              <a:endParaRPr lang="en-US" sz="7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cxnSp>
          <p:nvCxnSpPr>
            <p:cNvPr id="880" name="Straight Arrow Connector 43"/>
            <p:cNvCxnSpPr/>
            <p:nvPr/>
          </p:nvCxnSpPr>
          <p:spPr>
            <a:xfrm>
              <a:off x="3973680" y="1768680"/>
              <a:ext cx="360" cy="13068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  <p:cxnSp>
          <p:nvCxnSpPr>
            <p:cNvPr id="881" name="Straight Arrow Connector 44"/>
            <p:cNvCxnSpPr>
              <a:stCxn id="872" idx="4"/>
            </p:cNvCxnSpPr>
            <p:nvPr/>
          </p:nvCxnSpPr>
          <p:spPr>
            <a:xfrm>
              <a:off x="3973680" y="1065600"/>
              <a:ext cx="360" cy="102960"/>
            </a:xfrm>
            <a:prstGeom prst="straightConnector1">
              <a:avLst/>
            </a:prstGeom>
            <a:ln w="28575">
              <a:solidFill>
                <a:srgbClr val="FF0000"/>
              </a:solidFill>
              <a:tailEnd len="med" type="triangle" w="med"/>
            </a:ln>
          </p:spPr>
        </p:cxnSp>
      </p:grpSp>
      <p:sp>
        <p:nvSpPr>
          <p:cNvPr id="882" name="Rectangle 45"/>
          <p:cNvSpPr/>
          <p:nvPr/>
        </p:nvSpPr>
        <p:spPr>
          <a:xfrm>
            <a:off x="8079840" y="4045680"/>
            <a:ext cx="376560" cy="307440"/>
          </a:xfrm>
          <a:prstGeom prst="rect">
            <a:avLst/>
          </a:prstGeom>
          <a:solidFill>
            <a:schemeClr val="accent3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883" name="Rectangle 46"/>
          <p:cNvSpPr/>
          <p:nvPr/>
        </p:nvSpPr>
        <p:spPr>
          <a:xfrm>
            <a:off x="8079840" y="4529520"/>
            <a:ext cx="376560" cy="307440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884" name="Rectangle 47"/>
          <p:cNvSpPr/>
          <p:nvPr/>
        </p:nvSpPr>
        <p:spPr>
          <a:xfrm>
            <a:off x="8079840" y="5013720"/>
            <a:ext cx="376560" cy="307440"/>
          </a:xfrm>
          <a:prstGeom prst="rect">
            <a:avLst/>
          </a:prstGeom>
          <a:solidFill>
            <a:srgbClr val="FF0000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5" name="Rectangle 205"/>
          <p:cNvSpPr/>
          <p:nvPr/>
        </p:nvSpPr>
        <p:spPr>
          <a:xfrm>
            <a:off x="1143000" y="8640"/>
            <a:ext cx="9905760" cy="308880"/>
          </a:xfrm>
          <a:prstGeom prst="rect">
            <a:avLst/>
          </a:prstGeom>
          <a:solidFill>
            <a:schemeClr val="accent1"/>
          </a:solidFill>
          <a:ln w="28575">
            <a:solidFill>
              <a:srgbClr val="00000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PH" sz="195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LINE AUTOMATION PROPOSAL</a:t>
            </a:r>
            <a:endParaRPr lang="en-US" sz="1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6" name="Rectangle 19"/>
          <p:cNvSpPr/>
          <p:nvPr/>
        </p:nvSpPr>
        <p:spPr>
          <a:xfrm>
            <a:off x="1143000" y="711360"/>
            <a:ext cx="9905760" cy="55368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57150">
            <a:solidFill>
              <a:srgbClr val="4EA72E">
                <a:lumMod val="40000"/>
                <a:lumOff val="60000"/>
              </a:srgb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887" name="Rectangle 2"/>
          <p:cNvSpPr/>
          <p:nvPr/>
        </p:nvSpPr>
        <p:spPr>
          <a:xfrm>
            <a:off x="3058200" y="2190960"/>
            <a:ext cx="2529360" cy="6296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WORK SCHEDULE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8" name="Rectangle 3"/>
          <p:cNvSpPr/>
          <p:nvPr/>
        </p:nvSpPr>
        <p:spPr>
          <a:xfrm>
            <a:off x="3058200" y="3195360"/>
            <a:ext cx="2529360" cy="6296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MODEL REFERENCE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9" name="Rectangle 4"/>
          <p:cNvSpPr/>
          <p:nvPr/>
        </p:nvSpPr>
        <p:spPr>
          <a:xfrm>
            <a:off x="3058200" y="4199760"/>
            <a:ext cx="2529360" cy="6296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MODULE CONTROL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0" name="Rectangle 5"/>
          <p:cNvSpPr/>
          <p:nvPr/>
        </p:nvSpPr>
        <p:spPr>
          <a:xfrm>
            <a:off x="6162120" y="2658240"/>
            <a:ext cx="2529360" cy="6296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QC REPORT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1" name="Rectangle 6"/>
          <p:cNvSpPr/>
          <p:nvPr/>
        </p:nvSpPr>
        <p:spPr>
          <a:xfrm>
            <a:off x="6162120" y="3569760"/>
            <a:ext cx="2529360" cy="6296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TRANSFER SLIP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Rectangle 205"/>
          <p:cNvSpPr/>
          <p:nvPr/>
        </p:nvSpPr>
        <p:spPr>
          <a:xfrm>
            <a:off x="1143000" y="8640"/>
            <a:ext cx="9905760" cy="308880"/>
          </a:xfrm>
          <a:prstGeom prst="rect">
            <a:avLst/>
          </a:prstGeom>
          <a:solidFill>
            <a:schemeClr val="accent1"/>
          </a:solidFill>
          <a:ln w="28575">
            <a:solidFill>
              <a:srgbClr val="00000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PH" sz="195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LINE AUTOMATION PROPOSAL</a:t>
            </a:r>
            <a:endParaRPr lang="en-US" sz="1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3" name="Rectangle 19"/>
          <p:cNvSpPr/>
          <p:nvPr/>
        </p:nvSpPr>
        <p:spPr>
          <a:xfrm>
            <a:off x="1143000" y="711360"/>
            <a:ext cx="9905760" cy="55368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57150">
            <a:solidFill>
              <a:srgbClr val="4EA72E">
                <a:lumMod val="40000"/>
                <a:lumOff val="60000"/>
              </a:srgb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894" name="Rectangle 2"/>
          <p:cNvSpPr/>
          <p:nvPr/>
        </p:nvSpPr>
        <p:spPr>
          <a:xfrm>
            <a:off x="1473120" y="920880"/>
            <a:ext cx="2529360" cy="6296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WORK SCHEDULE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95" name="Picture 7"/>
          <p:cNvPicPr/>
          <p:nvPr/>
        </p:nvPicPr>
        <p:blipFill>
          <a:blip r:embed="rId1"/>
          <a:stretch/>
        </p:blipFill>
        <p:spPr>
          <a:xfrm>
            <a:off x="1701720" y="1944000"/>
            <a:ext cx="8219160" cy="18838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96" name="Picture 9"/>
          <p:cNvPicPr/>
          <p:nvPr/>
        </p:nvPicPr>
        <p:blipFill>
          <a:blip r:embed="rId2"/>
          <a:stretch/>
        </p:blipFill>
        <p:spPr>
          <a:xfrm>
            <a:off x="1696680" y="4221720"/>
            <a:ext cx="8219160" cy="17654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897" name="Picture 11"/>
          <p:cNvPicPr/>
          <p:nvPr/>
        </p:nvPicPr>
        <p:blipFill>
          <a:blip r:embed="rId3"/>
          <a:stretch/>
        </p:blipFill>
        <p:spPr>
          <a:xfrm>
            <a:off x="4333320" y="1073880"/>
            <a:ext cx="6385320" cy="439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Rectangle 205"/>
          <p:cNvSpPr/>
          <p:nvPr/>
        </p:nvSpPr>
        <p:spPr>
          <a:xfrm>
            <a:off x="1143000" y="8640"/>
            <a:ext cx="9905760" cy="308880"/>
          </a:xfrm>
          <a:prstGeom prst="rect">
            <a:avLst/>
          </a:prstGeom>
          <a:solidFill>
            <a:schemeClr val="accent1"/>
          </a:solidFill>
          <a:ln w="28575">
            <a:solidFill>
              <a:srgbClr val="00000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PH" sz="195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LINE AUTOMATION PROPOSAL</a:t>
            </a:r>
            <a:endParaRPr lang="en-US" sz="1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9" name="Rectangle 19"/>
          <p:cNvSpPr/>
          <p:nvPr/>
        </p:nvSpPr>
        <p:spPr>
          <a:xfrm>
            <a:off x="1143000" y="711360"/>
            <a:ext cx="9905760" cy="55368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57150">
            <a:solidFill>
              <a:srgbClr val="4EA72E">
                <a:lumMod val="40000"/>
                <a:lumOff val="60000"/>
              </a:srgb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900" name="Rectangle 2"/>
          <p:cNvSpPr/>
          <p:nvPr/>
        </p:nvSpPr>
        <p:spPr>
          <a:xfrm>
            <a:off x="1473120" y="920880"/>
            <a:ext cx="2529360" cy="6296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MODEL REFERENCE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01" name="Picture 3"/>
          <p:cNvPicPr/>
          <p:nvPr/>
        </p:nvPicPr>
        <p:blipFill>
          <a:blip r:embed="rId1"/>
          <a:stretch/>
        </p:blipFill>
        <p:spPr>
          <a:xfrm>
            <a:off x="2971440" y="1944000"/>
            <a:ext cx="5940000" cy="3592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2" name="Rectangle 205"/>
          <p:cNvSpPr/>
          <p:nvPr/>
        </p:nvSpPr>
        <p:spPr>
          <a:xfrm>
            <a:off x="1143000" y="8640"/>
            <a:ext cx="9905760" cy="308880"/>
          </a:xfrm>
          <a:prstGeom prst="rect">
            <a:avLst/>
          </a:prstGeom>
          <a:solidFill>
            <a:schemeClr val="accent1"/>
          </a:solidFill>
          <a:ln w="28575">
            <a:solidFill>
              <a:srgbClr val="00000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PH" sz="195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LINE AUTOMATION PROPOSAL</a:t>
            </a:r>
            <a:endParaRPr lang="en-US" sz="1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3" name="Rectangle 19"/>
          <p:cNvSpPr/>
          <p:nvPr/>
        </p:nvSpPr>
        <p:spPr>
          <a:xfrm>
            <a:off x="1143000" y="711360"/>
            <a:ext cx="9905760" cy="55368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57150">
            <a:solidFill>
              <a:srgbClr val="4EA72E">
                <a:lumMod val="40000"/>
                <a:lumOff val="60000"/>
              </a:srgb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904" name="Rectangle 2"/>
          <p:cNvSpPr/>
          <p:nvPr/>
        </p:nvSpPr>
        <p:spPr>
          <a:xfrm>
            <a:off x="1473120" y="920880"/>
            <a:ext cx="2529360" cy="6296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MODULE CONTROL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05" name="Picture 1"/>
          <p:cNvPicPr/>
          <p:nvPr/>
        </p:nvPicPr>
        <p:blipFill>
          <a:blip r:embed="rId1"/>
          <a:stretch/>
        </p:blipFill>
        <p:spPr>
          <a:xfrm>
            <a:off x="2738160" y="1883880"/>
            <a:ext cx="6718320" cy="4030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6" name="Rectangle 205"/>
          <p:cNvSpPr/>
          <p:nvPr/>
        </p:nvSpPr>
        <p:spPr>
          <a:xfrm>
            <a:off x="1143000" y="8640"/>
            <a:ext cx="9905760" cy="308880"/>
          </a:xfrm>
          <a:prstGeom prst="rect">
            <a:avLst/>
          </a:prstGeom>
          <a:solidFill>
            <a:schemeClr val="accent1"/>
          </a:solidFill>
          <a:ln w="28575">
            <a:solidFill>
              <a:srgbClr val="00000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PH" sz="195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LINE AUTOMATION PROPOSAL</a:t>
            </a:r>
            <a:endParaRPr lang="en-US" sz="1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7" name="Rectangle 19"/>
          <p:cNvSpPr/>
          <p:nvPr/>
        </p:nvSpPr>
        <p:spPr>
          <a:xfrm>
            <a:off x="1143000" y="711360"/>
            <a:ext cx="9905760" cy="55368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57150">
            <a:solidFill>
              <a:srgbClr val="4EA72E">
                <a:lumMod val="40000"/>
                <a:lumOff val="60000"/>
              </a:srgb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908" name="Rectangle 2"/>
          <p:cNvSpPr/>
          <p:nvPr/>
        </p:nvSpPr>
        <p:spPr>
          <a:xfrm>
            <a:off x="1473120" y="920880"/>
            <a:ext cx="2529360" cy="6296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QC REPORT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09" name="Picture 3"/>
          <p:cNvPicPr/>
          <p:nvPr/>
        </p:nvPicPr>
        <p:blipFill>
          <a:blip r:embed="rId1"/>
          <a:stretch/>
        </p:blipFill>
        <p:spPr>
          <a:xfrm>
            <a:off x="4265280" y="2039040"/>
            <a:ext cx="3661200" cy="2220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Rectangle 205"/>
          <p:cNvSpPr/>
          <p:nvPr/>
        </p:nvSpPr>
        <p:spPr>
          <a:xfrm>
            <a:off x="1143000" y="8640"/>
            <a:ext cx="9905760" cy="308880"/>
          </a:xfrm>
          <a:prstGeom prst="rect">
            <a:avLst/>
          </a:prstGeom>
          <a:solidFill>
            <a:schemeClr val="accent1"/>
          </a:solidFill>
          <a:ln w="28575">
            <a:solidFill>
              <a:srgbClr val="00000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PH" sz="195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LINE AUTOMATION PROPOSAL</a:t>
            </a:r>
            <a:endParaRPr lang="en-US" sz="1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1" name="Rectangle 19"/>
          <p:cNvSpPr/>
          <p:nvPr/>
        </p:nvSpPr>
        <p:spPr>
          <a:xfrm>
            <a:off x="1143000" y="711360"/>
            <a:ext cx="9905760" cy="55368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57150">
            <a:solidFill>
              <a:srgbClr val="4EA72E">
                <a:lumMod val="40000"/>
                <a:lumOff val="60000"/>
              </a:srgb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912" name="Rectangle 2"/>
          <p:cNvSpPr/>
          <p:nvPr/>
        </p:nvSpPr>
        <p:spPr>
          <a:xfrm>
            <a:off x="1473120" y="920880"/>
            <a:ext cx="2529360" cy="6296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QC REPORT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13" name="Picture 1"/>
          <p:cNvPicPr/>
          <p:nvPr/>
        </p:nvPicPr>
        <p:blipFill>
          <a:blip r:embed="rId1"/>
          <a:stretch/>
        </p:blipFill>
        <p:spPr>
          <a:xfrm>
            <a:off x="4587840" y="1770120"/>
            <a:ext cx="3016080" cy="3862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14" name="TextBox 4"/>
          <p:cNvSpPr/>
          <p:nvPr/>
        </p:nvSpPr>
        <p:spPr>
          <a:xfrm>
            <a:off x="8199000" y="5632920"/>
            <a:ext cx="3451680" cy="92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Note: QC Report shall be complete w/ judgement and name of operator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5" name="Rectangle 205"/>
          <p:cNvSpPr/>
          <p:nvPr/>
        </p:nvSpPr>
        <p:spPr>
          <a:xfrm>
            <a:off x="1143000" y="8640"/>
            <a:ext cx="9905760" cy="308880"/>
          </a:xfrm>
          <a:prstGeom prst="rect">
            <a:avLst/>
          </a:prstGeom>
          <a:solidFill>
            <a:schemeClr val="accent1"/>
          </a:solidFill>
          <a:ln w="28575">
            <a:solidFill>
              <a:srgbClr val="00000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PH" sz="195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LINE AUTOMATION PROPOSAL</a:t>
            </a:r>
            <a:endParaRPr lang="en-US" sz="1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6" name="Rectangle 19"/>
          <p:cNvSpPr/>
          <p:nvPr/>
        </p:nvSpPr>
        <p:spPr>
          <a:xfrm>
            <a:off x="1143000" y="711360"/>
            <a:ext cx="9905760" cy="55368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57150">
            <a:solidFill>
              <a:srgbClr val="4EA72E">
                <a:lumMod val="40000"/>
                <a:lumOff val="60000"/>
              </a:srgb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917" name="Rectangle 2"/>
          <p:cNvSpPr/>
          <p:nvPr/>
        </p:nvSpPr>
        <p:spPr>
          <a:xfrm>
            <a:off x="1473120" y="920880"/>
            <a:ext cx="2529360" cy="6296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TRANSFER SLIP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18" name="Picture 1"/>
          <p:cNvPicPr/>
          <p:nvPr/>
        </p:nvPicPr>
        <p:blipFill>
          <a:blip r:embed="rId1"/>
          <a:stretch/>
        </p:blipFill>
        <p:spPr>
          <a:xfrm>
            <a:off x="4385880" y="1894680"/>
            <a:ext cx="3419640" cy="2570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Rectangle 205"/>
          <p:cNvSpPr/>
          <p:nvPr/>
        </p:nvSpPr>
        <p:spPr>
          <a:xfrm>
            <a:off x="1143000" y="8640"/>
            <a:ext cx="9905760" cy="308880"/>
          </a:xfrm>
          <a:prstGeom prst="rect">
            <a:avLst/>
          </a:prstGeom>
          <a:solidFill>
            <a:schemeClr val="accent1"/>
          </a:solidFill>
          <a:ln w="28575">
            <a:solidFill>
              <a:srgbClr val="00000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PH" sz="195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LINE AUTOMATION PROPOSAL</a:t>
            </a:r>
            <a:endParaRPr lang="en-US" sz="1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0" name="Rectangle 19"/>
          <p:cNvSpPr/>
          <p:nvPr/>
        </p:nvSpPr>
        <p:spPr>
          <a:xfrm>
            <a:off x="1143000" y="711360"/>
            <a:ext cx="9905760" cy="55368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57150">
            <a:solidFill>
              <a:srgbClr val="4EA72E">
                <a:lumMod val="40000"/>
                <a:lumOff val="60000"/>
              </a:srgb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921" name="Rectangle 2"/>
          <p:cNvSpPr/>
          <p:nvPr/>
        </p:nvSpPr>
        <p:spPr>
          <a:xfrm>
            <a:off x="1473120" y="920880"/>
            <a:ext cx="2529360" cy="6296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TRANSFER SLIP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22" name="Picture 3"/>
          <p:cNvPicPr/>
          <p:nvPr/>
        </p:nvPicPr>
        <p:blipFill>
          <a:blip r:embed="rId1"/>
          <a:stretch/>
        </p:blipFill>
        <p:spPr>
          <a:xfrm>
            <a:off x="2194200" y="2502000"/>
            <a:ext cx="7803360" cy="18540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3" name="Rectangle 205"/>
          <p:cNvSpPr/>
          <p:nvPr/>
        </p:nvSpPr>
        <p:spPr>
          <a:xfrm>
            <a:off x="0" y="8640"/>
            <a:ext cx="12191760" cy="344520"/>
          </a:xfrm>
          <a:prstGeom prst="rect">
            <a:avLst/>
          </a:prstGeom>
          <a:solidFill>
            <a:schemeClr val="accent1"/>
          </a:solidFill>
          <a:ln w="28575">
            <a:solidFill>
              <a:srgbClr val="00000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PH" sz="195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SCOREBOARD</a:t>
            </a:r>
            <a:endParaRPr lang="en-US" sz="1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4" name="Rectangle 19"/>
          <p:cNvSpPr/>
          <p:nvPr/>
        </p:nvSpPr>
        <p:spPr>
          <a:xfrm>
            <a:off x="1143000" y="711360"/>
            <a:ext cx="9905760" cy="55368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57150">
            <a:solidFill>
              <a:srgbClr val="4EA72E">
                <a:lumMod val="40000"/>
                <a:lumOff val="60000"/>
              </a:srgb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925" name="TextBox 1"/>
          <p:cNvSpPr/>
          <p:nvPr/>
        </p:nvSpPr>
        <p:spPr>
          <a:xfrm>
            <a:off x="1474920" y="855360"/>
            <a:ext cx="83988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LINE 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6" name="TextBox 4"/>
          <p:cNvSpPr/>
          <p:nvPr/>
        </p:nvSpPr>
        <p:spPr>
          <a:xfrm>
            <a:off x="4992840" y="855360"/>
            <a:ext cx="220572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FEBRUARY 18, 2026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7" name="TextBox 5"/>
          <p:cNvSpPr/>
          <p:nvPr/>
        </p:nvSpPr>
        <p:spPr>
          <a:xfrm>
            <a:off x="2413800" y="1647000"/>
            <a:ext cx="95868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MODEL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8" name="TextBox 6"/>
          <p:cNvSpPr/>
          <p:nvPr/>
        </p:nvSpPr>
        <p:spPr>
          <a:xfrm>
            <a:off x="5618880" y="1657440"/>
            <a:ext cx="75564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PLAN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9" name="TextBox 7"/>
          <p:cNvSpPr/>
          <p:nvPr/>
        </p:nvSpPr>
        <p:spPr>
          <a:xfrm>
            <a:off x="8909640" y="1647720"/>
            <a:ext cx="97092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STATUS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0" name="Rectangle 8"/>
          <p:cNvSpPr/>
          <p:nvPr/>
        </p:nvSpPr>
        <p:spPr>
          <a:xfrm>
            <a:off x="1391400" y="3404880"/>
            <a:ext cx="9408960" cy="245016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57150">
            <a:solidFill>
              <a:srgbClr val="4EA72E">
                <a:lumMod val="40000"/>
                <a:lumOff val="60000"/>
              </a:srgb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931" name="TextBox 9"/>
          <p:cNvSpPr/>
          <p:nvPr/>
        </p:nvSpPr>
        <p:spPr>
          <a:xfrm>
            <a:off x="2163600" y="2026800"/>
            <a:ext cx="144468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CW-XXXXX1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2" name="TextBox 10"/>
          <p:cNvSpPr/>
          <p:nvPr/>
        </p:nvSpPr>
        <p:spPr>
          <a:xfrm>
            <a:off x="5719320" y="2016360"/>
            <a:ext cx="55476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200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3" name="TextBox 11"/>
          <p:cNvSpPr/>
          <p:nvPr/>
        </p:nvSpPr>
        <p:spPr>
          <a:xfrm>
            <a:off x="8960400" y="2016360"/>
            <a:ext cx="81756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DONE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4" name="TextBox 12"/>
          <p:cNvSpPr/>
          <p:nvPr/>
        </p:nvSpPr>
        <p:spPr>
          <a:xfrm>
            <a:off x="2163600" y="2363760"/>
            <a:ext cx="144468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CW-XXXXX2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5" name="TextBox 13"/>
          <p:cNvSpPr/>
          <p:nvPr/>
        </p:nvSpPr>
        <p:spPr>
          <a:xfrm>
            <a:off x="5719320" y="2353320"/>
            <a:ext cx="55476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500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6" name="TextBox 14"/>
          <p:cNvSpPr/>
          <p:nvPr/>
        </p:nvSpPr>
        <p:spPr>
          <a:xfrm>
            <a:off x="8694360" y="2337480"/>
            <a:ext cx="133380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ON-GOING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7" name="TextBox 15"/>
          <p:cNvSpPr/>
          <p:nvPr/>
        </p:nvSpPr>
        <p:spPr>
          <a:xfrm>
            <a:off x="2163600" y="2700720"/>
            <a:ext cx="144468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CW-XXXXX3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8" name="TextBox 16"/>
          <p:cNvSpPr/>
          <p:nvPr/>
        </p:nvSpPr>
        <p:spPr>
          <a:xfrm>
            <a:off x="5719320" y="2690280"/>
            <a:ext cx="55476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300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9" name="TextBox 17"/>
          <p:cNvSpPr/>
          <p:nvPr/>
        </p:nvSpPr>
        <p:spPr>
          <a:xfrm>
            <a:off x="8370720" y="2678400"/>
            <a:ext cx="204840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NOT YET STARTED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0" name="TextBox 18"/>
          <p:cNvSpPr/>
          <p:nvPr/>
        </p:nvSpPr>
        <p:spPr>
          <a:xfrm>
            <a:off x="1585440" y="3479760"/>
            <a:ext cx="283572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ON-GOING PRODUCTION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1" name="TextBox 20"/>
          <p:cNvSpPr/>
          <p:nvPr/>
        </p:nvSpPr>
        <p:spPr>
          <a:xfrm>
            <a:off x="2004480" y="3904560"/>
            <a:ext cx="95868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MODEL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2" name="TextBox 21"/>
          <p:cNvSpPr/>
          <p:nvPr/>
        </p:nvSpPr>
        <p:spPr>
          <a:xfrm>
            <a:off x="3542400" y="3904560"/>
            <a:ext cx="1362600" cy="64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RUNNING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SCHEDULE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3" name="TextBox 22"/>
          <p:cNvSpPr/>
          <p:nvPr/>
        </p:nvSpPr>
        <p:spPr>
          <a:xfrm>
            <a:off x="5484240" y="3875400"/>
            <a:ext cx="1222920" cy="64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RUNNING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ACTUAL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4" name="TextBox 23"/>
          <p:cNvSpPr/>
          <p:nvPr/>
        </p:nvSpPr>
        <p:spPr>
          <a:xfrm>
            <a:off x="7310160" y="3904560"/>
            <a:ext cx="127908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VARIANCE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5" name="TextBox 24"/>
          <p:cNvSpPr/>
          <p:nvPr/>
        </p:nvSpPr>
        <p:spPr>
          <a:xfrm>
            <a:off x="9049680" y="3904560"/>
            <a:ext cx="97092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STATUS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6" name="TextBox 25"/>
          <p:cNvSpPr/>
          <p:nvPr/>
        </p:nvSpPr>
        <p:spPr>
          <a:xfrm>
            <a:off x="1585440" y="4795560"/>
            <a:ext cx="1868760" cy="46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CW-XXXXX2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7" name="TextBox 26"/>
          <p:cNvSpPr/>
          <p:nvPr/>
        </p:nvSpPr>
        <p:spPr>
          <a:xfrm>
            <a:off x="3761280" y="4683960"/>
            <a:ext cx="924840" cy="64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343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8" name="TextBox 27"/>
          <p:cNvSpPr/>
          <p:nvPr/>
        </p:nvSpPr>
        <p:spPr>
          <a:xfrm>
            <a:off x="5756760" y="4703400"/>
            <a:ext cx="677880" cy="64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24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9" name="TextBox 28"/>
          <p:cNvSpPr/>
          <p:nvPr/>
        </p:nvSpPr>
        <p:spPr>
          <a:xfrm>
            <a:off x="7478640" y="4663080"/>
            <a:ext cx="924840" cy="64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36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319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0" name="Oval 29"/>
          <p:cNvSpPr/>
          <p:nvPr/>
        </p:nvSpPr>
        <p:spPr>
          <a:xfrm>
            <a:off x="9057240" y="4521600"/>
            <a:ext cx="970920" cy="970920"/>
          </a:xfrm>
          <a:prstGeom prst="ellipse">
            <a:avLst/>
          </a:prstGeom>
          <a:solidFill>
            <a:srgbClr val="FF0000"/>
          </a:solidFill>
          <a:ln>
            <a:solidFill>
              <a:srgbClr val="092A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!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1" name="TextBox 30"/>
          <p:cNvSpPr/>
          <p:nvPr/>
        </p:nvSpPr>
        <p:spPr>
          <a:xfrm>
            <a:off x="9208800" y="5550480"/>
            <a:ext cx="652320" cy="27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Behind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2" name="TextBox 31"/>
          <p:cNvSpPr/>
          <p:nvPr/>
        </p:nvSpPr>
        <p:spPr>
          <a:xfrm>
            <a:off x="11049120" y="5677560"/>
            <a:ext cx="2131560" cy="93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Note (Variance): 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Behind (Red) : more than -20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Behind (Yellow): less than -20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On-Time (Yellow-Green): 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On-Time (Green): positive value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3" name="TextBox 32"/>
          <p:cNvSpPr/>
          <p:nvPr/>
        </p:nvSpPr>
        <p:spPr>
          <a:xfrm>
            <a:off x="8878320" y="878400"/>
            <a:ext cx="132876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SHIFT: DAY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4" name="Rectangle 205"/>
          <p:cNvSpPr/>
          <p:nvPr/>
        </p:nvSpPr>
        <p:spPr>
          <a:xfrm>
            <a:off x="0" y="8640"/>
            <a:ext cx="12191760" cy="344520"/>
          </a:xfrm>
          <a:prstGeom prst="rect">
            <a:avLst/>
          </a:prstGeom>
          <a:solidFill>
            <a:schemeClr val="accent1"/>
          </a:solidFill>
          <a:ln w="28575">
            <a:solidFill>
              <a:srgbClr val="00000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PH" sz="195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SCOREBOARD</a:t>
            </a:r>
            <a:endParaRPr lang="en-US" sz="1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5" name="Rectangle 19"/>
          <p:cNvSpPr/>
          <p:nvPr/>
        </p:nvSpPr>
        <p:spPr>
          <a:xfrm>
            <a:off x="1143000" y="711360"/>
            <a:ext cx="9905760" cy="55368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57150">
            <a:solidFill>
              <a:srgbClr val="4EA72E">
                <a:lumMod val="40000"/>
                <a:lumOff val="60000"/>
              </a:srgb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956" name="TextBox 1"/>
          <p:cNvSpPr/>
          <p:nvPr/>
        </p:nvSpPr>
        <p:spPr>
          <a:xfrm>
            <a:off x="1474920" y="855360"/>
            <a:ext cx="83988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LINE 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7" name="TextBox 4"/>
          <p:cNvSpPr/>
          <p:nvPr/>
        </p:nvSpPr>
        <p:spPr>
          <a:xfrm>
            <a:off x="4992840" y="855360"/>
            <a:ext cx="220572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FEBRUARY 18, 2026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8" name="TextBox 5"/>
          <p:cNvSpPr/>
          <p:nvPr/>
        </p:nvSpPr>
        <p:spPr>
          <a:xfrm>
            <a:off x="2125080" y="1639080"/>
            <a:ext cx="95868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MODEL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9" name="TextBox 6"/>
          <p:cNvSpPr/>
          <p:nvPr/>
        </p:nvSpPr>
        <p:spPr>
          <a:xfrm>
            <a:off x="4485960" y="1582200"/>
            <a:ext cx="92988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SERIAL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0" name="TextBox 7"/>
          <p:cNvSpPr/>
          <p:nvPr/>
        </p:nvSpPr>
        <p:spPr>
          <a:xfrm>
            <a:off x="6580800" y="1582200"/>
            <a:ext cx="97092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STATUS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1" name="TextBox 9"/>
          <p:cNvSpPr/>
          <p:nvPr/>
        </p:nvSpPr>
        <p:spPr>
          <a:xfrm>
            <a:off x="1882080" y="2049480"/>
            <a:ext cx="138708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CW-XXXXX1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2" name="TextBox 10"/>
          <p:cNvSpPr/>
          <p:nvPr/>
        </p:nvSpPr>
        <p:spPr>
          <a:xfrm>
            <a:off x="4328280" y="2016360"/>
            <a:ext cx="132876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1XXXXXXX1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3" name="TextBox 11"/>
          <p:cNvSpPr/>
          <p:nvPr/>
        </p:nvSpPr>
        <p:spPr>
          <a:xfrm>
            <a:off x="6455520" y="1990800"/>
            <a:ext cx="122148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 GOOD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4" name="TextBox 32"/>
          <p:cNvSpPr/>
          <p:nvPr/>
        </p:nvSpPr>
        <p:spPr>
          <a:xfrm>
            <a:off x="8878320" y="878400"/>
            <a:ext cx="132876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SHIFT: DAY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5" name="TextBox 2"/>
          <p:cNvSpPr/>
          <p:nvPr/>
        </p:nvSpPr>
        <p:spPr>
          <a:xfrm>
            <a:off x="9095400" y="1582200"/>
            <a:ext cx="122004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REMARKS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6" name="TextBox 3"/>
          <p:cNvSpPr/>
          <p:nvPr/>
        </p:nvSpPr>
        <p:spPr>
          <a:xfrm>
            <a:off x="8432640" y="1982880"/>
            <a:ext cx="261612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 GOOD AT RUNNING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7" name="TextBox 33"/>
          <p:cNvSpPr/>
          <p:nvPr/>
        </p:nvSpPr>
        <p:spPr>
          <a:xfrm>
            <a:off x="1882080" y="2426760"/>
            <a:ext cx="138708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CW-XXXXX1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8" name="TextBox 34"/>
          <p:cNvSpPr/>
          <p:nvPr/>
        </p:nvSpPr>
        <p:spPr>
          <a:xfrm>
            <a:off x="4328280" y="2365920"/>
            <a:ext cx="132876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1XXXXXXX2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9" name="TextBox 35"/>
          <p:cNvSpPr/>
          <p:nvPr/>
        </p:nvSpPr>
        <p:spPr>
          <a:xfrm>
            <a:off x="6455160" y="2415600"/>
            <a:ext cx="122148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 GOOD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0" name="TextBox 36"/>
          <p:cNvSpPr/>
          <p:nvPr/>
        </p:nvSpPr>
        <p:spPr>
          <a:xfrm>
            <a:off x="8432640" y="2359800"/>
            <a:ext cx="248184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 GOOD AT PACKING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1" name="TextBox 49"/>
          <p:cNvSpPr/>
          <p:nvPr/>
        </p:nvSpPr>
        <p:spPr>
          <a:xfrm>
            <a:off x="1882080" y="2829240"/>
            <a:ext cx="138708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CW-XXXXX1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2" name="TextBox 50"/>
          <p:cNvSpPr/>
          <p:nvPr/>
        </p:nvSpPr>
        <p:spPr>
          <a:xfrm>
            <a:off x="4328280" y="2775600"/>
            <a:ext cx="132876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1XXXXXXX3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3" name="TextBox 51"/>
          <p:cNvSpPr/>
          <p:nvPr/>
        </p:nvSpPr>
        <p:spPr>
          <a:xfrm>
            <a:off x="6644160" y="2784600"/>
            <a:ext cx="84312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GOOD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4" name="TextBox 52"/>
          <p:cNvSpPr/>
          <p:nvPr/>
        </p:nvSpPr>
        <p:spPr>
          <a:xfrm>
            <a:off x="9252000" y="2752200"/>
            <a:ext cx="84312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GOOD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5" name="TextBox 53"/>
          <p:cNvSpPr/>
          <p:nvPr/>
        </p:nvSpPr>
        <p:spPr>
          <a:xfrm>
            <a:off x="1870200" y="3186720"/>
            <a:ext cx="138708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CW-XXXXX1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6" name="TextBox 54"/>
          <p:cNvSpPr/>
          <p:nvPr/>
        </p:nvSpPr>
        <p:spPr>
          <a:xfrm>
            <a:off x="4328280" y="3197520"/>
            <a:ext cx="132876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1XXXXXXX4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7" name="TextBox 55"/>
          <p:cNvSpPr/>
          <p:nvPr/>
        </p:nvSpPr>
        <p:spPr>
          <a:xfrm>
            <a:off x="6631920" y="3153240"/>
            <a:ext cx="84312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GOOD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8" name="TextBox 56"/>
          <p:cNvSpPr/>
          <p:nvPr/>
        </p:nvSpPr>
        <p:spPr>
          <a:xfrm>
            <a:off x="9239760" y="3104280"/>
            <a:ext cx="84312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GOOD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9" name="TextBox 57"/>
          <p:cNvSpPr/>
          <p:nvPr/>
        </p:nvSpPr>
        <p:spPr>
          <a:xfrm>
            <a:off x="1870200" y="3571560"/>
            <a:ext cx="138708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CW-XXXXX2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0" name="TextBox 58"/>
          <p:cNvSpPr/>
          <p:nvPr/>
        </p:nvSpPr>
        <p:spPr>
          <a:xfrm>
            <a:off x="4291200" y="3528360"/>
            <a:ext cx="131940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12XXXXX60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1" name="TextBox 59"/>
          <p:cNvSpPr/>
          <p:nvPr/>
        </p:nvSpPr>
        <p:spPr>
          <a:xfrm>
            <a:off x="6644160" y="3551040"/>
            <a:ext cx="84312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GOOD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2" name="TextBox 60"/>
          <p:cNvSpPr/>
          <p:nvPr/>
        </p:nvSpPr>
        <p:spPr>
          <a:xfrm>
            <a:off x="9239760" y="3473640"/>
            <a:ext cx="84312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GOOD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Metadata/LabelInfo.xml><?xml version="1.0" encoding="utf-8"?>
<clbl:labelList xmlns:clbl="http://schemas.microsoft.com/office/2020/mipLabelMetadata">
  <clbl:label id="{4863f5d6-4760-4589-be9c-42f82e075739}" enabled="0" method="" siteId="{4863f5d6-4760-4589-be9c-42f82e075739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853</TotalTime>
  <Application>LibreOffice/26.2.5.2$Windows_X86_64 LibreOffice_project/cd7284b4cbbfeb507e630c1aac019f4157393acb</Application>
  <AppVersion>15.0000</AppVersion>
  <Words>1850</Words>
  <Paragraphs>489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2026-02-16T00:59:49Z</dcterms:created>
  <dc:creator>Carlos Joaquin Mojica</dc:creator>
  <dc:description/>
  <dc:language>en-US</dc:language>
  <cp:lastModifiedBy/>
  <dcterms:modified xsi:type="dcterms:W3CDTF">2026-07-30T16:27:40Z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32</vt:i4>
  </property>
</Properties>
</file>